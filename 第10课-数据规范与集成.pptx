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同学们好，开始上课。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做医院系统，有一个躲不开的话题，叫做数据标准化。医院和医院之间、医院和医保之间要交换数据，靠的不是感情，是标准。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今天讲三件事：医院数据有哪些行业规矩，怎么批量导入数据，怎么让系统留痕。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这三件事做完，你们的系统就从一个学生作品，变成一个有医院味儿的系统了。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今天这节课分三段走。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第一段，讲医院数据的行业规矩：诊断为什么要编码，药品档案为什么要建字典，系统之间交换数据靠什么标准。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第二段，我做两个演示：一个是 CSV 药品批量导入，一个是操作审计日志。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第三段，你们自己动手做导入、做留痕、做报表，有问题我现场答，最后布置作业。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先看第一段，行业规矩。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我先给你们一句判断：医院之间交换数据，靠的不是感情，是标准。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你在自己电脑上写系统，字段想叫什么就叫什么。可一旦要跟别的系统说话，名字对不上，数据就废了。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所以这一段讲三件规矩：诊断编码、药品字典、交换协议。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医院数据的第一个规矩：诊断要编码。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医生在病历上写&amp;quot;急性阑尾炎&amp;quot;，系统里存的不只是这四个汉字，还要存一个编码，ICD-10，这是世界卫生组织发布的疾病分类标准，比如 K35.8。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为什么要多此一举？因为统计、医保、科研全靠编码。汉字写法千奇百怪，编码只有一种。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第一个规矩展开讲一下：诊断编码。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医生写&amp;quot;急性阑尾炎&amp;quot;，系统里存的不只是汉字，还有一个编码。ICD-10 是世界卫生组织发布的疾病分类标准，K35.8 就是它的一类编码。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为什么非得有编码？统计、医保、科研全靠它。汉字写法千奇百怪，有人写&amp;quot;急性阑尾炎&amp;quot;，有人写&amp;quot;阑尾炎急性&amp;quot;，编码只有一种。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你们不用全背，但要知道它存在、知道它的结构。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第二个规矩：药品要有字典。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真实的 HIS 里，药品档案讲究五个东西：通用名、商品名、规格、剂型、医保类别。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同一种药，通用名是&amp;quot;阿莫西林胶囊&amp;quot;，商品名可能叫&amp;quot;再林&amp;quot;，规格是 0.25g 乘 24 粒。医保报销按通用名和医保类别走。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你们项目的药品表，字段要往这五个方向靠，别只留一个 name 字段。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规矩讲完了，现在做两个演示。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第一个是 CSV 药品批量导入，第二个是操作审计日志。一个管&amp;quot;数据怎么进来&amp;quot;，一个管&amp;quot;进来之后谁动过&amp;quot;。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我在演示的时候，你们重点看设计点，别光看我敲键盘。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演示一，CSV 药品批量导入。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我把提示词发给 AI：为后端添加药品批量导入功能，上传 CSV，列是通用名、商品名、规格、剂型、单价、医保类别、库存数量，逐行校验，必填项缺失或单价非法就记下来，合法的去重入库，最后返回成功多少条、失败多少条、失败原因。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注意三个设计点：校验在服务端，不信任上传的文件；错误行不影响合法行；返回错误明细。这三点就是生产级导入和玩具导入的区别。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演示二，操作审计日志。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提示词是这样的：设计审计日志表，字段有用户、动作、对象类型、对象 ID、详情、IP、时间；用中间件自动记录写操作；再提供查询接口，可以按用户、动作、时间过滤。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我做完几个操作，然后查一句&amp;quot;今天收费员张三做了什么&amp;quot;，日志一条条列出来。这就是医院系统的黑匣子。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两个演示看完了，现在轮到你们。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按两个演示做，目标有三个：第一，把药品 CSV 批量导入跑通；第二，把操作审计日志加上；第三，做一张统计报表，今日挂号量和收费金额汇总，用 AI 生成一个简单图表页面也行。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做完的加分项：把报表导出成 CSV，也就是导入的逆向操作。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实操就到这里。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最后这一段，我把三个高频问题一次答清：CSV 乱码怎么办、审计日志会不会拖慢系统、ICD-10 编码要不要全背。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然后布置今天的作业，两项，其中一道是思考题，要动脑子的那种。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你们最常问的三个问题，我一起答。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第一个，CSV 编码乱码。Excel 导出的 CSV 常常是 GBK，后端按 UTF-8 读就乱了。解法是上传时让用户选编码，或者后端自动检测。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第二个，审计日志会不会拖慢系统。写操作加一条日志，开销可以忽略；查日志是管理功能，不影响主流程。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第三个，ICD-10 要不要全背。不用，但要知道它存在、知道结构。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请把今天这句话记住：审计日志是医院系统的黑匣子。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飞机为什么必须装黑匣子？不是为了平时看，是为了出事那天能查。审计日志也是一个道理：出了问题能追溯谁在什么时候做了什么。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更重要的是，医疗合规要求操作留痕，这是硬规矩，不是可选项。你们验收时我会现场查：发一盒药，日志里必须查得到。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第一，把导入、审计、报表三件事做完，这是实操的延续，做完就交。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第二，一道思考题：如果医院要求你们的系统对接区域健康信息平台，数据模型要做哪些改造？200 字，重点写&amp;quot;编码标准化&amp;quot;和&amp;quot;患者主索引&amp;quot;两个方向。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写不出来没关系，让 AI 帮你梳理一遍，但你得自己改写，我要看到你自己的判断。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回头看这三件事：诊断有了编码，药品有了字典，操作有了留痕。你们的系统已经不一样了——它开始讲医院的规矩，而不再只是一个能跑的学生作品。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下一课我们往前再走一步，讲 AI 增强功能和医疗 AI 伦理。到时候你们会发现，AI 进了医院，麻烦的不只是技术。下课。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4" Type="http://schemas.openxmlformats.org/officeDocument/2006/relationships/image" Target="media/image9.svg"/><Relationship Id="rId5" Type="http://schemas.openxmlformats.org/officeDocument/2006/relationships/image" Target="media/image10.sv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同学们好，开始上课。&#10;&#10;做医院系统，有一个躲不开的话题，叫做数据标准化。医院和医院之间、医院和医保之间要交换数据，靠的不是感情，是标准。&#10;&#10;今天讲三件事：医院数据有哪些行业规矩，怎么批量导入数据，怎么让系统留痕。&#10;&#10;这三件事做完，你们的系统就从一个学生作品，变成一个有医院味儿的系统了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    &lt;rect x='150' y='80' width='330' height='54' rx='6' fill='#FFFFFF' opacity='0.10' /&gt;&#10;    &lt;rect x='150' y='80' width='8' height='54' fill='#FFC107' opacity='0.85' /&gt;&#10;    &lt;rect x='172' y='98' width='150' height='9' rx='4' fill='#FFFFFF' opacity='0.55' /&gt;&#10;    &lt;rect x='172' y='116' width='230' height='9' rx='4' fill='#FFFFFF' opacity='0.35' /&gt;&#10;    &lt;rect x='150' y='152' width='330' height='54' rx='6' fill='#FFFFFF' opacity='0.10' /&gt;&#10;    &lt;rect x='150' y='152' width='8' height='54' fill='#1E4FA8' opacity='0.60' /&gt;&#10;    &lt;rect x='172' y='170' width='190' height='9' rx='4' fill='#FFFFFF' opacity='0.55' /&gt;&#10;    &lt;rect x='172' y='188' width='260' height='9' rx='4' fill='#FFFFFF' opacity='0.35' /&gt;&#10;    &lt;rect x='150' y='224' width='330' height='54' rx='6' fill='#FFFFFF' opacity='0.10' /&gt;&#10;    &lt;rect x='150' y='224' width='8' height='54' fill='#FFC107' opacity='0.55' /&gt;&#10;    &lt;rect x='172' y='242' width='120' height='9' rx='4' fill='#FFFFFF' opacity='0.55' /&gt;&#10;    &lt;rect x='172' y='260' width='210' height='9' rx='4' fill='#FFFFFF' opacity='0.35' /&gt;&#10;    &lt;path d='M150 320 L330 320' stroke='#FFFFFF' strokeWidth='2' opacity='0.25' strokeDasharray='8 6' /&gt;&#10;    &lt;path d='M150 360 L300 360' stroke='#FFFFFF' strokeWidth='2' opacity='0.18' strokeDasharray='8 6' /&gt;&#10;    &lt;rect x='150' y='392' width='120' height='38' rx='19' fill='#3D7BD9' opacity='0.65' /&gt;&#10;    &lt;rect x='286' y='392' width='150' height='38' rx='19' fill='#FFFFFF' opacity='0.12' /&gt;&#10;    &lt;rect x='150' y='450' width='180' height='38' rx='19' fill='#FFFFFF' opacity='0.12' /&gt;&#10;    &lt;rect x='346' y='450' width='134' height='38' rx='19' fill='#FFC107' opacity='0.40' /&gt;&#10;    &lt;circle cx='470' cy='590' r='72' fill='#1E4FA8' opacity='0.45' /&gt;&#10;    &lt;circle cx='470' cy='590' r='36' fill='#FFC107' opacity='0.4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10 课&lt;/Text&gt;&#10;        &lt;/Box&gt;&#10;        &lt;Text style={{ fontSize: 22, color: '#9FBEE6' }}&gt;Data Standards &amp;amp; Integration&lt;/Text&gt;&#10;      &lt;/Box&gt;&#10;      &lt;Text style={{ fontSize: 66, color: '#FFFFFF', fontWeight: 'bold', lineHeight: 1.2 }}&gt;数据规范与集成&lt;/Text&gt;&#10;      &lt;Text style={{ fontSize: 30, color: '#C9D9F2', lineHeight: 1.4 }}&gt;让系统接上医院的规矩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66950"/>
            <a:ext cx="111442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24100"/>
            <a:ext cx="809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10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857375" y="232410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Data Standards &amp; Integration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47975"/>
            <a:ext cx="11201400" cy="914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950" b="1">
                <a:solidFill>
                  <a:srgbClr val="FFFFFF"/>
                </a:solidFill>
                <a:latin typeface="Microsoft YaHei"/>
                <a:ea typeface="Microsoft YaHei"/>
              </a:rPr>
              <a:t>数据规范与集成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71925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让系统接上医院的规矩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67250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7623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962400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2" name="" descr="&lt;Slide&#10;  notes={`今天这节课分三段走。&#10;&#10;第一段，讲医院数据的行业规矩：诊断为什么要编码，药品档案为什么要建字典，系统之间交换数据靠什么标准。&#10;&#10;第二段，我做两个演示：一个是 CSV 药品批量导入，一个是操作审计日志。&#10;&#10;第三段，你们自己动手做导入、做留痕、做报表，有问题我现场答，最后布置作业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10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0, color: '#C9D9F2', lineHeight: 1.6 }}&gt;90 分钟&lt;/Text&gt;&#10;        &lt;Text style={{ fontSize: 20, color: '#C9D9F2', lineHeight: 1.6 }}&gt;规范 15 · 演示 20 · 审计 15 · 实操 35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行业规矩&lt;/Text&gt;&#10;        &lt;/Box&gt;&#10;        &lt;Text style={{ fontSize: 22, color: '#4A5568', lineHeight: 1.45 }}&gt;编码与字典：诊断写进 ICD-10，药品要有通用名、商品名、规格、剂型、医保类别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导入与留痕&lt;/Text&gt;&#10;        &lt;/Box&gt;&#10;        &lt;Text style={{ fontSize: 22, color: '#4A5568', lineHeight: 1.45 }}&gt;两项实战：CSV 药品批量导入（服务端校验、返回错误明细）与操作审计日志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答疑与作业&lt;/Text&gt;&#10;        &lt;/Box&gt;&#10;        &lt;Text style={{ fontSize: 22, color: '#4A5568', lineHeight: 1.45 }}&gt;乱码、性能、要不要背编码三类问题现场答清，布置两项作业与思考题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85800" y="3429000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438150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90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4867275"/>
            <a:ext cx="30099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规范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15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演示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20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审计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15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35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行业规矩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编码与字典：诊断写进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ICD-10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，药品要有通用名、商品名、规格、剂型、医保类别。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导入与留痕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两项实战：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CSV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药品批量导入（服务端校验、返回错误明细）与操作审计日志。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乱码、性能、要不要背编码三类问题现场答清，布置两项作业与思考题。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&#10;  notes={`先看第一段，行业规矩。&#10;&#10;我先给你们一句判断：医院之间交换数据，靠的不是感情，是标准。&#10;&#10;你在自己电脑上写系统，字段想叫什么就叫什么。可一旦要跟别的系统说话，名字对不上，数据就废了。&#10;&#10;所以这一段讲三件规矩：诊断编码、药品字典、交换协议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DATA STANDARDS&lt;/Text&gt;&#10;        &lt;Text style={{ fontSize: 56, color: '#1A2230', fontWeight: 'bold', lineHeight: 1.25 }}&gt;行业规矩&lt;/Text&gt;&#10;        &lt;Text style={{ fontSize: 26, color: '#4A5568', lineHeight: 1.5 }}&gt;医院数据三道规矩：编码、字典、交换协议&lt;/Text&gt;&#10;      &lt;/Box&gt;&#10;&#10;      &lt;Box style={{ width: '732px', height: 2, background: '#D6DCE5' }} /&gt;&#10;&#10;      &lt;Box style={{ width: '732px', background: '#1E4FA8', padding: '22px 28px', gap: 6 }}&gt;&#10;        &lt;Text style={{ fontSize: 19, color: '#C9D9F2', letterSpacing: 2 }}&gt;KEY INSIGHT&lt;/Text&gt;&#10;        &lt;Text style={{ fontSize: 30, color: '#FFFFFF', fontWeight: 'bold', lineHeight: 1.4 }}&gt;医院之间交换数据，&lt;br /&gt;靠的不是感情，是标准。&lt;/Text&gt;&#10;      &lt;/Box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诊断要编码 · ICD-10 世界卫生组织疾病分类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药品要建字典 · 通用名 + 商品名 + 规格 + 剂型 + 医保类别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交换用协议 · HL7 / FHIR，本期了解即可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838700" y="57150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DATA STANDARDS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838700" y="93345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行业规矩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838700" y="186690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医院数据三道规矩：编码、字典、交换协议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838700" y="258127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4838700" y="2867025"/>
            <a:ext cx="6972300" cy="16573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105400" y="3076575"/>
            <a:ext cx="6438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C9D9F2"/>
                </a:solidFill>
                <a:latin typeface="Microsoft YaHei"/>
                <a:ea typeface="Microsoft YaHei"/>
              </a:rPr>
              <a:t>KEY INSIGHT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105400" y="3352800"/>
            <a:ext cx="6438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医院之间交换数据，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靠的不是感情，是标准。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4838700" y="49053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067300" y="4791075"/>
            <a:ext cx="42672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诊断要编码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ICD-10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世界卫生组织疾病分类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838700" y="545782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067300" y="5343525"/>
            <a:ext cx="57340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药品要建字典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通用名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商品名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规格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剂型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医保类别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838700" y="60102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67300" y="5895975"/>
            <a:ext cx="39433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交换用协议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HL7 / FHIR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，本期了解即可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0" name="" descr="&lt;Slide&#10;  notes={`医院数据的第一个规矩：诊断要编码。&#10;&#10;医生在病历上写&quot;急性阑尾炎&quot;，系统里存的不只是这四个汉字，还要存一个编码，ICD-10，这是世界卫生组织发布的疾病分类标准，比如 K35.8。&#10;&#10;为什么要多此一举？因为统计、医保、科研全靠编码。汉字写法千奇百怪，编码只有一种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行业规矩 · 医院数据的三道规矩&lt;/Text&gt;&#10;    &lt;Text style={{ fontSize: 16, color: '#C9D9F2' }}&gt;医院信息系统实验 · 第 10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医院数据的三道规矩&lt;/Text&gt;&#10;      &lt;Text style={{ fontSize: 22, color: '#8B97A8' }}&gt;Three Rules of Hospital Data&lt;/Text&gt;&#10;    &lt;/Box&gt;&#10;&#10;    &lt;Box style={{ height: '14px' }} /&gt;&#10;&#10;    &lt;svg width={1200} height={190} viewBox='0 0 1200 190'&gt;&#10;      &lt;line x1='150' y1='96' x2='1050' y2='96' stroke='#D6DCE5' strokeWidth='3' /&gt;&#10;      &lt;line x1='150' y1='96' x2='600' y2='96' stroke='#3D7BD9' strokeWidth='3' /&gt;&#10;      &lt;line x1='600' y1='96' x2='1050' y2='96' stroke='#1E4FA8' strokeWidth='3' /&gt;&#10;      &lt;circle cx='150' cy='96' r='26' fill='#FFFFFF' stroke='#3D7BD9' strokeWidth='4' /&gt;&#10;      &lt;circle cx='600' cy='96' r='26' fill='#FFFFFF' stroke='#1E4FA8' strokeWidth='4' /&gt;&#10;      &lt;circle cx='1050' cy='96' r='30' fill='#1E4FA8' /&gt;&#10;      &lt;text x='150' y='96' text-anchor='middle' dominant-baseline='central' font-size='22' font-weight='bold' fill='#3D7BD9'&gt;Ⅰ&lt;/text&gt;&#10;      &lt;text x='600' y='96' text-anchor='middle' dominant-baseline='central' font-size='22' font-weight='bold' fill='#1E4FA8'&gt;Ⅱ&lt;/text&gt;&#10;      &lt;text x='1050' y='96' text-anchor='middle' dominant-baseline='central' font-size='24' font-weight='bold' fill='#FFFFFF'&gt;Ⅲ&lt;/text&gt;&#10;      &lt;text x='150' y='48' text-anchor='middle' font-size='30' font-weight='bold' fill='#1A2230'&gt;诊断要编码&lt;/text&gt;&#10;      &lt;text x='600' y='48' text-anchor='middle' font-size='30' font-weight='bold' fill='#1A2230'&gt;药品要建字典&lt;/text&gt;&#10;      &lt;text x='1050' y='48' text-anchor='middle' font-size='30' font-weight='bold' fill='#0E3F8C'&gt;交换走标准协议&lt;/text&gt;&#10;      &lt;text x='150' y='152' text-anchor='middle' font-size='20' fill='#8B97A8'&gt;ICD-10&lt;/text&gt;&#10;      &lt;text x='600' y='152' text-anchor='middle' font-size='20' fill='#8B97A8'&gt;通用名 · 规格 · 医保&lt;/text&gt;&#10;      &lt;text x='1050' y='152' text-anchor='middle' font-size='20' fill='#1E4FA8'&gt;HL7 / FHIR&lt;/text&gt;&#10;    &lt;/svg&gt;&#10;&#10;    &lt;Box style={{ height: '18px' }} /&gt;&#10;&#10;    &lt;Box style={{ height: '190px', flexDirection: 'row', gap: 24 }}&gt;&#10;      &lt;Box style={{ flex: 1, background: '#F7F9FC', border: '1px solid #D6DCE5', borderTop: '4px solid #3D7BD9', padding: '18px 20px', gap: 8 }}&gt;&#10;        &lt;Text style={{ fontSize: 26, color: '#1A2230', fontWeight: 'bold' }}&gt;汉字之外存编码&lt;/Text&gt;&#10;        &lt;Text style={{ fontSize: 21, color: '#4A5568', lineHeight: 1.45 }}&gt;ICD-10 是世界卫生组织发布的疾病分类标准，&quot;急性阑尾炎&quot;对应 K35.8 一类编码。&lt;/Text&gt;&#10;      &lt;/Box&gt;&#10;      &lt;Box style={{ flex: 1, background: '#F7F9FC', border: '1px solid #D6DCE5', borderTop: '4px solid #1E4FA8', padding: '18px 20px', gap: 8 }}&gt;&#10;        &lt;Text style={{ fontSize: 26, color: '#1A2230', fontWeight: 'bold' }}&gt;药品档案五要素&lt;/Text&gt;&#10;        &lt;Text style={{ fontSize: 21, color: '#4A5568', lineHeight: 1.45 }}&gt;通用名、商品名、规格、剂型、医保类别，医保报销按通用名和类别走。&lt;/Text&gt;&#10;      &lt;/Box&gt;&#10;      &lt;Box style={{ flex: 1, background: '#E8EFF8', border: '1px solid #3D7BD9', borderTop: '4px solid #0E3F8C', padding: '18px 20px', gap: 8 }}&gt;&#10;        &lt;Text style={{ fontSize: 26, color: '#1A2230', fontWeight: 'bold' }}&gt;通用快递箱规格&lt;/Text&gt;&#10;        &lt;Text style={{ fontSize: 21, color: '#4A5568', lineHeight: 1.45 }}&gt;HL7 / FHIR 是医疗数据的交换标准，现在不用实现，但必须听说过。&lt;/Text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三件事做完，系统就从&quot;学生作品&quot;变成&quot;有点医院味儿的系统&quot;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行业规矩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医院数据的三道规矩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医院数据的三道规矩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Three Rules of Hospital Data</a:t>
            </a:r>
            <a:endParaRPr/>
          </a:p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809750"/>
          </a:xfrm>
          <a:prstGeom prst="rect">
            <a:avLst/>
          </a:prstGeom>
          <a:ln/>
        </p:spPr>
      </p:pic>
      <p:sp>
        <p:nvSpPr>
          <p:cNvPr id="219" name=""/>
          <p:cNvSpPr/>
          <p:nvPr/>
        </p:nvSpPr>
        <p:spPr>
          <a:xfrm rot="0" flipH="0" flipV="0">
            <a:off x="381000" y="3524250"/>
            <a:ext cx="36576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3810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汉字之外存编码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4076700"/>
            <a:ext cx="3276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ICD-10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是世界卫生组织发布的疾病分类标准，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急性阑尾炎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对应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K35.8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一类编码。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267200" y="3524250"/>
            <a:ext cx="36576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42672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4577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药品档案五要素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57700" y="4076700"/>
            <a:ext cx="32766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通用名、商品名、规格、剂型、医保类别，医保报销按通用名和类别走。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153400" y="3524250"/>
            <a:ext cx="3657600" cy="18097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81534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439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通用快递箱规格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343900" y="4076700"/>
            <a:ext cx="32766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HL7 / FHIR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是医疗数据的交换标准，现在不用实现，但必须听说过。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81000" y="54102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71500" y="55721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42950" y="547687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三件事做完，系统就从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学生作品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变成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有点医院味儿的系统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&#10;  notes={`第一个规矩展开讲一下：诊断编码。&#10;&#10;医生写&quot;急性阑尾炎&quot;，系统里存的不只是汉字，还有一个编码。ICD-10 是世界卫生组织发布的疾病分类标准，K35.8 就是它的一类编码。&#10;&#10;为什么非得有编码？统计、医保、科研全靠它。汉字写法千奇百怪，有人写&quot;急性阑尾炎&quot;，有人写&quot;阑尾炎急性&quot;，编码只有一种。&#10;&#10;你们不用全背，但要知道它存在、知道它的结构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行业规矩 · ICD-10 诊断编码&lt;/Text&gt;&#10;    &lt;Text style={{ fontSize: 16, color: '#C9D9F2' }}&gt;医院信息系统实验 · 第 10 课&lt;/Text&gt;&#10;  &lt;/Box&gt;&#10;&#10;  &lt;Box style={{ width: '1280px', height: '552px', flexDirection: 'row', padding: '24px 40px 0px 40px', gap: 30 }}&gt;&#10;    &lt;Box style={{ width: '760px', height: '528px', background: '#F7F9FC', border: '1px solid #D6DCE5', padding: '28px 30px', justifyContent: 'space-between' }}&gt;&#10;      &lt;Box style={{ gap: 18 }}&gt;&#10;        &lt;Box style={{ flexDirection: 'row', alignItems: 'center', gap: 14 }}&gt;&#10;          &lt;Box style={{ width: 44, height: 44, background: '#1E4FA8', alignItems: 'center', justifyContent: 'center' }}&gt;&#10;            &lt;Text style={{ fontSize: 22, color: '#FFFFFF', fontWeight: 'bold' }}&gt;D&lt;/Text&gt;&#10;          &lt;/Box&gt;&#10;          &lt;Text style={{ fontSize: 32, color: '#1A2230', fontWeight: 'bold' }}&gt;ICD-10 诊断编码&lt;/Text&gt;&#10;        &lt;/Box&gt;&#10;        &lt;Text style={{ fontSize: 24, color: '#1A2230', lineHeight: 1.6 }}&gt;&#10;          医生写 &lt;span style={{ fontWeight: 'bold', color: '#1E4FA8' }}&gt;&quot;急性阑尾炎&quot;&lt;/span&gt;，系统里存的不只是汉字，还有一个编码——ICD-10，世界卫生组织发布的疾病分类标准，比如 &lt;span style={{ fontWeight: 'bold', color: '#1E4FA8' }}&gt;K35.8&lt;/span&gt;。&#10;        &lt;/Text&gt;&#10;        &lt;Text style={{ fontSize: 24, color: '#4A5568', lineHeight: 1.6 }}&gt;&#10;          因为&lt;span style={{ fontWeight: 'bold', color: '#1A2230' }}&gt;统计、医保、科研全靠编码&lt;/span&gt;。汉字写法千奇百怪，编码只有一种。&#10;        &lt;/Text&gt;&#10;      &lt;/Box&gt;&#10;&#10;      &lt;Box style={{ background: '#FFFFFF', border: '1px solid #D6DCE5', borderLeft: '5px solid #3D7BD9', padding: '20px 22px', gap: 10 }}&gt;&#10;        &lt;Text style={{ fontSize: 20, color: '#1E4FA8', fontWeight: 'bold' }}&gt;同一个诊断的两种写法&lt;/Text&gt;&#10;        &lt;Text style={{ fontSize: 23, color: '#1A2230', lineHeight: 1.5 }}&gt;&quot;急性阑尾炎&quot; / &quot;阑尾炎（急性）&quot; / &quot;acute appendicitis&quot;&lt;/Text&gt;&#10;        &lt;Text style={{ fontSize: 21, color: '#4A5568', lineHeight: 1.5 }}&gt;三种汉字写法在系统眼里是三个病，编码却都收敛到同一个 K35.8。&lt;/Text&gt;&#10;      &lt;/Box&gt;&#10;&#10;      &lt;Box style={{ flexDirection: 'row', gap: 12 }}&gt;&#10;        &lt;Box style={{ background: '#E8EFF8', padding: '8px 16px', borderRadius: 20 }}&gt;&#10;          &lt;Text style={{ fontSize: 20, color: '#1E4FA8' }}&gt;统计口径统一&lt;/Text&gt;&#10;        &lt;/Box&gt;&#10;        &lt;Box style={{ background: '#E8EFF8', padding: '8px 16px', borderRadius: 20 }}&gt;&#10;          &lt;Text style={{ fontSize: 20, color: '#1E4FA8' }}&gt;医保结算依据&lt;/Text&gt;&#10;        &lt;/Box&gt;&#10;        &lt;Box style={{ background: '#E8EFF8', padding: '8px 16px', borderRadius: 20 }}&gt;&#10;          &lt;Text style={{ fontSize: 20, color: '#1E4FA8' }}&gt;科研可检索&lt;/Text&gt;&#10;        &lt;/Box&gt;&#10;      &lt;/Box&gt;&#10;    &lt;/Box&gt;&#10;&#10;    &lt;Box style={{ width: '410px', height: '528px', background: '#E8EFF8', border: '1px solid #3D7BD9', padding: '30px 28px', justifyContent: 'space-between' }}&gt;&#10;      &lt;Box style={{ gap: 14 }}&gt;&#10;        &lt;Text style={{ fontSize: 17, color: '#3D7BD9', letterSpacing: 2 }}&gt;CODE STRUCTURE&lt;/Text&gt;&#10;        &lt;Text style={{ fontSize: 52, color: '#1A2230', fontWeight: 'bold', lineHeight: 1.15 }}&gt;编码结构&lt;br /&gt;字母 + 数字&lt;/Text&gt;&#10;        &lt;Box style={{ width: 80, height: 5, background: '#1E4FA8' }} /&gt;&#10;      &lt;/Box&gt;&#10;&#10;      &lt;Box style={{ background: '#FFFFFF', border: '1px solid #D6DCE5', padding: '20px 22px', gap: 8 }}&gt;&#10;        &lt;Text style={{ fontSize: 20, color: '#4A5568' }}&gt;示例：急性阑尾炎相关编码&lt;/Text&gt;&#10;        &lt;Text style={{ fontSize: 56, color: '#1E4FA8', fontWeight: 'bold', lineHeight: 1.1 }}&gt;K35.8&lt;/Text&gt;&#10;        &lt;Text style={{ fontSize: 20, color: '#4A5568', lineHeight: 1.5 }}&gt;字母表大类，数字表细分，小数点后再加一层。&lt;/Text&gt;&#10;      &lt;/Box&gt;&#10;&#10;      &lt;Text style={{ fontSize: 22, color: '#1A2230', lineHeight: 1.6, fontWeight: 'bold' }}&gt;&#10;        不用全背，但要知道它存在，也知道它长什么样。&#10;      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733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行业规矩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ICD-10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诊断编码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81000" y="914400"/>
            <a:ext cx="7239000" cy="5029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66750" y="118110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90575" y="1266825"/>
            <a:ext cx="17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219200" y="1209675"/>
            <a:ext cx="2371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2230"/>
                </a:solidFill>
                <a:latin typeface="Microsoft YaHei"/>
                <a:ea typeface="Microsoft YaHei"/>
              </a:rPr>
              <a:t>ICD-10 </a:t>
            </a: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诊断编码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66750" y="1771650"/>
            <a:ext cx="6667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医生写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急性阑尾炎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，系统里存的不只是汉字，还有一个编码——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ICD-10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，世界卫生组织发布的疾病分类标准，比如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K35.8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66750" y="2828925"/>
            <a:ext cx="6667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因为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统计、医保、科研全靠编码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。汉字写法千奇百怪，编码只有一种。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14375" y="3724275"/>
            <a:ext cx="6667500" cy="1562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66750" y="3724275"/>
            <a:ext cx="6715125" cy="1562100"/>
          </a:xfrm>
          <a:custGeom>
            <a:pathLst>
              <a:path w="705" h="164">
                <a:moveTo>
                  <a:pt x="0" y="0"/>
                </a:moveTo>
                <a:lnTo>
                  <a:pt x="5" y="0"/>
                </a:lnTo>
                <a:lnTo>
                  <a:pt x="5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23925" y="3914775"/>
            <a:ext cx="6200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同一个诊断的两种写法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23925" y="4238625"/>
            <a:ext cx="62007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急性阑尾炎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 / "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阑尾炎（急性）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" / "acute appendicitis"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23925" y="4733925"/>
            <a:ext cx="62007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三种汉字写法在系统眼里是三个病，编码却都收敛到同一个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K35.8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66750" y="5295900"/>
            <a:ext cx="14478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19150" y="53721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统计口径统一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2228850" y="5295900"/>
            <a:ext cx="14478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2381250" y="53721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医保结算依据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790950" y="5295900"/>
            <a:ext cx="12573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943350" y="53721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科研可检索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905750" y="914400"/>
            <a:ext cx="390525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172450" y="1200150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CODE STRUCTURE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172450" y="1533525"/>
            <a:ext cx="3371850" cy="1371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编码结构</a:t>
            </a:r>
            <a:endParaRPr/>
          </a:p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字母</a:t>
            </a:r>
            <a:r>
              <a:rPr lang="en-US" sz="3900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数字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8172450" y="3038475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8172450" y="3086100"/>
            <a:ext cx="3371850" cy="2152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382000" y="3276600"/>
            <a:ext cx="2952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示例：急性阑尾炎相关编码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382000" y="3581400"/>
            <a:ext cx="295275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K35.8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382000" y="4362450"/>
            <a:ext cx="29527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字母表大类，数字表细分，小数点后再加一层。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172450" y="5238750"/>
            <a:ext cx="33718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不用全背，但要知道它存在，也知道它长什么样。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9" name="" descr="&lt;Slide&#10;  notes={`第二个规矩：药品要有字典。&#10;&#10;真实的 HIS 里，药品档案讲究五个东西：通用名、商品名、规格、剂型、医保类别。&#10;&#10;同一种药，通用名是&quot;阿莫西林胶囊&quot;，商品名可能叫&quot;再林&quot;，规格是 0.25g 乘 24 粒。医保报销按通用名和医保类别走。&#10;&#10;你们项目的药品表，字段要往这五个方向靠，别只留一个 name 字段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行业规矩 · 药品档案五要素&lt;/Text&gt;&#10;    &lt;Text style={{ fontSize: 16, color: '#C9D9F2' }}&gt;医院信息系统实验 · 第 10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药品档案五要素&lt;/Text&gt;&#10;      &lt;Text style={{ fontSize: 22, color: '#8B97A8' }}&gt;通用名 + 商品名 + 规格 + 剂型 + 医保类别&lt;/Text&gt;&#10;    &lt;/Box&gt;&#10;&#10;    &lt;Box style={{ height: '16px' }} /&gt;&#10;&#10;    &lt;Box style={{ height: '400px', flexDirection: 'row', gap: 20 }}&gt;&#10;      &lt;Box style={{ width: '224px', height: '400px', background: '#F7F9FC', border: '1px solid #D6DCE5', borderTop: '6px solid #1E4FA8', padding: '18px 18px', justifyContent: 'space-between' }}&gt;&#10;        &lt;Box style={{ gap: 12 }}&gt;&#10;          &lt;svg width={72} height={72} viewBox='0 0 72 72'&gt;&#10;            &lt;rect x='8' y='14' width='56' height='44' rx='6' fill='#E8EFF8' stroke='#1E4FA8' strokeWidth='3' /&gt;&#10;            &lt;path d='M8 26 L64 26' stroke='#1E4FA8' strokeWidth='3' /&gt;&#10;            &lt;rect x='18' y='36' width='30' height='5' rx='2' fill='#1E4FA8' /&gt;&#10;            &lt;rect x='18' y='46' width='20' height='5' rx='2' fill='#3D7BD9' /&gt;&#10;          &lt;/svg&gt;&#10;          &lt;Text style={{ fontSize: 26, color: '#1A2230', fontWeight: 'bold', lineHeight: 1.25 }}&gt;通用名&lt;/Text&gt;&#10;        &lt;/Box&gt;&#10;        &lt;Box style={{ gap: 8 }}&gt;&#10;          &lt;Box style={{ height: 1, background: '#D6DCE5' }} /&gt;&#10;          &lt;Text style={{ fontSize: 16, color: '#8B97A8' }}&gt;GENERIC NAME&lt;/Text&gt;&#10;          &lt;Text style={{ fontSize: 21, color: '#4A5568', lineHeight: 1.5 }}&gt;同一种药的国家标准名称，例：阿莫西林胶囊。&lt;/Text&gt;&#10;        &lt;/Box&gt;&#10;        &lt;Box style={{ background: '#E8EFF8', padding: '8px 12px' }}&gt;&#10;          &lt;Text style={{ fontSize: 19, color: '#1E4FA8', fontWeight: 'bold' }}&gt;医保认它&lt;/Text&gt;&#10;        &lt;/Box&gt;&#10;      &lt;/Box&gt;&#10;&#10;      &lt;Box style={{ width: '224px', height: '400px', background: '#F7F9FC', border: '1px solid #D6DCE5', borderTop: '6px solid #3D7BD9', padding: '18px 18px', justifyContent: 'space-between' }}&gt;&#10;        &lt;Box style={{ gap: 12 }}&gt;&#10;          &lt;svg width={72} height={72} viewBox='0 0 72 72'&gt;&#10;            &lt;path d='M16 24 L56 24 L62 62 L10 62 Z' fill='#E8EFF8' stroke='#3D7BD9' strokeWidth='3' strokeLinejoin='round' /&gt;&#10;            &lt;path d='M26 24 A10 10 0 0 1 46 24' fill='none' stroke='#3D7BD9' strokeWidth='3' /&gt;&#10;            &lt;rect x='26' y='38' width='20' height='5' rx='2' fill='#3D7BD9' /&gt;&#10;            &lt;rect x='30' y='48' width='12' height='5' rx='2' fill='#1E4FA8' /&gt;&#10;          &lt;/svg&gt;&#10;          &lt;Text style={{ fontSize: 26, color: '#1A2230', fontWeight: 'bold', lineHeight: 1.25 }}&gt;商品名&lt;/Text&gt;&#10;        &lt;/Box&gt;&#10;        &lt;Box style={{ gap: 8 }}&gt;&#10;          &lt;Box style={{ height: 1, background: '#D6DCE5' }} /&gt;&#10;          &lt;Text style={{ fontSize: 16, color: '#8B97A8' }}&gt;TRADE NAME&lt;/Text&gt;&#10;          &lt;Text style={{ fontSize: 21, color: '#4A5568', lineHeight: 1.5 }}&gt;厂家自己起的名字，同一种药可以有好几个，例：再林。&lt;/Text&gt;&#10;        &lt;/Box&gt;&#10;        &lt;Box style={{ background: '#E8EFF8', padding: '8px 12px' }}&gt;&#10;          &lt;Text style={{ fontSize: 19, color: '#1E4FA8', fontWeight: 'bold' }}&gt;报销不认它&lt;/Text&gt;&#10;        &lt;/Box&gt;&#10;      &lt;/Box&gt;&#10;&#10;      &lt;Box style={{ width: '224px', height: '400px', background: '#F7F9FC', border: '1px solid #D6DCE5', borderTop: '6px solid #1E4FA8', padding: '18px 18px', justifyContent: 'space-between' }}&gt;&#10;        &lt;Box style={{ gap: 12 }}&gt;&#10;          &lt;svg width={72} height={72} viewBox='0 0 72 72'&gt;&#10;            &lt;path d='M20 12 L52 12 L46 60 L26 60 Z' fill='#E8EFF8' stroke='#1E4FA8' strokeWidth='3' strokeLinejoin='round' /&gt;&#10;            &lt;path d='M27 34 L45 34 L43 52 L29 52 Z' fill='#1E4FA8' /&gt;&#10;            &lt;path d='M20 12 L52 12' stroke='#1E4FA8' strokeWidth='4' /&gt;&#10;          &lt;/svg&gt;&#10;          &lt;Text style={{ fontSize: 26, color: '#1A2230', fontWeight: 'bold', lineHeight: 1.25 }}&gt;规格&lt;/Text&gt;&#10;        &lt;/Box&gt;&#10;        &lt;Box style={{ gap: 8 }}&gt;&#10;          &lt;Box style={{ height: 1, background: '#D6DCE5' }} /&gt;&#10;          &lt;Text style={{ fontSize: 16, color: '#8B97A8' }}&gt;STRENGTH&lt;/Text&gt;&#10;          &lt;Text style={{ fontSize: 21, color: '#4A5568', lineHeight: 1.5 }}&gt;剂量乘装量，例：0.25g × 24 粒。&lt;/Text&gt;&#10;        &lt;/Box&gt;&#10;        &lt;Box style={{ background: '#E8EFF8', padding: '8px 12px' }}&gt;&#10;          &lt;Text style={{ fontSize: 19, color: '#1E4FA8', fontWeight: 'bold' }}&gt;决定用法用量&lt;/Text&gt;&#10;        &lt;/Box&gt;&#10;      &lt;/Box&gt;&#10;&#10;      &lt;Box style={{ width: '224px', height: '400px', background: '#F7F9FC', border: '1px solid #D6DCE5', borderTop: '6px solid #3D7BD9', padding: '18px 18px', justifyContent: 'space-between' }}&gt;&#10;        &lt;Box style={{ gap: 12 }}&gt;&#10;          &lt;svg width={72} height={72} viewBox='0 0 72 72'&gt;&#10;            &lt;rect x='8' y='22' width='56' height='28' rx='14' fill='#E8EFF8' stroke='#3D7BD9' strokeWidth='3' /&gt;&#10;            &lt;path d='M36 22 L36 50' stroke='#3D7BD9' strokeWidth='3' /&gt;&#10;            &lt;path d='M8 36 A14 14 0 0 1 22 22 L22 50 A14 14 0 0 1 8 36 Z' fill='#3D7BD9' /&gt;&#10;            &lt;circle cx='56' cy='18' r='5' fill='#1E4FA8' /&gt;&#10;          &lt;/svg&gt;&#10;          &lt;Text style={{ fontSize: 26, color: '#1A2230', fontWeight: 'bold', lineHeight: 1.25 }}&gt;剂型&lt;/Text&gt;&#10;        &lt;/Box&gt;&#10;        &lt;Box style={{ gap: 8 }}&gt;&#10;          &lt;Box style={{ height: 1, background: '#D6DCE5' }} /&gt;&#10;          &lt;Text style={{ fontSize: 16, color: '#8B97A8' }}&gt;DOSAGE FORM&lt;/Text&gt;&#10;          &lt;Text style={{ fontSize: 21, color: '#4A5568', lineHeight: 1.5 }}&gt;胶囊、片剂、注射剂，例：阿莫西林是胶囊。&lt;/Text&gt;&#10;        &lt;/Box&gt;&#10;        &lt;Box style={{ background: '#E8EFF8', padding: '8px 12px' }}&gt;&#10;          &lt;Text style={{ fontSize: 19, color: '#1E4FA8', fontWeight: 'bold' }}&gt;影响库存单位&lt;/Text&gt;&#10;        &lt;/Box&gt;&#10;      &lt;/Box&gt;&#10;&#10;      &lt;Box style={{ width: '224px', height: '400px', background: '#E8EFF8', border: '1px solid #3D7BD9', borderTop: '6px solid #0E3F8C', padding: '18px 18px', justifyContent: 'space-between' }}&gt;&#10;        &lt;Box style={{ gap: 12 }}&gt;&#10;          &lt;svg width={72} height={72} viewBox='0 0 72 72'&gt;&#10;            &lt;path d='M36 8 L62 18 L62 38 C62 52 50 62 36 66 C22 62 10 52 10 38 L10 18 Z' fill='#FFFFFF' stroke='#0E3F8C' strokeWidth='3' /&gt;&#10;            &lt;path d='M24 36 L32 44 L48 28' fill='none' stroke='#0E3F8C' strokeWidth='5' strokeLinecap='round' strokeLinejoin='round' /&gt;&#10;          &lt;/svg&gt;&#10;          &lt;Text style={{ fontSize: 26, color: '#1A2230', fontWeight: 'bold', lineHeight: 1.25 }}&gt;医保类别&lt;/Text&gt;&#10;        &lt;/Box&gt;&#10;        &lt;Box style={{ gap: 8 }}&gt;&#10;          &lt;Box style={{ height: 1, background: '#3D7BD9' }} /&gt;&#10;          &lt;Text style={{ fontSize: 16, color: '#3D7BD9' }}&gt;INSURANCE TYPE&lt;/Text&gt;&#10;          &lt;Text style={{ fontSize: 21, color: '#4A5568', lineHeight: 1.5 }}&gt;报销按通用名和医保类别走，跟商品名无关。&lt;/Text&gt;&#10;        &lt;/Box&gt;&#10;        &lt;Box style={{ background: '#1E4FA8', padding: '8px 12px' }}&gt;&#10;          &lt;Text style={{ fontSize: 19, color: '#FFFFFF', fontWeight: 'bold' }}&gt;字段别漏&lt;/Text&gt;&#10;        &lt;/Box&gt;&#10;      &lt;/Box&gt;&#10;    &lt;/Box&gt;&#10;&#10;    &lt;Box style={{ height: '14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你们项目的药品表，字段要往这五个方向靠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行业规矩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药品档案五要素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药品档案五要素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105150" y="1019175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通用名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商品名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规格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剂型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医保类别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381000" y="1581150"/>
            <a:ext cx="2133600" cy="3752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381000" y="1524000"/>
            <a:ext cx="2133600" cy="3810000"/>
          </a:xfrm>
          <a:custGeom>
            <a:pathLst>
              <a:path w="224" h="400">
                <a:moveTo>
                  <a:pt x="0" y="0"/>
                </a:moveTo>
                <a:lnTo>
                  <a:pt x="224" y="0"/>
                </a:lnTo>
                <a:lnTo>
                  <a:pt x="22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752600"/>
            <a:ext cx="685800" cy="685800"/>
          </a:xfrm>
          <a:prstGeom prst="rect">
            <a:avLst/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52450" y="2552700"/>
            <a:ext cx="1790700" cy="3714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通用名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52450" y="3143250"/>
            <a:ext cx="1790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52450" y="3228975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GENERIC NAME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52450" y="3495675"/>
            <a:ext cx="17907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同一种药的国家标准名称，例：阿莫西林胶囊。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52450" y="4791075"/>
            <a:ext cx="17907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66750" y="4867275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医保认它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2705100" y="1581150"/>
            <a:ext cx="2133600" cy="3752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2705100" y="1524000"/>
            <a:ext cx="2133600" cy="3810000"/>
          </a:xfrm>
          <a:custGeom>
            <a:pathLst>
              <a:path w="224" h="400">
                <a:moveTo>
                  <a:pt x="0" y="0"/>
                </a:moveTo>
                <a:lnTo>
                  <a:pt x="224" y="0"/>
                </a:lnTo>
                <a:lnTo>
                  <a:pt x="224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876550" y="1752600"/>
            <a:ext cx="685800" cy="68580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876550" y="2552700"/>
            <a:ext cx="1790700" cy="3714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商品名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2876550" y="2962275"/>
            <a:ext cx="1790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2876550" y="304800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TRADE NAME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2876550" y="3314700"/>
            <a:ext cx="17907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厂家自己起的名字，同一种药可以有好几个，例：再林。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2876550" y="4791075"/>
            <a:ext cx="17907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990850" y="4867275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报销不认它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029200" y="1581150"/>
            <a:ext cx="2133600" cy="3752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5029200" y="1524000"/>
            <a:ext cx="2133600" cy="3810000"/>
          </a:xfrm>
          <a:custGeom>
            <a:pathLst>
              <a:path w="224" h="400">
                <a:moveTo>
                  <a:pt x="0" y="0"/>
                </a:moveTo>
                <a:lnTo>
                  <a:pt x="224" y="0"/>
                </a:lnTo>
                <a:lnTo>
                  <a:pt x="22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2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200650" y="1752600"/>
            <a:ext cx="685800" cy="685800"/>
          </a:xfrm>
          <a:prstGeom prst="rect">
            <a:avLst/>
          </a:prstGeom>
          <a:ln/>
        </p:spPr>
      </p:pic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200650" y="2552700"/>
            <a:ext cx="1790700" cy="3714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规格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5200650" y="3324225"/>
            <a:ext cx="1790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200650" y="34099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STRENGTH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200650" y="3676650"/>
            <a:ext cx="1790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剂量乘装量，例：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0.25g × 24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粒。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200650" y="4791075"/>
            <a:ext cx="17907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314950" y="4867275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决定用法用量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7353300" y="1581150"/>
            <a:ext cx="2133600" cy="3752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7353300" y="1524000"/>
            <a:ext cx="2133600" cy="3810000"/>
          </a:xfrm>
          <a:custGeom>
            <a:pathLst>
              <a:path w="224" h="400">
                <a:moveTo>
                  <a:pt x="0" y="0"/>
                </a:moveTo>
                <a:lnTo>
                  <a:pt x="224" y="0"/>
                </a:lnTo>
                <a:lnTo>
                  <a:pt x="224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pic>
        <p:nvPicPr>
          <p:cNvPr id="3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524750" y="1752600"/>
            <a:ext cx="685800" cy="68580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524750" y="2552700"/>
            <a:ext cx="1790700" cy="3714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剂型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524750" y="3143250"/>
            <a:ext cx="1790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524750" y="3228975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DOSAGE FORM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524750" y="3495675"/>
            <a:ext cx="17907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胶囊、片剂、注射剂，例：阿莫西林是胶囊。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524750" y="4791075"/>
            <a:ext cx="17907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639050" y="4867275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影响库存单位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9677400" y="1581150"/>
            <a:ext cx="2133600" cy="37528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9677400" y="1524000"/>
            <a:ext cx="2133600" cy="3810000"/>
          </a:xfrm>
          <a:custGeom>
            <a:pathLst>
              <a:path w="224" h="400">
                <a:moveTo>
                  <a:pt x="0" y="0"/>
                </a:moveTo>
                <a:lnTo>
                  <a:pt x="224" y="0"/>
                </a:lnTo>
                <a:lnTo>
                  <a:pt x="224" y="6"/>
                </a:lnTo>
                <a:lnTo>
                  <a:pt x="0" y="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848850" y="1752600"/>
            <a:ext cx="685800" cy="68580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848850" y="2552700"/>
            <a:ext cx="1790700" cy="3714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医保类别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9848850" y="3143250"/>
            <a:ext cx="17907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848850" y="3228975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D7BD9"/>
                </a:solidFill>
                <a:latin typeface="Microsoft YaHei"/>
                <a:ea typeface="Microsoft YaHei"/>
              </a:rPr>
              <a:t>INSURANCE TYPE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9848850" y="3495675"/>
            <a:ext cx="17907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报销按通用名和医保类别走，跟商品名无关。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9848850" y="4791075"/>
            <a:ext cx="1790700" cy="3714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963150" y="4867275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字段别漏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54673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571500" y="56578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42950" y="5562600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你们项目的药品表，字段要往这五个方向靠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27" name="" descr="&lt;Slide&#10;  notes={`规矩讲完了，现在做两个演示。&#10;&#10;第一个是 CSV 药品批量导入，第二个是操作审计日志。一个管&quot;数据怎么进来&quot;，一个管&quot;进来之后谁动过&quot;。&#10;&#10;我在演示的时候，你们重点看设计点，别光看我敲键盘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IMPORT &amp;amp; AUDIT TRAIL&lt;/Text&gt;&#10;        &lt;Text style={{ fontSize: 56, color: '#1A2230', fontWeight: 'bold', lineHeight: 1.25 }}&gt;导入与留痕&lt;/Text&gt;&#10;        &lt;Text style={{ fontSize: 26, color: '#4A5568', lineHeight: 1.5 }}&gt;数据怎么批量进来，进来之后谁动过&lt;/Text&gt;&#10;      &lt;/Box&gt;&#10;&#10;      &lt;Box style={{ width: '732px', height: 2, background: '#D6DCE5' }} /&gt;&#10;&#10;      &lt;Box style={{ width: '732px', background: '#1E4FA8', padding: '22px 28px', gap: 8 }}&gt;&#10;        &lt;Text style={{ fontSize: 19, color: '#C9D9F2', letterSpacing: 2 }}&gt;KEY INSIGHT&lt;/Text&gt;&#10;        &lt;Text style={{ fontSize: 28, color: '#FFFFFF', fontWeight: 'bold', lineHeight: 1.4 }}&gt;校验在服务端，&lt;br /&gt;错误行不影响合法行，返回错误明细。&lt;/Text&gt;&#10;      &lt;/Box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演示一 · CSV 药品批量导入，逐行校验并给统计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演示二 · 审计日志表 + 中间件自动记录写操作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验收时我会现场查：发一盒药，日志里查得到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838700" y="59055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IMPORT &amp; AUDIT TRAIL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838700" y="95250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导入与留痕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838700" y="188595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数据怎么批量进来，进来之后谁动过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838700" y="260032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4838700" y="2886075"/>
            <a:ext cx="6972300" cy="1619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105400" y="3095625"/>
            <a:ext cx="6438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C9D9F2"/>
                </a:solidFill>
                <a:latin typeface="Microsoft YaHei"/>
                <a:ea typeface="Microsoft YaHei"/>
              </a:rPr>
              <a:t>KEY INSIGHT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105400" y="3390900"/>
            <a:ext cx="6438900" cy="9048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校验在服务端，</a:t>
            </a:r>
            <a:endParaRPr/>
          </a:p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错误行不影响合法行，返回错误明细。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838700" y="4886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067300" y="4772025"/>
            <a:ext cx="46196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演示一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CSV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药品批量导入，逐行校验并给统计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838700" y="543877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067300" y="5324475"/>
            <a:ext cx="44196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演示二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审计日志表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中间件自动记录写操作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838700" y="599122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067300" y="5876925"/>
            <a:ext cx="43815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验收时我会现场查：发一盒药，日志里查得到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44" name="" descr="&lt;Slide&#10;  notes={`演示一，CSV 药品批量导入。&#10;&#10;我把提示词发给 AI：为后端添加药品批量导入功能，上传 CSV，列是通用名、商品名、规格、剂型、单价、医保类别、库存数量，逐行校验，必填项缺失或单价非法就记下来，合法的去重入库，最后返回成功多少条、失败多少条、失败原因。&#10;&#10;注意三个设计点：校验在服务端，不信任上传的文件；错误行不影响合法行；返回错误明细。这三点就是生产级导入和玩具导入的区别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导入与留痕 · 演示一：CSV 药品批量导入&lt;/Text&gt;&#10;    &lt;Text style={{ fontSize: 16, color: '#C9D9F2' }}&gt;医院信息系统实验 · 第 10 课&lt;/Text&gt;&#10;  &lt;/Box&gt;&#10;&#10;  &lt;Box style={{ width: '1280px', height: '552px', flexDirection: 'row', padding: '24px 40px 0px 40px', gap: 30 }}&gt;&#10;    &lt;Box style={{ width: '380px', height: '528px', background: '#0E3F8C', padding: '30px 28px', justifyContent: 'space-between' }}&gt;&#10;      &lt;Box style={{ gap: 14 }}&gt;&#10;        &lt;Text style={{ fontSize: 17, color: '#7FA3D6', letterSpacing: 2 }}&gt;LIVE DEMO 01&lt;/Text&gt;&#10;        &lt;Text style={{ fontSize: 42, color: '#FFFFFF', fontWeight: 'bold', lineHeight: 1.2 }}&gt;CSV 药品&lt;br /&gt;批量导入&lt;/Text&gt;&#10;        &lt;Box style={{ width: 80, height: 5, background: '#FFC107' }} /&gt;&#10;      &lt;/Box&gt;&#10;&#10;      &lt;Box style={{ gap: 14 }}&gt;&#10;        &lt;Text style={{ fontSize: 21, color: '#C9D9F2', lineHeight: 1.5, fontWeight: 'bold' }}&gt;三个设计点，缺一不可：&lt;/Text&gt;&#10;        &lt;Text style={{ fontSize: 21, color: '#FFFFFF', lineHeight: 1.5 }}&gt;① 校验在服务端，不信任上传文件&lt;/Text&gt;&#10;        &lt;Text style={{ fontSize: 21, color: '#FFFFFF', lineHeight: 1.5 }}&gt;② 错误行不影响合法行，不是一错全错&lt;/Text&gt;&#10;        &lt;Text style={{ fontSize: 21, color: '#FFFFFF', lineHeight: 1.5 }}&gt;③ 返回错误明细，用户知道哪行为什么失败&lt;/Text&gt;&#10;      &lt;/Box&gt;&#10;&#10;      &lt;Box style={{ gap: 8 }}&gt;&#10;        &lt;Box style={{ height: 1, background: '#3D7BD9' }} /&gt;&#10;        &lt;Text style={{ fontSize: 20, color: '#8FAED8' }}&gt;这三点＝生产级导入 vs 玩具导入&lt;/Text&gt;&#10;      &lt;/Box&gt;&#10;    &lt;/Box&gt;&#10;&#10;    &lt;Box style={{ width: '790px', height: '528px' }}&gt;&#10;      &lt;Box style={{ height: '300px', gap: 8 }}&gt;&#10;        &lt;Text style={{ fontSize: 20, color: '#1E4FA8', fontWeight: 'bold' }}&gt;提示词（先给方案，再写实现）&lt;/Text&gt;&#10;        &lt;Box style={{ height: '266px', background: '#F7F9FC', border: '1px solid #D6DCE5', padding: '10px 12px' }}&gt;&#10;          &lt;CodeBlock&#10;            code={`为 @backend 添加药品批量导入功能：&#10;上传 CSV（列：通用名、商品名、规格、剂型、单价、&#10;医保类别、库存数量），逐行校验——必填项缺失或单价&#10;非法则记录错误行，合法行去重后入库，返回导入结果&#10;统计（成功 N 条、失败 M 条及原因）。先给方案。`}&#10;            language='bash'&#10;            width={742}&#10;            fontSize={14}&#10;            theme='github-light'&#10;            background='#FFFFFF'&#10;          /&gt;&#10;        &lt;/Box&gt;&#10;      &lt;/Box&gt;&#10;&#10;      &lt;Box style={{ height: '16px' }} /&gt;&#10;&#10;      &lt;Box style={{ height: '212px', gap: 6 }}&gt;&#10;        &lt;Text style={{ fontSize: 20, color: '#1E4FA8', fontWeight: 'bold' }}&gt;验证四步&lt;/Text&gt;&#10;        &lt;Box style={{ flexDirection: 'row', alignItems: 'center', gap: 12, height: '36px' }}&gt;&#10;          &lt;Box style={{ width: 28, height: 28, background: '#1E4FA8', alignItems: 'center', justifyContent: 'center' }}&gt;&#10;            &lt;Text style={{ fontSize: 16, color: '#FFFFFF', fontWeight: 'bold' }}&gt;1&lt;/Text&gt;&#10;          &lt;/Box&gt;&#10;          &lt;Text style={{ fontSize: 20, color: '#1A2230', lineHeight: 1.4 }}&gt;让 AI 写脚本，生成 100 条演示药品数据 CSV&lt;/Text&gt;&#10;        &lt;/Box&gt;&#10;        &lt;Box style={{ flexDirection: 'row', alignItems: 'center', gap: 12, height: '36px' }}&gt;&#10;          &lt;Box style={{ width: 28, height: 28, background: '#1E4FA8', alignItems: 'center', justifyContent: 'center' }}&gt;&#10;            &lt;Text style={{ fontSize: 16, color: '#FFFFFF', fontWeight: 'bold' }}&gt;2&lt;/Text&gt;&#10;          &lt;/Box&gt;&#10;          &lt;Text style={{ fontSize: 20, color: '#1A2230', lineHeight: 1.4 }}&gt;执行导入，故意留几行脏数据&lt;/Text&gt;&#10;        &lt;/Box&gt;&#10;        &lt;Box style={{ flexDirection: 'row', alignItems: 'center', gap: 12, height: '36px' }}&gt;&#10;          &lt;Box style={{ width: 28, height: 28, background: '#D9534F', alignItems: 'center', justifyContent: 'center' }}&gt;&#10;            &lt;Text style={{ fontSize: 16, color: '#FFFFFF', fontWeight: 'bold' }}&gt;3&lt;/Text&gt;&#10;          &lt;/Box&gt;&#10;          &lt;Text style={{ fontSize: 20, color: '#1A2230', lineHeight: 1.4 }}&gt;看统计与错误报告：成功几条、失败几条、原因是什么&lt;/Text&gt;&#10;        &lt;/Box&gt;&#10;        &lt;Box style={{ flexDirection: 'row', alignItems: 'center', gap: 12, height: '36px' }}&gt;&#10;          &lt;Box style={{ width: 28, height: 28, background: '#1E4FA8', alignItems: 'center', justifyContent: 'center' }}&gt;&#10;            &lt;Text style={{ fontSize: 16, color: '#FFFFFF', fontWeight: 'bold' }}&gt;4&lt;/Text&gt;&#10;          &lt;/Box&gt;&#10;          &lt;Text style={{ fontSize: 20, color: '#1A2230', lineHeight: 1.4 }}&gt;查数据库确认：合法行真的进去了，脏行没进去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790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导入与留痕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演示一：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CSV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药品批量导入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3086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LIVE DEMO 01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30861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>CSV 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药品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批量导入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47700" y="28194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47700" y="2867025"/>
            <a:ext cx="30861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C9D9F2"/>
                </a:solidFill>
                <a:latin typeface="Microsoft YaHei"/>
                <a:ea typeface="Microsoft YaHei"/>
              </a:rPr>
              <a:t>三个设计点，缺一不可：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47700" y="3362325"/>
            <a:ext cx="30861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校验在服务端，不信任上传文件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47700" y="3857625"/>
            <a:ext cx="30861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②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错误行不影响合法行，不是一错全错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47700" y="4714875"/>
            <a:ext cx="30861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返回错误明细，用户知道哪行为什么失败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47700" y="5438775"/>
            <a:ext cx="30861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47700" y="55245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这三点＝生产级导入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 vs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玩具导入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286250" y="914400"/>
            <a:ext cx="752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提示词（先给方案，再写实现）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286250" y="1219200"/>
            <a:ext cx="7524750" cy="25336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286250" y="3924300"/>
            <a:ext cx="752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验证四步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286250" y="424815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371975" y="42862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667250" y="4219575"/>
            <a:ext cx="38481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让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写脚本，生成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100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条演示药品数据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CSV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4286250" y="464820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371975" y="46863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667250" y="4619625"/>
            <a:ext cx="2476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执行导入，故意留几行脏数据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4286250" y="5048250"/>
            <a:ext cx="266700" cy="2667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371975" y="50863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667250" y="5019675"/>
            <a:ext cx="4572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看统计与错误报告：成功几条、失败几条、原因是什么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4286250" y="544830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371975" y="54864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667250" y="5419725"/>
            <a:ext cx="4000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查数据库确认：合法行真的进去了，脏行没进去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4400550" y="1314450"/>
            <a:ext cx="72961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7" name=""/>
          <p:cNvSpPr txBox="1"/>
          <p:nvPr/>
        </p:nvSpPr>
        <p:spPr>
          <a:xfrm rot="0" flipH="0" flipV="0">
            <a:off x="4552950" y="1447800"/>
            <a:ext cx="699135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为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@backend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添加药品批量导入功能：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上传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CSV（列：通用名、商品名、规格、剂型、单价、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医保类别、库存数量），逐行校验——必填项缺失或单价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非法则记录错误行，合法行去重后入库，返回导入结果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统计（成功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N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条、失败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M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条及原因）。先给方案。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8" name="" descr="&lt;Slide&#10;  notes={`演示二，操作审计日志。&#10;&#10;提示词是这样的：设计审计日志表，字段有用户、动作、对象类型、对象 ID、详情、IP、时间；用中间件自动记录写操作；再提供查询接口，可以按用户、动作、时间过滤。&#10;&#10;我做完几个操作，然后查一句&quot;今天收费员张三做了什么&quot;，日志一条条列出来。这就是医院系统的黑匣子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导入与留痕 · 演示二：操作审计日志&lt;/Text&gt;&#10;    &lt;Text style={{ fontSize: 16, color: '#C9D9F2' }}&gt;医院信息系统实验 · 第 10 课&lt;/Text&gt;&#10;  &lt;/Box&gt;&#10;&#10;  &lt;Box style={{ width: '1280px', height: '552px', padding: '24px 40px 0px 40px' }}&gt;&#10;    &lt;svg width={1200} height={300} viewBox='0 0 1200 300'&gt;&#10;      &lt;rect x='0' y='52' width='352' height='196' rx='10' fill='#F7F9FC' stroke='#D6DCE5' strokeWidth='2' /&gt;&#10;      &lt;rect x='0' y='52' width='352' height='6' rx='3' fill='#3D7BD9' /&gt;&#10;      &lt;text x='176' y='92' text-anchor='middle' font-size='28' font-weight='bold' fill='#1A2230'&gt;审计日志表&lt;/text&gt;&#10;      &lt;text x='176' y='120' text-anchor='middle' font-size='19' fill='#8B97A8'&gt;一张表，七个字段&lt;/text&gt;&#10;      &lt;rect x='28' y='134' width='150' height='26' rx='4' fill='#E8EFF8' /&gt;&#10;      &lt;text x='103' y='152' text-anchor='middle' font-size='17' fill='#1E4FA8'&gt;用户 · 动作&lt;/text&gt;&#10;      &lt;rect x='190' y='134' width='134' height='26' rx='4' fill='#E8EFF8' /&gt;&#10;      &lt;text x='257' y='152' text-anchor='middle' font-size='17' fill='#1E4FA8'&gt;对象类型&lt;/text&gt;&#10;      &lt;rect x='28' y='168' width='120' height='26' rx='4' fill='#E8EFF8' /&gt;&#10;      &lt;text x='88' y='186' text-anchor='middle' font-size='17' fill='#1E4FA8'&gt;对象 ID&lt;/text&gt;&#10;      &lt;rect x='160' y='168' width='164' height='26' rx='4' fill='#E8EFF8' /&gt;&#10;      &lt;text x='242' y='186' text-anchor='middle' font-size='17' fill='#1E4FA8'&gt;详情 · IP · 时间&lt;/text&gt;&#10;      &lt;rect x='28' y='206' width='296' height='26' rx='4' fill='#FFFFFF' stroke='#D6DCE5' /&gt;&#10;      &lt;text x='176' y='224' text-anchor='middle' font-size='17' fill='#8B97A8'&gt;每发生一次写操作，追加一行&lt;/text&gt;&#10;&#10;      &lt;path d='M378 150 L432 150' stroke='#1E4FA8' strokeWidth='3' /&gt;&#10;      &lt;path d='M426 142 L436 150 L426 158 Z' fill='#1E4FA8' /&gt;&#10;&#10;      &lt;rect x='452' y='52' width='296' height='196' rx='10' fill='#1E4FA8' /&gt;&#10;      &lt;text x='600' y='96' text-anchor='middle' font-size='28' font-weight='bold' fill='#FFFFFF'&gt;中间件自动记录&lt;/text&gt;&#10;      &lt;text x='600' y='126' text-anchor='middle' font-size='20' fill='#C9D9F2'&gt;拦截写操作，自动落库&lt;/text&gt;&#10;      &lt;rect x='488' y='146' width='224' height='30' rx='4' fill='#3D7BD9' /&gt;&#10;      &lt;text x='600' y='166' text-anchor='middle' font-size='18' fill='#FFFFFF'&gt;业务代码不用手写日志&lt;/text&gt;&#10;      &lt;rect x='488' y='186' width='224' height='30' rx='4' fill='#FFC107' /&gt;&#10;      &lt;text x='600' y='206' text-anchor='middle' font-size='18' font-weight='bold' fill='#0E3F8C'&gt;挂号 / 收费 / 发药 / 改价&lt;/text&gt;&#10;&#10;      &lt;path d='M774 150 L828 150' stroke='#1E4FA8' strokeWidth='3' /&gt;&#10;      &lt;path d='M822 142 L832 150 L822 158 Z' fill='#1E4FA8' /&gt;&#10;&#10;      &lt;rect x='848' y='52' width='352' height='196' rx='10' fill='#E8EFF8' stroke='#1E4FA8' strokeWidth='3' /&gt;&#10;      &lt;text x='1024' y='92' text-anchor='middle' font-size='28' font-weight='bold' fill='#1E4FA8'&gt;查询 API&lt;/text&gt;&#10;      &lt;text x='1024' y='120' text-anchor='middle' font-size='19' fill='#4A5568'&gt;按用户 / 动作 / 时间过滤&lt;/text&gt;&#10;      &lt;rect x='876' y='138' width='296' height='34' rx='4' fill='#FFFFFF' stroke='#3D7BD9' /&gt;&#10;      &lt;text x='1024' y='160' text-anchor='middle' font-size='19' fill='#1A2230'&gt;查：今天收费员张三做了什么&lt;/text&gt;&#10;      &lt;rect x='876' y='182' width='296' height='34' rx='4' fill='#FFFFFF' stroke='#3D7BD9' /&gt;&#10;      &lt;text x='1024' y='204' text-anchor='middle' font-size='19' fill='#1A2230'&gt;返回：时间 · 动作 · 对象 · 详情&lt;/text&gt;&#10;      &lt;text x='1024' y='236' text-anchor='middle' font-size='17' fill='#8B97A8'&gt;管理功能，不进主流程&lt;/text&gt;&#10;&#10;      &lt;path d='M176 276 L1024 276' stroke='#D6DCE5' strokeWidth='2' strokeDasharray='6 5' /&gt;&#10;      &lt;rect x='490' y='260' width='220' height='32' rx='4' fill='#FFC107' /&gt;&#10;      &lt;text x='600' y='282' text-anchor='middle' font-size='19' font-weight='bold' fill='#0E3F8C'&gt;写操作全留痕，可追溯&lt;/text&gt;&#10;    &lt;/svg&gt;&#10;&#10;    &lt;Box style={{ height: '18px' }} /&gt;&#10;&#10;    &lt;Box style={{ height: '156px', flexDirection: 'row', gap: 18 }}&gt;&#10;      &lt;Box style={{ flex: 1, background: '#F7F9FC', border: '1px solid #D6DCE5', borderTop: '4px solid #1E4FA8', padding: '14px 12px', justifyContent: 'space-between' }}&gt;&#10;        &lt;Text style={{ fontSize: 24, color: '#1A2230', fontWeight: 'bold' }}&gt;挂号&lt;/Text&gt;&#10;        &lt;Text style={{ fontSize: 20, color: '#4A5568', lineHeight: 1.45 }}&gt;谁在几点给哪位患者挂了哪个科&lt;/Text&gt;&#10;      &lt;/Box&gt;&#10;      &lt;Box style={{ flex: 1, background: '#F7F9FC', border: '1px solid #D6DCE5', borderTop: '4px solid #1E4FA8', padding: '14px 12px', justifyContent: 'space-between' }}&gt;&#10;        &lt;Text style={{ fontSize: 24, color: '#1A2230', fontWeight: 'bold' }}&gt;收费&lt;/Text&gt;&#10;        &lt;Text style={{ fontSize: 20, color: '#4A5568', lineHeight: 1.45 }}&gt;金额、项目、操作人都记下来&lt;/Text&gt;&#10;      &lt;/Box&gt;&#10;      &lt;Box style={{ flex: 1, background: '#F7F9FC', border: '1px solid #D6DCE5', borderTop: '4px solid #1E4FA8', padding: '14px 12px', justifyContent: 'space-between' }}&gt;&#10;        &lt;Text style={{ fontSize: 24, color: '#1A2230', fontWeight: 'bold' }}&gt;发药&lt;/Text&gt;&#10;        &lt;Text style={{ fontSize: 20, color: '#4A5568', lineHeight: 1.45 }}&gt;验收时我现场查：发一盒药&lt;/Text&gt;&#10;      &lt;/Box&gt;&#10;      &lt;Box style={{ flex: 1, background: '#F7F9FC', border: '1px solid #D6DCE5', borderTop: '4px solid #D9534F', padding: '14px 12px', justifyContent: 'space-between' }}&gt;&#10;        &lt;Text style={{ fontSize: 24, color: '#1A2230', fontWeight: 'bold' }}&gt;改价&lt;/Text&gt;&#10;        &lt;Text style={{ fontSize: 20, color: '#4A5568', lineHeight: 1.45 }}&gt;改前改后都要看得到&lt;/Text&gt;&#10;      &lt;/Box&gt;&#10;      &lt;Box style={{ flex: 1, background: '#E8EFF8', border: '1px solid #3D7BD9', borderTop: '4px solid #0E3F8C', padding: '14px 12px', justifyContent: 'space-between' }}&gt;&#10;        &lt;Text style={{ fontSize: 24, color: '#1A2230', fontWeight: 'bold' }}&gt;登录&lt;/Text&gt;&#10;        &lt;Text style={{ fontSize: 20, color: '#4A5568', lineHeight: 1.45 }}&gt;谁在什么时候进过系统&lt;/Text&gt;&#10;      &lt;/Box&gt;&#10;    &lt;/Box&gt;&#10;&#10;    &lt;Box style={{ height: '10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这五类写操作必须自动留痕，不需要业务代码手工调用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导入与留痕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演示二：操作审计日志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2857500"/>
          </a:xfrm>
          <a:prstGeom prst="rect">
            <a:avLst/>
          </a:prstGeom>
          <a:ln/>
        </p:spPr>
      </p:pic>
      <p:sp>
        <p:nvSpPr>
          <p:cNvPr id="384" name=""/>
          <p:cNvSpPr/>
          <p:nvPr/>
        </p:nvSpPr>
        <p:spPr>
          <a:xfrm rot="0" flipH="0" flipV="0">
            <a:off x="381000" y="3981450"/>
            <a:ext cx="2152650" cy="1485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381000" y="3943350"/>
            <a:ext cx="2152650" cy="1524000"/>
          </a:xfrm>
          <a:custGeom>
            <a:pathLst>
              <a:path w="226" h="160">
                <a:moveTo>
                  <a:pt x="0" y="0"/>
                </a:moveTo>
                <a:lnTo>
                  <a:pt x="226" y="0"/>
                </a:lnTo>
                <a:lnTo>
                  <a:pt x="226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95300" y="4114800"/>
            <a:ext cx="1924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挂号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95300" y="4629150"/>
            <a:ext cx="1924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谁在几点给哪位患者挂了哪个科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2705100" y="3981450"/>
            <a:ext cx="2143125" cy="1485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2705100" y="3943350"/>
            <a:ext cx="2143125" cy="1524000"/>
          </a:xfrm>
          <a:custGeom>
            <a:pathLst>
              <a:path w="225" h="160">
                <a:moveTo>
                  <a:pt x="0" y="0"/>
                </a:moveTo>
                <a:lnTo>
                  <a:pt x="225" y="0"/>
                </a:lnTo>
                <a:lnTo>
                  <a:pt x="22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819400" y="4114800"/>
            <a:ext cx="1914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收费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2819400" y="4629150"/>
            <a:ext cx="19145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金额、项目、操作人都记下来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019675" y="3981450"/>
            <a:ext cx="2152650" cy="1485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5019675" y="3943350"/>
            <a:ext cx="2152650" cy="1524000"/>
          </a:xfrm>
          <a:custGeom>
            <a:pathLst>
              <a:path w="226" h="160">
                <a:moveTo>
                  <a:pt x="0" y="0"/>
                </a:moveTo>
                <a:lnTo>
                  <a:pt x="226" y="0"/>
                </a:lnTo>
                <a:lnTo>
                  <a:pt x="226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133975" y="4114800"/>
            <a:ext cx="1924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发药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133975" y="4629150"/>
            <a:ext cx="1924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验收时我现场查：发一盒药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7343775" y="3981450"/>
            <a:ext cx="2143125" cy="1485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7343775" y="3943350"/>
            <a:ext cx="2143125" cy="1524000"/>
          </a:xfrm>
          <a:custGeom>
            <a:pathLst>
              <a:path w="225" h="160">
                <a:moveTo>
                  <a:pt x="0" y="0"/>
                </a:moveTo>
                <a:lnTo>
                  <a:pt x="225" y="0"/>
                </a:lnTo>
                <a:lnTo>
                  <a:pt x="225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458075" y="4114800"/>
            <a:ext cx="1914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改价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458075" y="4962525"/>
            <a:ext cx="1914525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改前改后都要看得到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9658350" y="3981450"/>
            <a:ext cx="2152650" cy="1485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9658350" y="3943350"/>
            <a:ext cx="2152650" cy="1524000"/>
          </a:xfrm>
          <a:custGeom>
            <a:pathLst>
              <a:path w="226" h="160">
                <a:moveTo>
                  <a:pt x="0" y="0"/>
                </a:moveTo>
                <a:lnTo>
                  <a:pt x="226" y="0"/>
                </a:lnTo>
                <a:lnTo>
                  <a:pt x="226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9772650" y="4114800"/>
            <a:ext cx="1924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登录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9772650" y="4962525"/>
            <a:ext cx="19240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谁在什么时候进过系统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381000" y="55245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571500" y="56864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42950" y="5591175"/>
            <a:ext cx="4800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这五类写操作必须自动留痕，不需要业务代码手工调用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两个演示看完了，现在轮到你们。&#10;&#10;按两个演示做，目标有三个：第一，把药品 CSV 批量导入跑通；第二，把操作审计日志加上；第三，做一张统计报表，今日挂号量和收费金额汇总，用 AI 生成一个简单图表页面也行。&#10;&#10;做完的加分项：把报表导出成 CSV，也就是导入的逆向操作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导入与留痕 · 学生实操三步&lt;/Text&gt;&#10;    &lt;Text style={{ fontSize: 16, color: '#C9D9F2' }}&gt;医院信息系统实验 · 第 10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学生实操三步&lt;/Text&gt;&#10;      &lt;Text style={{ fontSize: 22, color: '#8B97A8' }}&gt;建议用时 35 分钟 · 做完举手示意&lt;/Text&gt;&#10;    &lt;/Box&gt;&#10;&#10;    &lt;Box style={{ height: '14px' }} /&gt;&#10;&#10;    &lt;svg width={1200} height={140} viewBox='0 0 1200 140'&gt;&#10;      &lt;rect x='60' y='46' width='940' height='8' rx='4' fill='#E5E7EB' /&gt;&#10;      &lt;rect x='60' y='46' width='940' height='8' rx='4' fill='#1E4FA8' opacity='0.25' /&gt;&#10;      &lt;circle cx='100' cy='50' r='30' fill='#1E4FA8' /&gt;&#10;      &lt;text x='100' y='51' text-anchor='middle' dominant-baseline='central' font-size='24' font-weight='bold' fill='#FFFFFF'&gt;1&lt;/text&gt;&#10;      &lt;circle cx='530' cy='50' r='30' fill='#1E4FA8' /&gt;&#10;      &lt;text x='530' y='51' text-anchor='middle' dominant-baseline='central' font-size='24' font-weight='bold' fill='#FFFFFF'&gt;2&lt;/text&gt;&#10;      &lt;circle cx='960' cy='50' r='34' fill='#1E4FA8' /&gt;&#10;      &lt;text x='960' y='51' text-anchor='middle' dominant-baseline='central' font-size='26' font-weight='bold' fill='#FFFFFF'&gt;3&lt;/text&gt;&#10;      &lt;text x='100' y='112' text-anchor='middle' font-size='24' font-weight='bold' fill='#1A2230'&gt;CSV 导入&lt;/text&gt;&#10;      &lt;text x='530' y='112' text-anchor='middle' font-size='24' font-weight='bold' fill='#1A2230'&gt;审计日志&lt;/text&gt;&#10;      &lt;text x='960' y='112' text-anchor='middle' font-size='24' font-weight='bold' fill='#0E3F8C'&gt;统计报表&lt;/text&gt;&#10;    &lt;/svg&gt;&#10;&#10;    &lt;Box style={{ height: '16px' }} /&gt;&#10;&#10;    &lt;Box style={{ height: '228px', flexDirection: 'row', gap: 24 }}&gt;&#10;      &lt;Box style={{ flex: 1, background: '#F7F9FC', border: '1px solid #D6DCE5', borderTop: '4px solid #1E4FA8', padding: '20px 22px', gap: 10 }}&gt;&#10;        &lt;Text style={{ fontSize: 26, color: '#1A2230', fontWeight: 'bold' }}&gt;① 药品 CSV 批量导入&lt;/Text&gt;&#10;        &lt;Text style={{ fontSize: 21, color: '#4A5568', lineHeight: 1.5 }}&gt;&#10;          生成 100 条演示数据，导入后看&lt;span style={{ fontWeight: 'bold', color: '#1A2230' }}&gt;成功 N 条、失败 M 条&lt;/span&gt;的错误报告。&#10;        &lt;/Text&gt;&#10;        &lt;Box style={{ background: '#E8EFF8', padding: '8px 12px' }}&gt;&#10;          &lt;Text style={{ fontSize: 19, color: '#1E4FA8' }}&gt;验收：脏数据不入库，合法行都在&lt;/Text&gt;&#10;        &lt;/Box&gt;&#10;      &lt;/Box&gt;&#10;      &lt;Box style={{ flex: 1, background: '#F7F9FC', border: '1px solid #D6DCE5', borderTop: '4px solid #1E4FA8', padding: '20px 22px', gap: 10 }}&gt;&#10;        &lt;Text style={{ fontSize: 26, color: '#1A2230', fontWeight: 'bold' }}&gt;② 操作审计日志&lt;/Text&gt;&#10;        &lt;Text style={{ fontSize: 21, color: '#4A5568', lineHeight: 1.5 }}&gt;&#10;          建表 + 中间件自动记录写操作，再提供&lt;span style={{ fontWeight: 'bold', color: '#1A2230' }}&gt;按用户 / 动作 / 时间过滤&lt;/span&gt;的查询接口。&#10;        &lt;/Text&gt;&#10;        &lt;Box style={{ background: '#E8EFF8', padding: '8px 12px' }}&gt;&#10;          &lt;Text style={{ fontSize: 19, color: '#1E4FA8' }}&gt;验收：发一盒药，日志查得到&lt;/Text&gt;&#10;        &lt;/Box&gt;&#10;      &lt;/Box&gt;&#10;      &lt;Box style={{ flex: 1, background: '#E8EFF8', border: '1px solid #3D7BD9', borderTop: '4px solid #0E3F8C', padding: '20px 22px', gap: 10 }}&gt;&#10;        &lt;Text style={{ fontSize: 26, color: '#1A2230', fontWeight: 'bold' }}&gt;③ 一张统计报表&lt;/Text&gt;&#10;        &lt;Text style={{ fontSize: 21, color: '#4A5568', lineHeight: 1.5 }}&gt;&#10;          &lt;span style={{ fontWeight: 'bold', color: '#1A2230' }}&gt;今日挂号量、收费金额汇总&lt;/span&gt;，用 AI 生成简单图表页面也可以。&#10;        &lt;/Text&gt;&#10;        &lt;Box style={{ background: '#FFFFFF', padding: '8px 12px' }}&gt;&#10;          &lt;Text style={{ fontSize: 19, color: '#0E3F8C', fontWeight: 'bold' }}&gt;加分项：导出报表 CSV&lt;/Text&gt;&#10;        &lt;/Box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加分项：把报表导出成 CSV——导入的逆向，做完举手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导入与留痕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学生实操三步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学生实操三步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建议用时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35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做完举手示意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3335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028950"/>
            <a:ext cx="3657600" cy="2171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2990850"/>
            <a:ext cx="3657600" cy="2209800"/>
          </a:xfrm>
          <a:custGeom>
            <a:pathLst>
              <a:path w="384" h="232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90550" y="3219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药品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CSV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批量导入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90550" y="36195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100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条演示数据，导入后看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成功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N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条、失败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M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的错误报告。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90550" y="4438650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04850" y="45148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验收：脏数据不入库，合法行都在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267200" y="3028950"/>
            <a:ext cx="3657600" cy="23717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267200" y="2990850"/>
            <a:ext cx="3657600" cy="2409825"/>
          </a:xfrm>
          <a:custGeom>
            <a:pathLst>
              <a:path w="384" h="253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476750" y="3219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操作审计日志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76750" y="3619500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建表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中间件自动记录写操作，再提供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按用户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动作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时间过滤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的查询接口。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476750" y="4800600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91050" y="487680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验收：发一盒药，日志查得到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153400" y="3028950"/>
            <a:ext cx="3657600" cy="2171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8153400" y="2990850"/>
            <a:ext cx="3657600" cy="2209800"/>
          </a:xfrm>
          <a:custGeom>
            <a:pathLst>
              <a:path w="384" h="232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62950" y="3219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一张统计报表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62950" y="36195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今日挂号量、收费金额汇总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生成简单图表页面也可以。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362950" y="4438650"/>
            <a:ext cx="32385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477250" y="45148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加分项：导出报表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CSV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81000" y="527685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571500" y="543877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42950" y="5343525"/>
            <a:ext cx="4876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加分项：把报表导出成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CSV——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导入的逆向，做完举手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&lt;Slide&#10;  notes={`实操就到这里。&#10;&#10;最后这一段，我把三个高频问题一次答清：CSV 乱码怎么办、审计日志会不会拖慢系统、ICD-10 编码要不要全背。&#10;&#10;然后布置今天的作业，两项，其中一道是思考题，要动脑子的那种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Q&amp;amp;A &amp;amp; ASSIGNMENT&lt;/Text&gt;&#10;        &lt;Text style={{ fontSize: 56, color: '#1A2230', fontWeight: 'bold', lineHeight: 1.25 }}&gt;答疑与作业&lt;/Text&gt;&#10;        &lt;Text style={{ fontSize: 26, color: '#4A5568', lineHeight: 1.5 }}&gt;三个高频问题，两项作业&lt;/Text&gt;&#10;      &lt;/Box&gt;&#10;&#10;      &lt;Box style={{ width: '732px', height: 2, background: '#D6DCE5' }} /&gt;&#10;&#10;      &lt;Box style={{ width: '732px', background: '#1E4FA8', padding: '22px 28px', gap: 6 }}&gt;&#10;        &lt;Text style={{ fontSize: 19, color: '#C9D9F2', letterSpacing: 2 }}&gt;KEY INSIGHT&lt;/Text&gt;&#10;        &lt;Text style={{ fontSize: 30, color: '#FFFFFF', fontWeight: 'bold', lineHeight: 1.4 }}&gt;别为了性能砍审计，&lt;br /&gt;合规优先。&lt;/Text&gt;&#10;      &lt;/Box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三个问题：CSV 乱码 / 性能开销 / 编码要不要背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两项作业：实操三件套 + 200 字思考题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思考题重点：编码标准化 + 患者主索引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838700" y="571500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Q&amp;A &amp; ASSIGNMENT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838700" y="933450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838700" y="1866900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三个高频问题，两项作业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838700" y="2581275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838700" y="2867025"/>
            <a:ext cx="6972300" cy="16573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105400" y="3076575"/>
            <a:ext cx="6438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C9D9F2"/>
                </a:solidFill>
                <a:latin typeface="Microsoft YaHei"/>
                <a:ea typeface="Microsoft YaHei"/>
              </a:rPr>
              <a:t>KEY INSIGHT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105400" y="3352800"/>
            <a:ext cx="6438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别为了性能砍审计，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合规优先。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838700" y="49053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067300" y="4791075"/>
            <a:ext cx="46577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三个问题：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CSV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乱码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性能开销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编码要不要背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545782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067300" y="5343525"/>
            <a:ext cx="3810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两项作业：实操三件套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+ 200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字思考题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838700" y="60102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067300" y="5895975"/>
            <a:ext cx="38004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思考题重点：编码标准化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患者主索引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&#10;  notes={`你们最常问的三个问题，我一起答。&#10;&#10;第一个，CSV 编码乱码。Excel 导出的 CSV 常常是 GBK，后端按 UTF-8 读就乱了。解法是上传时让用户选编码，或者后端自动检测。&#10;&#10;第二个，审计日志会不会拖慢系统。写操作加一条日志，开销可以忽略；查日志是管理功能，不影响主流程。&#10;&#10;第三个，ICD-10 要不要全背。不用，但要知道它存在、知道结构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常见问题应答&lt;/Text&gt;&#10;    &lt;Text style={{ fontSize: 16, color: '#C9D9F2' }}&gt;医院信息系统实验 · 第 10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CSV 乱码&lt;/Text&gt;&#10;        &lt;/Box&gt;&#10;        &lt;Box style={{ background: '#FFFFFF', padding: '10px 16px', borderRadius: 20, alignItems: 'center' }}&gt;&#10;          &lt;Text style={{ fontSize: 20, color: '#1E4FA8', fontWeight: 'bold' }}&gt;性能开销&lt;/Text&gt;&#10;        &lt;/Box&gt;&#10;        &lt;Box style={{ background: '#FFFFFF', padding: '10px 16px', borderRadius: 20, alignItems: 'center' }}&gt;&#10;          &lt;Text style={{ fontSize: 20, color: '#1E4FA8', fontWeight: 'bold' }}&gt;编码背诵&lt;/Text&gt;&#10;        &lt;/Box&gt;&#10;      &lt;/Box&gt;&#10;&#10;      &lt;Text style={{ fontSize: 20, color: '#4A5568', lineHeight: 1.5 }}&gt;&#10;        这三个坑真实项目天天遇到，提前知道比事后调试便宜得多。&#10;      &lt;/Text&gt;&#10;    &lt;/Box&gt;&#10;&#10;    &lt;Box style={{ width: '810px', height: '528px', gap: 9 }}&gt;&#10;      &lt;Box style={{ height: '170px', background: '#F7F9FC', border: '1px solid #D6DCE5', borderLeft: '6px solid #D9534F', padding: '18px 22px', justifyContent: 'space-between' }}&gt;&#10;        &lt;Text style={{ fontSize: 24, color: '#1A2230', fontWeight: 'bold', lineHeight: 1.4 }}&gt;&#10;          Q：CSV 导入以后全是乱码，怎么办？&#10;        &lt;/Text&gt;&#10;        &lt;Text style={{ fontSize: 21, color: '#4A5568', lineHeight: 1.5 }}&gt;&#10;          A：Excel 导出的 CSV 常是 &lt;span style={{ color: '#D9534F', fontWeight: 'bold' }}&gt;GBK&lt;/span&gt;，后端按 UTF-8 读就乱。怎么做：上传时让用户选编码，或后端&lt;span style={{ color: '#1E4FA8', fontWeight: 'bold' }}&gt;自动检测编码&lt;/span&gt;再解析。&#10;        &lt;/Text&gt;&#10;      &lt;/Box&gt;&#10;&#10;      &lt;Box style={{ height: '170px', background: '#F7F9FC', border: '1px solid #D6DCE5', borderLeft: '6px solid #1E4FA8', padding: '18px 22px', justifyContent: 'space-between' }}&gt;&#10;        &lt;Text style={{ fontSize: 24, color: '#1A2230', fontWeight: 'bold', lineHeight: 1.4 }}&gt;&#10;          Q：审计日志会不会把系统拖慢？&#10;        &lt;/Text&gt;&#10;        &lt;Text style={{ fontSize: 21, color: '#4A5568', lineHeight: 1.5 }}&gt;&#10;          A：不会。写操作加一条日志开销可忽略，查日志是管理功能不进主流程。怎么做：&lt;span style={{ color: '#1E4FA8', fontWeight: 'bold' }}&gt;别为了性能砍审计，合规优先&lt;/span&gt;。&#10;        &lt;/Text&gt;&#10;      &lt;/Box&gt;&#10;&#10;      &lt;Box style={{ height: '170px', background: '#F7F9FC', border: '1px solid #D6DCE5', borderLeft: '6px solid #FFC107', padding: '18px 22px', justifyContent: 'space-between' }}&gt;&#10;        &lt;Text style={{ fontSize: 24, color: '#1A2230', fontWeight: 'bold', lineHeight: 1.4 }}&gt;&#10;          Q：ICD-10 编码要全背下来吗？&#10;        &lt;/Text&gt;&#10;        &lt;Text style={{ fontSize: 21, color: '#4A5568', lineHeight: 1.5 }}&gt;&#10;          A：不用。怎么做：知道它存在、知道&lt;span style={{ color: '#1A2230', fontWeight: 'bold' }}&gt;结构是字母加数字&lt;/span&gt;就行，需要时让 AI 生成常见诊断的编码示例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28650" y="31813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685925" y="3276600"/>
            <a:ext cx="819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CSV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乱码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28650" y="37147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714500" y="38100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性能开销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28650" y="42481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714500" y="43434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编码背诵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28650" y="4991100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这三个坑真实项目天天遇到，提前知道比事后调试便宜得多。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62450" y="108585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CSV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导入以后全是乱码，怎么办？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362450" y="163830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Excel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导出的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CSV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常是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GBK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，后端按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UTF-8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读就乱。怎么做：上传时让用户选编码，或后端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自动检测编码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再解析。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362450" y="2790825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：审计日志会不会把系统拖慢？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362450" y="3343275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：不会。写操作加一条日志开销可忽略，查日志是管理功能不进主流程。怎么做：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别为了性能砍审计，合规优先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362450" y="449580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ICD-10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编码要全背下来吗？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362450" y="504825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：不用。怎么做：知道它存在、知道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结构是字母加数字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就行，需要时让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生成常见诊断的编码示例。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6" name="" descr="&lt;Slide&#10;  notes={`请把今天这句话记住：审计日志是医院系统的黑匣子。&#10;&#10;飞机为什么必须装黑匣子？不是为了平时看，是为了出事那天能查。审计日志也是一个道理：出了问题能追溯谁在什么时候做了什么。&#10;&#10;更重要的是，医疗合规要求操作留痕，这是硬规矩，不是可选项。你们验收时我会现场查：发一盒药，日志里必须查得到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为什么必须留痕&lt;/Text&gt;&#10;    &lt;Text style={{ fontSize: 16, color: '#C9D9F2' }}&gt;医院信息系统实验 · 第 10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6, color: '#FFFFFF', fontWeight: 'bold', lineHeight: 1.18 }}&gt;&#10;        审计日志是医院系统的黑匣子&#10;      &lt;/Text&gt;&#10;&#10;      &lt;Box style={{ flexDirection: 'row', alignItems: 'center', gap: 20 }}&gt;&#10;        &lt;Box style={{ width: 100, height: 5, background: '#FFC107' }} /&gt;&#10;        &lt;Text style={{ fontSize: 24, color: '#C9D9F2' }}&gt;平时不看它，出事那天全靠它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0px 22px', gap: 12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6, color: '#1A2230', fontWeight: 'bold' }}&gt;可追溯：谁做了什么&lt;/Text&gt;&#10;        &lt;/Box&gt;&#10;        &lt;Text style={{ fontSize: 21, color: '#4A5568', lineHeight: 1.5 }}&gt;&#10;          出了问题能追溯&lt;span style={{ fontWeight: 'bold', color: '#1E4FA8' }}&gt;&quot;谁在什么时候做了什么&quot;&lt;/span&gt;。飞机装黑匣子不是为了平时看，是为了出事那天能查。&#10;        &lt;/Text&gt;&#10;      &lt;/Box&gt;&#10;      &lt;Box style={{ flex: 1, background: '#F7F9FC', border: '1px solid #D6DCE5', borderTop: '4px solid #D9534F', padding: '20px 22px', gap: 12 }}&gt;&#10;        &lt;Box style={{ flexDirection: 'row', alignItems: 'center', gap: 10 }}&gt;&#10;          &lt;Box style={{ width: 34, height: 34, background: '#D9534F', alignItems: 'center', justifyContent: 'center' }}&gt;&#10;            &lt;Text style={{ fontSize: 18, color: '#FFFFFF', fontWeight: 'bold' }}&gt;2&lt;/Text&gt;&#10;          &lt;/Box&gt;&#10;          &lt;Text style={{ fontSize: 26, color: '#1A2230', fontWeight: 'bold' }}&gt;硬规矩：不是可选项&lt;/Text&gt;&#10;        &lt;/Box&gt;&#10;        &lt;Text style={{ fontSize: 21, color: '#4A5568', lineHeight: 1.5 }}&gt;&#10;          医疗合规要求操作留痕，这是&lt;span style={{ fontWeight: 'bold', color: '#D9534F' }}&gt;硬规矩，不是可选项&lt;/span&gt;。验收时我会现场查：发一盒药，日志里查得到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为什么必须留痕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00100" y="1838325"/>
            <a:ext cx="10591800" cy="10287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审计日志是医院系统的黑匣子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800100" y="3286125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943100" y="317182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平时不看它，出事那天全靠它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3810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3810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590550" y="41719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953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09650" y="418147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可追溯：谁做了什么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90550" y="461010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出了问题能追溯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谁在什么时候做了什么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。飞机装黑匣子不是为了平时看，是为了出事那天能查。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2103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62103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6419850" y="417195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5246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38950" y="418147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硬规矩：不是可选项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419850" y="461010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医疗合规要求操作留痕，这是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硬规矩，不是可选项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。验收时我会现场查：发一盒药，日志里查得到。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1" name="" descr="&lt;Slide&#10;  notes={`作业两项。&#10;&#10;第一，把导入、审计、报表三件事做完，这是实操的延续，做完就交。&#10;&#10;第二，一道思考题：如果医院要求你们的系统对接区域健康信息平台，数据模型要做哪些改造？200 字，重点写&quot;编码标准化&quot;和&quot;患者主索引&quot;两个方向。&#10;&#10;写不出来没关系，让 AI 帮你梳理一遍，但你得自己改写，我要看到你自己的判断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作业布置&lt;/Text&gt;&#10;    &lt;Text style={{ fontSize: 16, color: '#C9D9F2' }}&gt;医院信息系统实验 · 第 10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本节课作业（两项）&lt;/Text&gt;&#10;      &lt;Text style={{ fontSize: 22, color: '#8B97A8' }}&gt;提交至课程群公告指定入口&lt;/Text&gt;&#10;    &lt;/Box&gt;&#10;&#10;    &lt;Box style={{ height: '14px' }} /&gt;&#10;&#10;    &lt;svg width={1200} height={130} viewBox='0 0 1200 130'&gt;&#10;      &lt;rect x='160' y='42' width='880' height='8' rx='4' fill='#E5E7EB' /&gt;&#10;      &lt;rect x='160' y='42' width='880' height='8' rx='4' fill='#1E4FA8' opacity='0.25' /&gt;&#10;      &lt;circle cx='230' cy='46' r='30' fill='#1E4FA8' /&gt;&#10;      &lt;text x='230' y='47' text-anchor='middle' dominant-baseline='central' font-size='24' font-weight='bold' fill='#FFFFFF'&gt;1&lt;/text&gt;&#10;      &lt;circle cx='970' cy='46' r='34' fill='#1E4FA8' /&gt;&#10;      &lt;text x='970' y='47' text-anchor='middle' dominant-baseline='central' font-size='26' font-weight='bold' fill='#FFFFFF'&gt;2&lt;/text&gt;&#10;      &lt;text x='230' y='106' text-anchor='middle' font-size='24' font-weight='bold' fill='#1A2230'&gt;实操三件套&lt;/text&gt;&#10;      &lt;text x='970' y='106' text-anchor='middle' font-size='24' font-weight='bold' fill='#0E3F8C'&gt;200 字思考题&lt;/text&gt;&#10;    &lt;/svg&gt;&#10;&#10;    &lt;Box style={{ height: '16px' }} /&gt;&#10;&#10;    &lt;Box style={{ height: '262px', flexDirection: 'row', gap: 24 }}&gt;&#10;      &lt;Box style={{ flex: 1, background: '#F7F9FC', border: '1px solid #D6DCE5', borderTop: '4px solid #1E4FA8', padding: '22px 24px', gap: 12 }}&gt;&#10;        &lt;Text style={{ fontSize: 27, color: '#1A2230', fontWeight: 'bold' }}&gt;① 导入 + 审计 + 报表完成&lt;/Text&gt;&#10;        &lt;Text style={{ fontSize: 22, color: '#4A5568', lineHeight: 1.55 }}&gt;&#10;          按课上两个演示做：&lt;span style={{ fontWeight: 'bold', color: '#1A2230' }}&gt;CSV 批量导入、操作审计日志、统计报表&lt;/span&gt;三件都要能跑通，报表要能出今日挂号量与收费金额。&#10;        &lt;/Text&gt;&#10;        &lt;Box style={{ background: '#E8EFF8', padding: '10px 14px' }}&gt;&#10;          &lt;Text style={{ fontSize: 19, color: '#1E4FA8', fontWeight: 'bold' }}&gt;验收点：发一盒药，日志里查得到&lt;/Text&gt;&#10;        &lt;/Box&gt;&#10;      &lt;/Box&gt;&#10;      &lt;Box style={{ flex: 1, background: '#E8EFF8', border: '1px solid #3D7BD9', borderTop: '4px solid #0E3F8C', padding: '22px 24px', gap: 12 }}&gt;&#10;        &lt;Text style={{ fontSize: 27, color: '#1A2230', fontWeight: 'bold' }}&gt;② 思考题：对接区域平台&lt;/Text&gt;&#10;        &lt;Text style={{ fontSize: 22, color: '#4A5568', lineHeight: 1.55 }}&gt;&#10;          若医院要求系统对接&lt;span style={{ fontWeight: 'bold', color: '#1A2230' }}&gt;区域健康信息平台&lt;/span&gt;，数据模型要做哪些改造？200 字，重点写&lt;span style={{ fontWeight: 'bold', color: '#1E4FA8' }}&gt;&quot;编码标准化&quot;&lt;/span&gt;与&lt;span style={{ fontWeight: 'bold', color: '#1E4FA8' }}&gt;&quot;患者主索引&quot;&lt;/span&gt;两个方向。&#10;        &lt;/Text&gt;&#10;        &lt;Box style={{ background: '#FFFFFF', padding: '10px 14px' }}&gt;&#10;          &lt;Text style={{ fontSize: 19, color: '#0E3F8C', fontWeight: 'bold' }}&gt;写不出来先让 AI 梳理，再自己改写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抄来的我一眼看得出：AI 帮你梳理可以，最后必须是你自己的话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本节课作业（两项）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提交至课程群公告指定入口</a:t>
            </a:r>
            <a:endParaRPr/>
          </a:p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38250"/>
          </a:xfrm>
          <a:prstGeom prst="rect">
            <a:avLst/>
          </a:prstGeom>
          <a:ln/>
        </p:spPr>
      </p:pic>
      <p:sp>
        <p:nvSpPr>
          <p:cNvPr id="130" name=""/>
          <p:cNvSpPr/>
          <p:nvPr/>
        </p:nvSpPr>
        <p:spPr>
          <a:xfrm rot="0" flipH="0" flipV="0">
            <a:off x="381000" y="2933700"/>
            <a:ext cx="5600700" cy="2581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381000" y="2895600"/>
            <a:ext cx="5600700" cy="2619375"/>
          </a:xfrm>
          <a:custGeom>
            <a:pathLst>
              <a:path w="588" h="275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导入</a:t>
            </a: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审计</a:t>
            </a: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报表完成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3571875"/>
            <a:ext cx="51435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按课上两个演示做：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CSV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批量导入、操作审计日志、统计报表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三件都要能跑通，报表要能出今日挂号量与收费金额。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4857750"/>
            <a:ext cx="5143500" cy="4095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42950" y="4953000"/>
            <a:ext cx="487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验收点：发一盒药，日志里查得到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210300" y="2933700"/>
            <a:ext cx="5600700" cy="25812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210300" y="2895600"/>
            <a:ext cx="5600700" cy="2619375"/>
          </a:xfrm>
          <a:custGeom>
            <a:pathLst>
              <a:path w="588" h="275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438900" y="3143250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思考题：对接区域平台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38900" y="3571875"/>
            <a:ext cx="51435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若医院要求系统对接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区域健康信息平台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，数据模型要做哪些改造？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200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字，重点写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编码标准化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患者主索引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两个方向。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438900" y="4857750"/>
            <a:ext cx="514350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572250" y="4953000"/>
            <a:ext cx="487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写不出来先让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梳理，再自己改写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595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抄来的我一眼看得出：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帮你梳理可以，最后必须是你自己的话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7" name="" descr="&lt;Slide&#10;  notes={`今天就到这里。&#10;&#10;回头看这三件事：诊断有了编码，药品有了字典，操作有了留痕。你们的系统已经不一样了——它开始讲医院的规矩，而不再只是一个能跑的学生作品。&#10;&#10;下一课我们往前再走一步，讲 AI 增强功能和医疗 AI 伦理。到时候你们会发现，AI 进了医院，麻烦的不只是技术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10 课 · 小结&lt;/Text&gt;&#10;      &lt;/Box&gt;&#10;      &lt;Text style={{ fontSize: 58, color: '#FFFFFF', fontWeight: 'bold', lineHeight: 1.25 }}&gt;从学生作品&lt;br /&gt;到有点医院味儿&lt;/Text&gt;&#10;    &lt;/Box&gt;&#10;&#10;    &lt;Box style={{ width: '56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11 课 AI 增强功能与医疗 AI 伦理&lt;/Text&gt;&#10;      &lt;Text style={{ fontSize: 22, color: '#8FAED8', lineHeight: 1.5 }}&gt;AI 进了医院，麻烦的不只是技术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50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1657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从学生作品</a:t>
            </a:r>
            <a:endParaRPr/>
          </a:p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到有点医院味儿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3219450"/>
            <a:ext cx="5334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3371850"/>
            <a:ext cx="533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53340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11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增强功能与医疗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伦理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5219700"/>
            <a:ext cx="5334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进了医院，麻烦的不只是技术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2026-09-07T00:25:36Z</dcterms:created>
  <dcterms:modified xsi:type="dcterms:W3CDTF">2026-09-07T00:25:36Z</dcterms:modified>
</cp:coreProperties>
</file>
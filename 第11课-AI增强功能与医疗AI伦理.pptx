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这门课叫&amp;quot;AI 智能体开发&amp;quot;，但前十周我们一直在做传统功能——这周，终于轮到 AI 自己上场了。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今天做一件事：给你们的系统加一个 AI 增强功能。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同时，我们要认真讨论一个问题：AI 在医疗场景里，能做什么、不能做什么、红线在哪。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先明确立场，这句话请记下来：AI 只能辅助，不能决策。涉及诊断、用药的任何 AI 输出，必须标注&amp;quot;仅供参考，需医生确认&amp;quot;。这不是保守，这是监管要求和伦理底线。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今天这节课分成三段走。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第一段，我们看真实的医疗 AI 产品都在做什么，然后定下你们这周要做的三个方向，三选一。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第二段，我当着你们的面把智能分诊功能做出来，然后我们花十五分钟讨论伦理边界——AI 到底应不应该直接给患者医疗建议。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第三段，你们自己动手实现加分项，有问题我现场答，最后布置作业。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先说 AI 在医疗里到底能做什么。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我不打算给你们讲概念，我直接列真实产品：智能导诊、临床决策支持、病历质控、影像辅助诊断——这些你们在医院里可能都见过。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你们边看边想一个问题：这些产品有什么共同点。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看完你会发现，答案非常一致：它们都在辅助人，没有一个是来代替人的。这个结论，就是我们今天所有工作的前提。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医疗 AI 的真实产品，你们可能都见过。我按从轻到重的顺序说四个。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第一个，智能导诊——患者挂号之前，系统推荐该挂哪个科。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第二个，临床决策支持，英文叫 CDSS——医生开药的时候，系统提醒药物相互作用。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第三个，病历质控——检查病历写得规不规范、有没有缺项。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第四个，影像辅助诊断——比如肺结节筛查，系统先把可疑位置标出来。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这四个产品，看起来差别很大，但共同点只有一个：都是辅助人，不是代替人。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回到我们的系统，你们能做什么？我给三个方向，三选一。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第一，智能分诊建议。患者输入症状描述，AI 推荐就诊科室和注意事项。这个最简单、最安全，我推荐优先做。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第二，处方合理性提醒。医生开方时，AI 检查剂量、相互作用、重复用药。这个有医学风险，做的话提示词要极其保守。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第三，挂号助手问答。患者问明天上午内科有没有号、怎么退号，AI 基于系统数据回答。本质上是自然语言查系统。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但不管选哪个，有一条红线：AI 只能辅助，不能决策。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工程上怎么做？就三件事，我一件一件说。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第一件，提示词模板。系统提示词要写死一句话：你是导诊助手，只基于给定信息回答，不知道就说不知道。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第二件，调用大语言模型的 API。用 DeepSeek 或者 GLM，就用你们第 1 周注册的 Key，这点调用量很小，几乎不花钱。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第三件，降级策略。API 超时或者失败的时候，返回兜底结果，比如默认推荐全科门诊。系统不能因为 AI 挂了就瘫了。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现在我们进入第二段，动手实现。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这一段我当着你们的面，把智能分诊功能加到系统里。你们重点看三个工程细节：提示词怎么独立管理、超时怎么兜底、输出结构怎么固定。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这三件事看起来不起眼，但它们决定了一个 AI 功能是&amp;quot;演示级&amp;quot;还是&amp;quot;生产级&amp;quot;。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记住今天这句工程口令：AI 挂了，系统不能挂。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我边写你们边看。这是我要发给 AI 的提示词。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 @backend 添加智能分诊功能：POST /api/triage，输入患者症状描述，比如&amp;quot;肚子疼、发烧&amp;quot;，调用 DeepSeek API 返回四项：建议科室、紧急程度——普通、尽快、急诊三档、注意事项、免责声明。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我提了四个要求：提示词模板独立文件管理、API 超时 10 秒、失败时返回兜底建议、输出字段固定 JSON 结构。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写完别急着用，要验证三种情况：正常输入、恶意输入——比如空字符串、还有模拟 API 超时。三种都过了，才算做完。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功能跑通了，但请注意三个工程细节，这才是重点。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第一，提示词模板独立文件管理。提示词单独放一个文件，改提示词不用改代码。提示词是要反复调的，写死在代码里，调一次改一次，很快就乱。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第二，超时兜底。超时设 10 秒，失败就返回兜底建议。AI 挂了，系统不能挂。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第三，固定输出结构。一定要让 AI 输出 JSON。它返回自由文本，你拿正则去解析，早晚翻车。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做到这三点，才叫&amp;quot;生产级 AI 功能&amp;quot;。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现在轮到你们，实操四步，做完举手。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第一步，从三个方向里选一个实现，我推荐先做智能分诊，最简单也最安全。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第二步，保证正常场景可用，用真实症状描述跑通。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第三步，界面上必须有免责声明，不能只在文档里写。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第四步，必须有降级方案。怎么验证？最简单——把 API Key 故意改错，看看系统崩不崩。崩了就说明降级没做。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完成加分项的组，第 12 课答辩加 5 分展示分。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实操就到这里。最后一段，我一次答清你们问得最多的三个问题。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AI 答非所问怎么办、调用 API 要不要钱、免责声明写了到底有没有用。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然后布置作业。作业两项：把加分项做完，再交一份《AI 功能合规自查表》。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先剧透一句关于免责声明的结论：它不能免责，但必须做。为什么，我一会儿解释。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你们问得最多的三个问题，我一起答。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第一，&amp;quot;AI 答非所问，给了不相关的科室。&amp;quot;收紧提示词：限定它只能从给定科室列表里选，再加一句兜底指令——如果无法判断，返回全科门诊。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第二，&amp;quot;调用 API 要钱吗？&amp;quot;智能分诊一次调用几分钱甚至几厘，演示用量完全可以忽略。用你们第 1 周注册的 Key，不够就充十块钱。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第三，&amp;quot;免责声明写了有用吗？&amp;quot;法律上它不能免责，但这是合规姿态和用户告知义务。产品层面必须做，别纠结它能不能免责。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最后，请把今天这句话记牢：AI 只能辅助，不能决策。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这句话落到工程上，是两条硬要求。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第一，生成式 AI 在医疗领域必须有人工复核环节。这是国内的监管趋势，涉及诊疗的 AI 输出要标注，不能一键就生效。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第二，这句话必须写进你们的界面——本建议由 AI 生成，仅供参考，请以医生诊断为准。不是写在文档里，是写在用户看得见的地方。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作业两项，下周结课验收前交。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第一项，把加分项完成。验收三条：正常场景可用、界面有免责声明、有降级方案。三条缺一条，我不算完成。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第二项，写一份《AI 功能合规自查表》，一页纸，写清五列：功能名称、输入输出、风险点、免责声明、降级方案。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这是最后一项功能。做不完的组不影响基础分，但是做完的组，下周演示的时候明显更亮眼。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你们这学期做的事，说白了就是两件：让 AI 上场，同时守住红线。让它帮你写代码、帮你做功能，但涉及诊断和用药，最终拍板的永远是人。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加分项做完的组，记得把免责声明和降级方案都准备好，下周演示我会一项一项看。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下节课是第 12 课，验收演示与课程复盘。每组 7 分钟，5 分钟演示加 2 分钟答辩，按你们第 4 课提交的功能点清单逐项核验。下课。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这门课叫&quot;AI 智能体开发&quot;，但前十周我们一直在做传统功能——这周，终于轮到 AI 自己上场了。&#10;&#10;今天做一件事：给你们的系统加一个 AI 增强功能。&#10;&#10;同时，我们要认真讨论一个问题：AI 在医疗场景里，能做什么、不能做什么、红线在哪。&#10;&#10;先明确立场，这句话请记下来：AI 只能辅助，不能决策。涉及诊断、用药的任何 AI 输出，必须标注&quot;仅供参考，需医生确认&quot;。这不是保守，这是监管要求和伦理底线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    &lt;rect x='190' y='120' width='250' height='10' rx='5' fill='#FFFFFF' opacity='0.16' /&gt;&#10;    &lt;rect x='190' y='150' width='180' height='10' rx='5' fill='#FFFFFF' opacity='0.13' /&gt;&#10;    &lt;rect x='210' y='180' width='290' height='10' rx='5' fill='#FFFFFF' opacity='0.16' /&gt;&#10;    &lt;rect x='210' y='210' width='150' height='10' rx='5' fill='#FFC107' opacity='0.45' /&gt;&#10;    &lt;rect x='210' y='240' width='240' height='10' rx='5' fill='#FFFFFF' opacity='0.13' /&gt;&#10;    &lt;rect x='190' y='270' width='200' height='10' rx='5' fill='#FFFFFF' opacity='0.16' /&gt;&#10;    &lt;rect x='190' y='330' width='270' height='10' rx='5' fill='#FFFFFF' opacity='0.13' /&gt;&#10;    &lt;rect x='210' y='360' width='160' height='10' rx='5' fill='#FFFFFF' opacity='0.16' /&gt;&#10;    &lt;rect x='210' y='390' width='300' height='10' rx='5' fill='#FFFFFF' opacity='0.13' /&gt;&#10;    &lt;rect x='210' y='420' width='130' height='10' rx='5' fill='#3D7BD9' opacity='0.7' /&gt;&#10;    &lt;rect x='190' y='450' width='220' height='10' rx='5' fill='#FFFFFF' opacity='0.16' /&gt;&#10;    &lt;rect x='190' y='510' width='170' height='10' rx='5' fill='#FFFFFF' opacity='0.13' /&gt;&#10;    &lt;rect x='210' y='540' width='280' height='10' rx='5' fill='#FFFFFF' opacity='0.16' /&gt;&#10;    &lt;rect x='190' y='570' width='200' height='10' rx='5' fill='#FFFFFF' opacity='0.13' /&gt;&#10;    &lt;circle cx='470' cy='620' r='60' fill='#1E4FA8' opacity='0.5' /&gt;&#10;    &lt;circle cx='470' cy='620' r='30' fill='#FFC107' opacity='0.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11 课&lt;/Text&gt;&#10;        &lt;/Box&gt;&#10;        &lt;Text style={{ fontSize: 22, color: '#9FBEE6' }}&gt;AI Enhancement &amp;amp; Medical Ethics&lt;/Text&gt;&#10;      &lt;/Box&gt;&#10;      &lt;Text style={{ fontSize: 62, color: '#FFFFFF', fontWeight: 'bold', lineHeight: 1.2 }}&gt;AI 增强功能与医疗 AI 伦理&lt;/Text&gt;&#10;      &lt;Text style={{ fontSize: 30, color: '#C9D9F2', lineHeight: 1.4 }}&gt;AI 只能辅助，不能决策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95525"/>
            <a:ext cx="111442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809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11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857375" y="2352675"/>
            <a:ext cx="338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AI Enhancement &amp; Medical Ethics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12014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6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增强功能与医疗</a:t>
            </a:r>
            <a:r>
              <a:rPr lang="en-US" sz="4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伦理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AI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只能辅助，不能决策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3867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7623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962400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4" name="" descr="&lt;Slide&#10;  notes={`今天这节课分成三段走。&#10;&#10;第一段，我们看真实的医疗 AI 产品都在做什么，然后定下你们这周要做的三个方向，三选一。&#10;&#10;第二段，我当着你们的面把智能分诊功能做出来，然后我们花十五分钟讨论伦理边界——AI 到底应不应该直接给患者医疗建议。&#10;&#10;第三段，你们自己动手实现加分项，有问题我现场答，最后布置作业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11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0, color: '#C9D9F2', lineHeight: 1.6 }}&gt;90 分钟&lt;/Text&gt;&#10;        &lt;Text style={{ fontSize: 20, color: '#C9D9F2', lineHeight: 1.6 }}&gt;讲授 50 · 实操 30 · 小结 10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AI 医疗应用&lt;/Text&gt;&#10;        &lt;/Box&gt;&#10;        &lt;Text style={{ fontSize: 22, color: '#4A5568', lineHeight: 1.45 }}&gt;医疗 AI 能做什么：导诊、决策支持、病历质控、影像辅助，四个真实产品找共同点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工程实现与伦理边界&lt;/Text&gt;&#10;        &lt;/Box&gt;&#10;        &lt;Text style={{ fontSize: 22, color: '#4A5568', lineHeight: 1.45 }}&gt;红线在哪：提示词、调用、降级三件事，以及免责声明为什么必须写进界面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答疑与作业&lt;/Text&gt;&#10;        &lt;/Box&gt;&#10;        &lt;Text style={{ fontSize: 22, color: '#4A5568', lineHeight: 1.45 }}&gt;现场回答答非所问、费用、免责声明三类问题，布置加分项与合规自查表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3609975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90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讲授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50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30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10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14382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医疗应用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医疗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能做什么：导诊、决策支持、病历质控、影像辅助，四个真实产品找共同点。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2400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工程实现与伦理边界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红线在哪：提示词、调用、降级三件事，以及免责声明为什么必须写进界面。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现场回答答非所问、费用、免责声明三类问题，布置加分项与合规自查表。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5" name="" descr="&lt;Slide&#10;  notes={`先说 AI 在医疗里到底能做什么。&#10;&#10;我不打算给你们讲概念，我直接列真实产品：智能导诊、临床决策支持、病历质控、影像辅助诊断——这些你们在医院里可能都见过。&#10;&#10;你们边看边想一个问题：这些产品有什么共同点。&#10;&#10;看完你会发现，答案非常一致：它们都在辅助人，没有一个是来代替人的。这个结论，就是我们今天所有工作的前提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AI IN HEALTHCARE&lt;/Text&gt;&#10;        &lt;Text style={{ fontSize: 56, color: '#1A2230', fontWeight: 'bold', lineHeight: 1.25 }}&gt;AI 医疗应用&lt;/Text&gt;&#10;        &lt;Text style={{ fontSize: 26, color: '#4A5568', lineHeight: 1.5 }}&gt;真实产品有一个共同点：都是「辅助人」，不是「代替人」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四类真实产品：导诊 · 决策支持 · 病历质控 · 影像辅助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我们的系统三选一：分诊建议 · 处方提醒 · 挂号问答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前提：涉及诊断、用药的输出必须标注仅供参考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AI IN HEALTHCARE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42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医疗应用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真实产品有一个共同点：都是「辅助人」，不是「代替人」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51530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四类真实产品：导诊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决策支持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病历质控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影像辅助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9720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我们的系统三选一：分诊建议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处方提醒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挂号问答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46005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前提：涉及诊断、用药的输出必须标注仅供参考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9" name="" descr="&lt;Slide&#10;  notes={`医疗 AI 的真实产品，你们可能都见过。我按从轻到重的顺序说四个。&#10;&#10;第一个，智能导诊——患者挂号之前，系统推荐该挂哪个科。&#10;&#10;第二个，临床决策支持，英文叫 CDSS——医生开药的时候，系统提醒药物相互作用。&#10;&#10;第三个，病历质控——检查病历写得规不规范、有没有缺项。&#10;&#10;第四个，影像辅助诊断——比如肺结节筛查，系统先把可疑位置标出来。&#10;&#10;这四个产品，看起来差别很大，但共同点只有一个：都是辅助人，不是代替人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AI 医疗应用 · 四类真实产品&lt;/Text&gt;&#10;    &lt;Text style={{ fontSize: 16, color: '#C9D9F2' }}&gt;医院信息系统实验 · 第 11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四类真实产品&lt;/Text&gt;&#10;      &lt;Text style={{ fontSize: 22, color: '#8B97A8' }}&gt;Real AI Products in Hospitals&lt;/Text&gt;&#10;    &lt;/Box&gt;&#10;&#10;    &lt;Box style={{ height: '14px' }} /&gt;&#10;&#10;    &lt;svg width={1200} height={200} viewBox='0 0 1200 200'&gt;&#10;      &lt;line x1='150' y1='100' x2='1050' y2='100' stroke='#D6DCE5' strokeWidth='3' /&gt;&#10;      &lt;line x1='150' y1='100' x2='1050' y2='100' stroke='#3D7BD9' strokeWidth='3' /&gt;&#10;      &lt;circle cx='150' cy='100' r='26' fill='#FFFFFF' stroke='#3D7BD9' strokeWidth='4' /&gt;&#10;      &lt;circle cx='450' cy='100' r='26' fill='#FFFFFF' stroke='#3D7BD9' strokeWidth='4' /&gt;&#10;      &lt;circle cx='750' cy='100' r='26' fill='#FFFFFF' stroke='#1E4FA8' strokeWidth='4' /&gt;&#10;      &lt;circle cx='1050' cy='100' r='30' fill='#1E4FA8' /&gt;&#10;      &lt;text x='150' y='101' text-anchor='middle' dominant-baseline='central' font-size='22' font-weight='bold' fill='#3D7BD9'&gt;Ⅰ&lt;/text&gt;&#10;      &lt;text x='450' y='101' text-anchor='middle' dominant-baseline='central' font-size='22' font-weight='bold' fill='#3D7BD9'&gt;Ⅱ&lt;/text&gt;&#10;      &lt;text x='750' y='101' text-anchor='middle' dominant-baseline='central' font-size='22' font-weight='bold' fill='#1E4FA8'&gt;Ⅲ&lt;/text&gt;&#10;      &lt;text x='1050' y='101' text-anchor='middle' dominant-baseline='central' font-size='24' font-weight='bold' fill='#FFFFFF'&gt;Ⅳ&lt;/text&gt;&#10;      &lt;text x='150' y='52' text-anchor='middle' font-size='30' font-weight='bold' fill='#1A2230'&gt;智能导诊&lt;/text&gt;&#10;      &lt;text x='450' y='52' text-anchor='middle' font-size='30' font-weight='bold' fill='#1A2230'&gt;临床决策支持&lt;/text&gt;&#10;      &lt;text x='750' y='52' text-anchor='middle' font-size='30' font-weight='bold' fill='#1A2230'&gt;病历质控&lt;/text&gt;&#10;      &lt;text x='1050' y='52' text-anchor='middle' font-size='30' font-weight='bold' fill='#0E3F8C'&gt;影像辅助诊断&lt;/text&gt;&#10;      &lt;text x='150' y='164' text-anchor='middle' font-size='20' fill='#8B97A8'&gt;挂号前推荐科室&lt;/text&gt;&#10;      &lt;text x='450' y='164' text-anchor='middle' font-size='20' fill='#8B97A8'&gt;开药时提醒相互作用&lt;/text&gt;&#10;      &lt;text x='750' y='164' text-anchor='middle' font-size='20' fill='#8B97A8'&gt;检查病历书写规范&lt;/text&gt;&#10;      &lt;text x='1050' y='164' text-anchor='middle' font-size='20' fill='#1E4FA8'&gt;肺结节筛查&lt;/text&gt;&#10;    &lt;/svg&gt;&#10;&#10;    &lt;Box style={{ height: '18px' }} /&gt;&#10;&#10;    &lt;Box style={{ height: '196px', flexDirection: 'row', gap: 20 }}&gt;&#10;      &lt;Box style={{ flex: 1, background: '#F7F9FC', border: '1px solid #D6DCE5', borderTop: '4px solid #3D7BD9', padding: '18px 18px', gap: 8 }}&gt;&#10;        &lt;Text style={{ fontSize: 23, color: '#1A2230', fontWeight: 'bold' }}&gt;辅助患者选科室&lt;/Text&gt;&#10;        &lt;Text style={{ fontSize: 20, color: '#4A5568', lineHeight: 1.45 }}&gt;推荐归推荐，最终挂哪个科由患者和分诊台定。&lt;/Text&gt;&#10;      &lt;/Box&gt;&#10;      &lt;Box style={{ flex: 1, background: '#F7F9FC', border: '1px solid #D6DCE5', borderTop: '4px solid #3D7BD9', padding: '18px 18px', gap: 8 }}&gt;&#10;        &lt;Text style={{ fontSize: 23, color: '#1A2230', fontWeight: 'bold' }}&gt;辅助医生开药&lt;/Text&gt;&#10;        &lt;Text style={{ fontSize: 20, color: '#4A5568', lineHeight: 1.45 }}&gt;提醒是提醒，处方怎么开仍然是医生签字负责。&lt;/Text&gt;&#10;      &lt;/Box&gt;&#10;      &lt;Box style={{ flex: 1, background: '#F7F9FC', border: '1px solid #D6DCE5', borderTop: '4px solid #1E4FA8', padding: '18px 18px', gap: 8 }}&gt;&#10;        &lt;Text style={{ fontSize: 23, color: '#1A2230', fontWeight: 'bold' }}&gt;辅助规范书写&lt;/Text&gt;&#10;        &lt;Text style={{ fontSize: 20, color: '#4A5568', lineHeight: 1.45 }}&gt;缺项早发现，病历内容和责任仍是书写医师的。&lt;/Text&gt;&#10;      &lt;/Box&gt;&#10;      &lt;Box style={{ flex: 1, background: '#E8EFF8', border: '1px solid #3D7BD9', borderTop: '4px solid #0E3F8C', padding: '18px 18px', gap: 8 }}&gt;&#10;        &lt;Text style={{ fontSize: 23, color: '#1A2230', fontWeight: 'bold' }}&gt;辅助医生阅片&lt;/Text&gt;&#10;        &lt;Text style={{ fontSize: 20, color: '#4A5568', lineHeight: 1.45 }}&gt;先标可疑位置，诊断结论由影像科医生出具。&lt;/Text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共同点：都是「辅助人」，不是「代替人」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医疗应用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四类真实产品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四类真实产品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2876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Real AI Products in Hospitals</a:t>
            </a:r>
            <a:endParaRPr/>
          </a:p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905000"/>
          </a:xfrm>
          <a:prstGeom prst="rect">
            <a:avLst/>
          </a:prstGeom>
          <a:ln/>
        </p:spPr>
      </p:pic>
      <p:sp>
        <p:nvSpPr>
          <p:cNvPr id="228" name=""/>
          <p:cNvSpPr/>
          <p:nvPr/>
        </p:nvSpPr>
        <p:spPr>
          <a:xfrm rot="0" flipH="0" flipV="0">
            <a:off x="381000" y="3619500"/>
            <a:ext cx="2714625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381000" y="35814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52450" y="37909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辅助患者选科室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52450" y="4133850"/>
            <a:ext cx="2371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推荐归推荐，最终挂哪个科由患者和分诊台定。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3286125" y="3619500"/>
            <a:ext cx="2714625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3286125" y="35814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457575" y="37909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辅助医生开药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457575" y="4133850"/>
            <a:ext cx="2371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提醒是提醒，处方怎么开仍然是医生签字负责。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191250" y="3619500"/>
            <a:ext cx="2714625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191250" y="35814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362700" y="37909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辅助规范书写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362700" y="4133850"/>
            <a:ext cx="2371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缺项早发现，病历内容和责任仍是书写医师的。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9096375" y="3619500"/>
            <a:ext cx="2714625" cy="18669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9096375" y="3581400"/>
            <a:ext cx="2714625" cy="1905000"/>
          </a:xfrm>
          <a:custGeom>
            <a:pathLst>
              <a:path w="285" h="200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267825" y="37909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辅助医生阅片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267825" y="4133850"/>
            <a:ext cx="2371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先标可疑位置，诊断结论由影像科医生出具。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81000" y="55626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571500" y="57245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42950" y="5629275"/>
            <a:ext cx="3800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共同点：都是「辅助人」，不是「代替人」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49" name="" descr="&lt;Slide&#10;  notes={`回到我们的系统，你们能做什么？我给三个方向，三选一。&#10;&#10;第一，智能分诊建议。患者输入症状描述，AI 推荐就诊科室和注意事项。这个最简单、最安全，我推荐优先做。&#10;&#10;第二，处方合理性提醒。医生开方时，AI 检查剂量、相互作用、重复用药。这个有医学风险，做的话提示词要极其保守。&#10;&#10;第三，挂号助手问答。患者问明天上午内科有没有号、怎么退号，AI 基于系统数据回答。本质上是自然语言查系统。&#10;&#10;但不管选哪个，有一条红线：AI 只能辅助，不能决策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AI 医疗应用 · 三个方向三选一&lt;/Text&gt;&#10;    &lt;Text style={{ fontSize: 16, color: '#C9D9F2' }}&gt;医院信息系统实验 · 第 11 课&lt;/Text&gt;&#10;  &lt;/Box&gt;&#10;&#10;  &lt;Box style={{ width: '1280px', height: '552px', flexDirection: 'row', padding: '24px 40px 0px 40px', gap: 30 }}&gt;&#10;    &lt;Box style={{ width: '760px', height: '528px', background: '#F7F9FC', border: '1px solid #D6DCE5', padding: '26px 26px', justifyContent: 'space-between' }}&gt;&#10;      &lt;Box style={{ flexDirection: 'row', alignItems: 'center', gap: 14, height: '44px' }}&gt;&#10;        &lt;Box style={{ width: 44, height: 44, background: '#1E4FA8', alignItems: 'center', justifyContent: 'center' }}&gt;&#10;          &lt;Text style={{ fontSize: 22, color: '#FFFFFF', fontWeight: 'bold' }}&gt;选&lt;/Text&gt;&#10;        &lt;/Box&gt;&#10;        &lt;Text style={{ fontSize: 32, color: '#1A2230', fontWeight: 'bold' }}&gt;三个方向，三选一&lt;/Text&gt;&#10;      &lt;/Box&gt;&#10;&#10;      &lt;Box style={{ gap: 12 }}&gt;&#10;        &lt;Box style={{ background: '#FFFFFF', border: '1px solid #D6DCE5', borderLeft: '5px solid #1E4FA8', padding: '16px 20px', gap: 6 }}&gt;&#10;          &lt;Text style={{ fontSize: 24, color: '#1A2230', fontWeight: 'bold' }}&gt;① 智能分诊建议&lt;/Text&gt;&#10;          &lt;Text style={{ fontSize: 20, color: '#4A5568', lineHeight: 1.45 }}&gt;患者输入症状描述，AI 推荐就诊科室 + 注意事项。最简单、最安全，&lt;span style={{ fontWeight: 'bold', color: '#1E4FA8' }}&gt;推荐优先做&lt;/span&gt;。&lt;/Text&gt;&#10;        &lt;/Box&gt;&#10;        &lt;Box style={{ background: '#FFFFFF', border: '1px solid #D6DCE5', borderLeft: '5px solid #D9534F', padding: '16px 20px', gap: 6 }}&gt;&#10;          &lt;Text style={{ fontSize: 24, color: '#1A2230', fontWeight: 'bold' }}&gt;② 处方合理性提醒&lt;/Text&gt;&#10;          &lt;Text style={{ fontSize: 20, color: '#4A5568', lineHeight: 1.45 }}&gt;医生开方时，AI 检查剂量、相互作用、重复用药并给出提醒。有医学风险，&lt;span style={{ fontWeight: 'bold', color: '#D9534F' }}&gt;提示词要极其保守&lt;/span&gt;。&lt;/Text&gt;&#10;        &lt;/Box&gt;&#10;        &lt;Box style={{ background: '#FFFFFF', border: '1px solid #D6DCE5', borderLeft: '5px solid #3D7BD9', padding: '16px 20px', gap: 6 }}&gt;&#10;          &lt;Text style={{ fontSize: 24, color: '#1A2230', fontWeight: 'bold' }}&gt;③ 挂号助手问答&lt;/Text&gt;&#10;          &lt;Text style={{ fontSize: 20, color: '#4A5568', lineHeight: 1.45 }}&gt;患者问&quot;明天上午内科有号吗&quot;&quot;怎么退号&quot;，AI 基于系统数据回答。本质是&lt;span style={{ fontWeight: 'bold', color: '#1A2230' }}&gt;自然语言查系统&lt;/span&gt;。&lt;/Text&gt;&#10;        &lt;/Box&gt;&#10;      &lt;/Box&gt;&#10;    &lt;/Box&gt;&#10;&#10;    &lt;Box style={{ width: '410px', height: '528px', background: '#FFFFFF', border: '2px solid #D9534F', padding: '26px 26px', justifyContent: 'space-between' }}&gt;&#10;      &lt;Box style={{ gap: 12 }}&gt;&#10;        &lt;Text style={{ fontSize: 17, color: '#D9534F', letterSpacing: 2 }}&gt;RED LINE · 红线&lt;/Text&gt;&#10;        &lt;Box style={{ background: '#D9534F', padding: '14px 16px', alignItems: 'center' }}&gt;&#10;          &lt;Text style={{ fontSize: 24, color: '#FFFFFF', fontWeight: 'bold' }}&gt;AI 只能辅助，不能决策&lt;/Text&gt;&#10;        &lt;/Box&gt;&#10;      &lt;/Box&gt;&#10;&#10;      &lt;Box style={{ gap: 10 }}&gt;&#10;        &lt;Text style={{ fontSize: 22, color: '#1A2230', lineHeight: 1.5 }}&gt;&#10;          涉及&lt;span style={{ fontWeight: 'bold', color: '#D9534F' }}&gt;诊断、用药&lt;/span&gt;的任何 AI 输出，必须标注&quot;仅供参考，需医生确认&quot;。&#10;        &lt;/Text&gt;&#10;        &lt;Box style={{ height: 1, background: '#D6DCE5' }} /&gt;&#10;        &lt;Text style={{ fontSize: 20, color: '#4A5568', lineHeight: 1.5 }}&gt;&#10;          这不是保守，这是监管要求和伦理底线。在这个前提下，AI 依然能做很多有价值的事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医疗应用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三个方向三选一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81000" y="914400"/>
            <a:ext cx="7239000" cy="5029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28650" y="116205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33425" y="12477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选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81100" y="1190625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三个方向，三选一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76275" y="1581150"/>
            <a:ext cx="6743700" cy="1304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28650" y="1581150"/>
            <a:ext cx="6791325" cy="1304925"/>
          </a:xfrm>
          <a:custGeom>
            <a:pathLst>
              <a:path w="713" h="137">
                <a:moveTo>
                  <a:pt x="0" y="0"/>
                </a:moveTo>
                <a:lnTo>
                  <a:pt x="5" y="0"/>
                </a:lnTo>
                <a:lnTo>
                  <a:pt x="5" y="137"/>
                </a:lnTo>
                <a:lnTo>
                  <a:pt x="0" y="137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66775" y="1733550"/>
            <a:ext cx="63150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智能分诊建议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66775" y="2066925"/>
            <a:ext cx="6315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患者输入症状描述，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推荐就诊科室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注意事项。最简单、最安全，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推荐优先做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76275" y="3000375"/>
            <a:ext cx="6743700" cy="1304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28650" y="3000375"/>
            <a:ext cx="6791325" cy="1304925"/>
          </a:xfrm>
          <a:custGeom>
            <a:pathLst>
              <a:path w="713" h="137">
                <a:moveTo>
                  <a:pt x="0" y="0"/>
                </a:moveTo>
                <a:lnTo>
                  <a:pt x="5" y="0"/>
                </a:lnTo>
                <a:lnTo>
                  <a:pt x="5" y="137"/>
                </a:lnTo>
                <a:lnTo>
                  <a:pt x="0" y="137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66775" y="3152775"/>
            <a:ext cx="63150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处方合理性提醒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66775" y="3486150"/>
            <a:ext cx="6315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医生开方时，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检查剂量、相互作用、重复用药并给出提醒。有医学风险，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提示词要极其保守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76275" y="4419600"/>
            <a:ext cx="6743700" cy="1304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28650" y="4419600"/>
            <a:ext cx="6791325" cy="1304925"/>
          </a:xfrm>
          <a:custGeom>
            <a:pathLst>
              <a:path w="713" h="137">
                <a:moveTo>
                  <a:pt x="0" y="0"/>
                </a:moveTo>
                <a:lnTo>
                  <a:pt x="5" y="0"/>
                </a:lnTo>
                <a:lnTo>
                  <a:pt x="5" y="137"/>
                </a:lnTo>
                <a:lnTo>
                  <a:pt x="0" y="137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66775" y="4572000"/>
            <a:ext cx="63150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挂号助手问答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66775" y="4905375"/>
            <a:ext cx="6315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患者问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明天上午内科有号吗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怎么退号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基于系统数据回答。本质是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自然语言查系统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905750" y="914400"/>
            <a:ext cx="390525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153400" y="116205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D9534F"/>
                </a:solidFill>
                <a:latin typeface="Microsoft YaHei"/>
                <a:ea typeface="Microsoft YaHei"/>
              </a:rPr>
              <a:t>RED LINE · </a:t>
            </a:r>
            <a:r>
              <a:rPr lang="zh-CN" sz="1275" spc="150">
                <a:solidFill>
                  <a:srgbClr val="D9534F"/>
                </a:solidFill>
                <a:latin typeface="Microsoft YaHei"/>
                <a:ea typeface="Microsoft YaHei"/>
              </a:rPr>
              <a:t>红线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8153400" y="1476375"/>
            <a:ext cx="3409950" cy="542925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667750" y="1609725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只能辅助，不能决策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153400" y="3705225"/>
            <a:ext cx="34099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涉及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诊断、用药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的任何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输出，必须标注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仅供参考，需医生确认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8153400" y="4562475"/>
            <a:ext cx="34099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153400" y="4667250"/>
            <a:ext cx="34099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这不是保守，这是监管要求和伦理底线。在这个前提下，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依然能做很多有价值的事。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9" name="" descr="&lt;Slide&#10;  notes={`工程上怎么做？就三件事，我一件一件说。&#10;&#10;第一件，提示词模板。系统提示词要写死一句话：你是导诊助手，只基于给定信息回答，不知道就说不知道。&#10;&#10;第二件，调用大语言模型的 API。用 DeepSeek 或者 GLM，就用你们第 1 周注册的 Key，这点调用量很小，几乎不花钱。&#10;&#10;第三件，降级策略。API 超时或者失败的时候，返回兜底结果，比如默认推荐全科门诊。系统不能因为 AI 挂了就瘫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AI 医疗应用 · 工程三件事&lt;/Text&gt;&#10;    &lt;Text style={{ fontSize: 16, color: '#C9D9F2' }}&gt;医院信息系统实验 · 第 11 课&lt;/Text&gt;&#10;  &lt;/Box&gt;&#10;&#10;  &lt;Box style={{ width: '1280px', height: '552px', padding: '24px 40px 0px 40px' }}&gt;&#10;    &lt;Box style={{ height: '470px', flexDirection: 'row', gap: 24 }}&gt;&#10;      &lt;Box style={{ flex: 1, background: '#FFFFFF', border: '1px solid #D6DCE5', borderTop: '6px solid #1E4FA8', padding: '24px 22px', justifyContent: 'space-between' }}&gt;&#10;        &lt;Box style={{ gap: 12 }}&gt;&#10;          &lt;Text style={{ fontSize: 48, color: '#1E4FA8', fontWeight: 'bold', lineHeight: 1 }}&gt;01&lt;/Text&gt;&#10;          &lt;svg width={64} height={64} viewBox='0 0 64 64'&gt;&#10;            &lt;rect x='10' y='8' width='38' height='48' rx='4' fill='#E8EFF8' stroke='#1E4FA8' strokeWidth='3' /&gt;&#10;            &lt;rect x='18' y='20' width='22' height='4' rx='2' fill='#1E4FA8' /&gt;&#10;            &lt;rect x='18' y='30' width='22' height='4' rx='2' fill='#1E4FA8' /&gt;&#10;            &lt;rect x='18' y='40' width='14' height='4' rx='2' fill='#3D7BD9' /&gt;&#10;            &lt;path d='M44 40 L58 54 L52 56 L38 46 Z' fill='#FFC107' stroke='#1E4FA8' strokeWidth='2' /&gt;&#10;          &lt;/svg&gt;&#10;          &lt;Text style={{ fontSize: 27, color: '#1A2230', fontWeight: 'bold', lineHeight: 1.3 }}&gt;提示词模板&lt;/Text&gt;&#10;          &lt;Text style={{ fontSize: 21, color: '#4A5568', lineHeight: 1.5 }}&gt;&#10;            系统提示词写死一句：&lt;span style={{ fontWeight: 'bold', color: '#1E4FA8' }}&gt;&quot;你是导诊助手，只基于给定信息回答，不知道就说不知道。&quot;&lt;/span&gt;&#10;          &lt;/Text&gt;&#10;        &lt;/Box&gt;&#10;        &lt;Box style={{ background: '#E8EFF8', padding: '10px 14px' }}&gt;&#10;          &lt;Text style={{ fontSize: 20, color: '#1E4FA8', fontWeight: 'bold' }}&gt;→ 管住它别乱说&lt;/Text&gt;&#10;        &lt;/Box&gt;&#10;      &lt;/Box&gt;&#10;&#10;      &lt;Box style={{ flex: 1, background: '#FFFFFF', border: '1px solid #D6DCE5', borderTop: '6px solid #3D7BD9', padding: '24px 22px', justifyContent: 'space-between' }}&gt;&#10;        &lt;Box style={{ gap: 12 }}&gt;&#10;          &lt;Text style={{ fontSize: 48, color: '#3D7BD9', fontWeight: 'bold', lineHeight: 1 }}&gt;02&lt;/Text&gt;&#10;          &lt;svg width={64} height={64} viewBox='0 0 64 64'&gt;&#10;            &lt;path d='M18 44 a10 10 0 0 1 0 -20 a14 14 0 0 1 27 -3 a9 9 0 0 1 1 23 Z' fill='#E8EFF8' stroke='#3D7BD9' strokeWidth='3' /&gt;&#10;            &lt;path d='M28 36 l8 -8 M36 28 l-5 -1 M36 28 l-1 5' fill='none' stroke='#1E4FA8' strokeWidth='3' strokeLinecap='round' /&gt;&#10;            &lt;circle cx='32' cy='54' r='5' fill='#FFC107' /&gt;&#10;          &lt;/svg&gt;&#10;          &lt;Text style={{ fontSize: 27, color: '#1A2230', fontWeight: 'bold', lineHeight: 1.3 }}&gt;调用 LLM API&lt;/Text&gt;&#10;          &lt;Text style={{ fontSize: 21, color: '#4A5568', lineHeight: 1.5 }}&gt;&#10;            用 &lt;span style={{ fontWeight: 'bold', color: '#1A2230' }}&gt;DeepSeek / GLM&lt;/span&gt;，直接用第 1 周注册的 Key，这点量很小，几乎不花钱。&#10;          &lt;/Text&gt;&#10;        &lt;/Box&gt;&#10;        &lt;Box style={{ background: '#E8EFF8', padding: '10px 14px' }}&gt;&#10;          &lt;Text style={{ fontSize: 20, color: '#1E4FA8', fontWeight: 'bold' }}&gt;→ 一次调用几分钱&lt;/Text&gt;&#10;        &lt;/Box&gt;&#10;      &lt;/Box&gt;&#10;&#10;      &lt;Box style={{ flex: 1, background: '#FFFFFF', border: '1px solid #D6DCE5', borderTop: '6px solid #FFC107', padding: '24px 22px', justifyContent: 'space-between' }}&gt;&#10;        &lt;Box style={{ gap: 12 }}&gt;&#10;          &lt;Text style={{ fontSize: 48, color: '#FFC107', fontWeight: 'bold', lineHeight: 1 }}&gt;03&lt;/Text&gt;&#10;          &lt;svg width={64} height={64} viewBox='0 0 64 64'&gt;&#10;            &lt;path d='M32 6 L56 14 v20 c0 14 -10 21 -24 26 c-14 -5 -24 -12 -24 -26 V14 Z' fill='#FFF8E1' stroke='#FFC107' strokeWidth='3' /&gt;&#10;            &lt;path d='M22 32 l7 8 l14 -16' fill='none' stroke='#1E4FA8' strokeWidth='4' strokeLinecap='round' /&gt;&#10;            &lt;rect x='14' y='58' width='36' height='4' rx='2' fill='#D6DCE5' /&gt;&#10;          &lt;/svg&gt;&#10;          &lt;Text style={{ fontSize: 27, color: '#1A2230', fontWeight: 'bold', lineHeight: 1.3 }}&gt;降级策略&lt;/Text&gt;&#10;          &lt;Text style={{ fontSize: 21, color: '#4A5568', lineHeight: 1.5 }}&gt;&#10;            API 超时或失败时返回兜底结果，比如默认推荐&lt;span style={{ fontWeight: 'bold', color: '#1A2230' }}&gt;&quot;全科门诊&quot;&lt;/span&gt;——AI 挂了，系统不能挂。&#10;          &lt;/Text&gt;&#10;        &lt;/Box&gt;&#10;        &lt;Box style={{ background: '#FFF8E1', padding: '10px 14px' }}&gt;&#10;          &lt;Text style={{ fontSize: 20, color: '#B7860B', fontWeight: 'bold' }}&gt;→ 兜底永远有答案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三件事合起来就是一句话：AI 挂了，系统不能挂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医疗应用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工程三件事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810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3810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66900"/>
            <a:ext cx="609600" cy="609600"/>
          </a:xfrm>
          <a:prstGeom prst="rect">
            <a:avLst/>
          </a:prstGeom>
          <a:ln/>
        </p:spPr>
      </p:pic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905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提示词模板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905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系统提示词写死一句：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你是导诊助手，只基于给定信息回答，不知道就说不知道。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905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239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管住它别乱说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2672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42672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4767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66900"/>
            <a:ext cx="609600" cy="60960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调用</a:t>
            </a: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 LLM API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4767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DeepSeek / GLM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，直接用第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周注册的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Key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，这点量很小，几乎不花钱。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4767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6101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一次调用几分钱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534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81534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629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C10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66900"/>
            <a:ext cx="609600" cy="6096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3629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降级策略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629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API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超时或失败时返回兜底结果，比如默认推荐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全科门诊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——AI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挂了，系统不能挂。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362950" y="4743450"/>
            <a:ext cx="3238500" cy="4191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4963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B7860B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兜底永远有答案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448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三件事合起来就是一句话：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挂了，系统不能挂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3" name="" descr="&lt;Slide&#10;  notes={`现在我们进入第二段，动手实现。&#10;&#10;这一段我当着你们的面，把智能分诊功能加到系统里。你们重点看三个工程细节：提示词怎么独立管理、超时怎么兜底、输出结构怎么固定。&#10;&#10;这三件事看起来不起眼，但它们决定了一个 AI 功能是&quot;演示级&quot;还是&quot;生产级&quot;。&#10;&#10;记住今天这句工程口令：AI 挂了，系统不能挂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ENGINEERING &amp;amp; ETHICS&lt;/Text&gt;&#10;        &lt;Text style={{ fontSize: 56, color: '#1A2230', fontWeight: 'bold', lineHeight: 1.25 }}&gt;工程实现与伦理边界&lt;/Text&gt;&#10;        &lt;Text style={{ fontSize: 26, color: '#4A5568', lineHeight: 1.5 }}&gt;AI 挂了，系统不能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现场演示：POST /api/triage 智能分诊功能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三个工程细节：提示词独立管理 · 超时兜底 · 固定输出结构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伦理底线：免责声明必须写进界面，不能只在文档里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ENGINEERING &amp; ETHICS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工程实现与伦理边界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挂了，系统不能挂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42291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现场演示：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POST /api/triage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智能分诊功能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56292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三个工程细节：提示词独立管理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超时兜底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固定输出结构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50387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伦理底线：免责声明必须写进界面，不能只在文档里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27" name="" descr="&lt;Slide&#10;  notes={`我边写你们边看。这是我要发给 AI 的提示词。&#10;&#10;为 @backend 添加智能分诊功能：POST /api/triage，输入患者症状描述，比如&quot;肚子疼、发烧&quot;，调用 DeepSeek API 返回四项：建议科室、紧急程度——普通、尽快、急诊三档、注意事项、免责声明。&#10;&#10;我提了四个要求：提示词模板独立文件管理、API 超时 10 秒、失败时返回兜底建议、输出字段固定 JSON 结构。&#10;&#10;写完别急着用，要验证三种情况：正常输入、恶意输入——比如空字符串、还有模拟 API 超时。三种都过了，才算做完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工程实现 · 演示：智能分诊提示词&lt;/Text&gt;&#10;    &lt;Text style={{ fontSize: 16, color: '#C9D9F2' }}&gt;医院信息系统实验 · 第 11 课&lt;/Text&gt;&#10;  &lt;/Box&gt;&#10;&#10;  &lt;Box style={{ width: '1280px', height: '552px', flexDirection: 'row', padding: '24px 40px 0px 40px', gap: 30 }}&gt;&#10;    &lt;Box style={{ width: '360px', height: '528px', background: '#0E3F8C', padding: '30px 28px', justifyContent: 'space-between' }}&gt;&#10;      &lt;Box style={{ gap: 14 }}&gt;&#10;        &lt;Text style={{ fontSize: 17, color: '#7FA3D6', letterSpacing: 2 }}&gt;LIVE DEMO&lt;/Text&gt;&#10;        &lt;Text style={{ fontSize: 44, color: '#FFFFFF', fontWeight: 'bold', lineHeight: 1.2 }}&gt;智能分诊&lt;br /&gt;提示词&lt;/Text&gt;&#10;        &lt;Box style={{ width: 80, height: 5, background: '#FFC107' }} /&gt;&#10;      &lt;/Box&gt;&#10;      &lt;Text style={{ fontSize: 22, color: '#C9D9F2', lineHeight: 1.6 }}&gt;&#10;        输入患者症状描述，返回建议科室、紧急程度（普通 / 尽快 / 急诊）、注意事项与免责声明。&#10;      &lt;/Text&gt;&#10;      &lt;Box style={{ gap: 8 }}&gt;&#10;        &lt;Box style={{ height: 1, background: '#3D7BD9' }} /&gt;&#10;        &lt;Text style={{ fontSize: 20, color: '#8FAED8' }}&gt;接口：POST /api/triage&lt;/Text&gt;&#10;        &lt;Text style={{ fontSize: 20, color: '#8FAED8' }}&gt;模型：DeepSeek / GLM&lt;/Text&gt;&#10;      &lt;/Box&gt;&#10;    &lt;/Box&gt;&#10;&#10;    &lt;Box style={{ width: '810px', height: '528px' }}&gt;&#10;      &lt;Box style={{ height: '286px', background: '#F7F9FC', border: '1px solid #D6DCE5', padding: '14px 16px' }}&gt;&#10;        &lt;CodeBlock&#10;          code={`POST /api/triage&#10;Content-Type: application/json&#10;&#10;{ &quot;symptoms&quot;: &quot;肚子疼、发烧&quot; }&#10;&#10;→ 200 OK&#10;{ &quot;dept&quot;: &quot;消化内科&quot;,&#10;  &quot;urgency&quot;: &quot;普通 | 尽快 | 急诊&quot;,&#10;  &quot;notes&quot;: &quot;建议空腹就诊，不要自行服药&quot;,&#10;  &quot;disclaimer&quot;: &quot;本建议由 AI 生成，仅供参考，请以医生诊断为准&quot; }`}&#10;          language='http'&#10;          width={778}&#10;          fontSize={14}&#10;          theme='github-light'&#10;          background='#FFFFFF'&#10;        /&gt;&#10;      &lt;/Box&gt;&#10;&#10;      &lt;Box style={{ height: '14px' }} /&gt;&#10;&#10;      &lt;Box style={{ height: '56px', flexDirection: 'row', gap: 10 }}&gt;&#10;        &lt;Box style={{ flex: 1, background: '#E8EFF8', border: '1px solid #D6DCE5', padding: '8px 10px', alignItems: 'center', justifyContent: 'center' }}&gt;&#10;          &lt;Text style={{ fontSize: 18, color: '#1E4FA8', lineHeight: 1.3 }}&gt;提示词模板独立文件管理&lt;/Text&gt;&#10;        &lt;/Box&gt;&#10;        &lt;Box style={{ flex: 1, background: '#E8EFF8', border: '1px solid #D6DCE5', padding: '8px 10px', alignItems: 'center', justifyContent: 'center' }}&gt;&#10;          &lt;Text style={{ fontSize: 18, color: '#1E4FA8', lineHeight: 1.3 }}&gt;API 超时 10 秒&lt;/Text&gt;&#10;        &lt;/Box&gt;&#10;        &lt;Box style={{ flex: 1, background: '#E8EFF8', border: '1px solid #D6DCE5', padding: '8px 10px', alignItems: 'center', justifyContent: 'center' }}&gt;&#10;          &lt;Text style={{ fontSize: 18, color: '#1E4FA8', lineHeight: 1.3 }}&gt;失败时返回兜底建议&lt;/Text&gt;&#10;        &lt;/Box&gt;&#10;        &lt;Box style={{ flex: 1, background: '#E8EFF8', border: '1px solid #D6DCE5', padding: '8px 10px', alignItems: 'center', justifyContent: 'center' }}&gt;&#10;          &lt;Text style={{ fontSize: 18, color: '#1E4FA8', lineHeight: 1.3 }}&gt;输出字段固定 JSON 结构&lt;/Text&gt;&#10;        &lt;/Box&gt;&#10;      &lt;/Box&gt;&#10;&#10;      &lt;Box style={{ height: '14px' }} /&gt;&#10;&#10;      &lt;Box style={{ height: '158px', flexDirection: 'row', gap: 14 }}&gt;&#10;        &lt;Box style={{ flex: 1, background: '#FFFFFF', border: '1px solid #D6DCE5', borderTop: '4px solid #1E4FA8', padding: '14px 16px', gap: 6 }}&gt;&#10;          &lt;Text style={{ fontSize: 21, color: '#1A2230', fontWeight: 'bold' }}&gt;① 正常输入&lt;/Text&gt;&#10;          &lt;Text style={{ fontSize: 19, color: '#4A5568', lineHeight: 1.45 }}&gt;&quot;肚子疼、发烧&quot; → 给出科室、紧急程度与注意事项。&lt;/Text&gt;&#10;        &lt;/Box&gt;&#10;        &lt;Box style={{ flex: 1, background: '#FFFFFF', border: '1px solid #D6DCE5', borderTop: '4px solid #D9534F', padding: '14px 16px', gap: 6 }}&gt;&#10;          &lt;Text style={{ fontSize: 21, color: '#1A2230', fontWeight: 'bold' }}&gt;② 恶意输入&lt;/Text&gt;&#10;          &lt;Text style={{ fontSize: 19, color: '#4A5568', lineHeight: 1.45 }}&gt;空字符串或乱码 → 不报错、不崩，返回兜底结果。&lt;/Text&gt;&#10;        &lt;/Box&gt;&#10;        &lt;Box style={{ flex: 1, background: '#FFFFFF', border: '1px solid #D6DCE5', borderTop: '4px solid #FFC107', padding: '14px 16px', gap: 6 }}&gt;&#10;          &lt;Text style={{ fontSize: 21, color: '#1A2230', fontWeight: 'bold' }}&gt;③ 模拟 API 超时&lt;/Text&gt;&#10;          &lt;Text style={{ fontSize: 19, color: '#4A5568', lineHeight: 1.45 }}&gt;超过 10 秒 → 走降级，默认推荐全科门诊。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工程实现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演示：智能分诊提示词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LIVE DEMO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智能分诊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47700" y="28765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47700" y="3181350"/>
            <a:ext cx="2895600" cy="1609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输入患者症状描述，返回建议科室、紧急程度（普通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尽快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急诊）、注意事项与免责声明。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47700" y="503872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47700" y="512445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接口：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POST /api/triage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47700" y="542925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模型：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DeepSeek / GLM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095750" y="914400"/>
            <a:ext cx="7715250" cy="2724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4095750" y="3771900"/>
            <a:ext cx="1857375" cy="695325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191000" y="3848100"/>
            <a:ext cx="1666875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提示词模板独立文件管理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48375" y="3771900"/>
            <a:ext cx="1857375" cy="5334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400800" y="3905250"/>
            <a:ext cx="11525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API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超时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10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001000" y="3771900"/>
            <a:ext cx="1857375" cy="5334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162925" y="3905250"/>
            <a:ext cx="15430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失败时返回兜底建议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9953625" y="3771900"/>
            <a:ext cx="1857375" cy="695325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048875" y="3848100"/>
            <a:ext cx="1666875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输出字段固定</a:t>
            </a:r>
            <a:r>
              <a:rPr lang="en-US" sz="1350">
                <a:solidFill>
                  <a:srgbClr val="1E4FA8"/>
                </a:solidFill>
                <a:latin typeface="Microsoft YaHei"/>
                <a:ea typeface="Microsoft YaHei"/>
              </a:rPr>
              <a:t> JSON </a:t>
            </a: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结构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095750" y="4476750"/>
            <a:ext cx="2486025" cy="1504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4095750" y="4438650"/>
            <a:ext cx="2486025" cy="1543050"/>
          </a:xfrm>
          <a:custGeom>
            <a:pathLst>
              <a:path w="261" h="162">
                <a:moveTo>
                  <a:pt x="0" y="0"/>
                </a:moveTo>
                <a:lnTo>
                  <a:pt x="261" y="0"/>
                </a:lnTo>
                <a:lnTo>
                  <a:pt x="261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248150" y="4610100"/>
            <a:ext cx="2181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正常输入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248150" y="4914900"/>
            <a:ext cx="21812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肚子疼、发烧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 →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给出科室、紧急程度与注意事项。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715125" y="4476750"/>
            <a:ext cx="2476500" cy="1504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715125" y="4438650"/>
            <a:ext cx="2476500" cy="1543050"/>
          </a:xfrm>
          <a:custGeom>
            <a:pathLst>
              <a:path w="260" h="162">
                <a:moveTo>
                  <a:pt x="0" y="0"/>
                </a:moveTo>
                <a:lnTo>
                  <a:pt x="260" y="0"/>
                </a:lnTo>
                <a:lnTo>
                  <a:pt x="260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867525" y="461010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恶意输入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67525" y="4914900"/>
            <a:ext cx="21717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空字符串或乱码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不报错、不崩，返回兜底结果。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9324975" y="4476750"/>
            <a:ext cx="2486025" cy="1504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9324975" y="4438650"/>
            <a:ext cx="2486025" cy="1543050"/>
          </a:xfrm>
          <a:custGeom>
            <a:pathLst>
              <a:path w="261" h="162">
                <a:moveTo>
                  <a:pt x="0" y="0"/>
                </a:moveTo>
                <a:lnTo>
                  <a:pt x="261" y="0"/>
                </a:lnTo>
                <a:lnTo>
                  <a:pt x="261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477375" y="4610100"/>
            <a:ext cx="2181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模拟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9477375" y="4914900"/>
            <a:ext cx="21812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超过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走降级，默认推荐全科门诊。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248150" y="1047750"/>
            <a:ext cx="741045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4" name=""/>
          <p:cNvSpPr txBox="1"/>
          <p:nvPr/>
        </p:nvSpPr>
        <p:spPr>
          <a:xfrm rot="0" flipH="0" flipV="0">
            <a:off x="4400550" y="1181100"/>
            <a:ext cx="7105650" cy="160020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POST /api/triage
Content-Type: application/json
{ "symptoms": "肚子疼、发烧" }
→ 200 OK
{ "dept": "消化内科",
  "urgency": "普通 | 尽快 | 急诊",
  "notes": "建议空腹就诊，不要自行服药",
  "disclaimer": "本建议由 AI 生成，仅供参考，请以医生诊断为准" }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65" name="" descr="&lt;Slide&#10;  notes={`功能跑通了，但请注意三个工程细节，这才是重点。&#10;&#10;第一，提示词模板独立文件管理。提示词单独放一个文件，改提示词不用改代码。提示词是要反复调的，写死在代码里，调一次改一次，很快就乱。&#10;&#10;第二，超时兜底。超时设 10 秒，失败就返回兜底建议。AI 挂了，系统不能挂。&#10;&#10;第三，固定输出结构。一定要让 AI 输出 JSON。它返回自由文本，你拿正则去解析，早晚翻车。&#10;&#10;做到这三点，才叫&quot;生产级 AI 功能&quot;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工程实现 · 分诊功能链路&lt;/Text&gt;&#10;    &lt;Text style={{ fontSize: 16, color: '#C9D9F2' }}&gt;医院信息系统实验 · 第 11 课&lt;/Text&gt;&#10;  &lt;/Box&gt;&#10;&#10;  &lt;Box style={{ width: '1280px', height: '552px', padding: '24px 40px 0px 40px' }}&gt;&#10;    &lt;svg width={1200} height={320} viewBox='0 0 1200 320'&gt;&#10;      &lt;rect x='40' y='40' width='240' height='130' rx='10' fill='#F7F9FC' stroke='#D6DCE5' strokeWidth='2' /&gt;&#10;      &lt;text x='160' y='96' text-anchor='middle' font-size='28' font-weight='bold' fill='#1A2230'&gt;患者症状描述&lt;/text&gt;&#10;      &lt;text x='160' y='132' text-anchor='middle' font-size='20' fill='#4A5568'&gt;自然语言输入&lt;/text&gt;&#10;      &lt;text x='160' y='156' text-anchor='middle' font-size='18' fill='#8B97A8'&gt;&quot;肚子疼、发烧&quot;&lt;/text&gt;&#10;&#10;      &lt;path d='M286 105 L327 105' stroke='#1E4FA8' strokeWidth='3' /&gt;&#10;      &lt;path d='M321 97 L331 105 L321 113 Z' fill='#1E4FA8' /&gt;&#10;&#10;      &lt;rect x='333' y='40' width='240' height='130' rx='10' fill='#E8EFF8' stroke='#1E4FA8' strokeWidth='2' /&gt;&#10;      &lt;text x='453' y='96' text-anchor='middle' font-size='28' font-weight='bold' fill='#1A2230'&gt;提示词模板&lt;/text&gt;&#10;      &lt;text x='453' y='132' text-anchor='middle' font-size='20' fill='#4A5568'&gt;独立文件管理&lt;/text&gt;&#10;      &lt;text x='453' y='156' text-anchor='middle' font-size='18' fill='#8B97A8'&gt;写死角色与边界&lt;/text&gt;&#10;&#10;      &lt;path d='M579 105 L620 105' stroke='#1E4FA8' strokeWidth='3' /&gt;&#10;      &lt;path d='M614 97 L624 105 L614 113 Z' fill='#1E4FA8' /&gt;&#10;&#10;      &lt;rect x='626' y='40' width='240' height='130' rx='10' fill='#1E4FA8' /&gt;&#10;      &lt;text x='746' y='96' text-anchor='middle' font-size='28' font-weight='bold' fill='#FFFFFF'&gt;LLM API 调用&lt;/text&gt;&#10;      &lt;text x='746' y='132' text-anchor='middle' font-size='20' fill='#C9D9F2'&gt;DeepSeek / GLM&lt;/text&gt;&#10;      &lt;rect x='686' y='144' width='120' height='22' rx='11' fill='#FFC107' /&gt;&#10;      &lt;text x='746' y='160' text-anchor='middle' font-size='16' font-weight='bold' fill='#0E3F8C'&gt;超时 10 秒&lt;/text&gt;&#10;&#10;      &lt;path d='M872 105 L913 105' stroke='#1E4FA8' strokeWidth='3' /&gt;&#10;      &lt;path d='M907 97 L917 105 L907 113 Z' fill='#1E4FA8' /&gt;&#10;&#10;      &lt;rect x='920' y='40' width='240' height='130' rx='10' fill='#F7F9FC' stroke='#1E4FA8' strokeWidth='3' /&gt;&#10;      &lt;text x='1040' y='96' text-anchor='middle' font-size='28' font-weight='bold' fill='#1E4FA8'&gt;固定 JSON 结构输出&lt;/text&gt;&#10;      &lt;text x='1040' y='132' text-anchor='middle' font-size='20' fill='#4A5568'&gt;科室 / 紧急程度 / 注意事项&lt;/text&gt;&#10;      &lt;text x='1040' y='156' text-anchor='middle' font-size='18' fill='#8B97A8'&gt;免责声明字段固定&lt;/text&gt;&#10;&#10;      &lt;path d='M746 176 L746 236' stroke='#D9534F' strokeWidth='3' strokeDasharray='7 6' /&gt;&#10;      &lt;path d='M740 230 L746 240 L752 230 Z' fill='#D9534F' /&gt;&#10;&#10;      &lt;rect x='626' y='240' width='534' height='70' rx='8' fill='#FFFFFF' stroke='#D9534F' strokeWidth='2' strokeDasharray='8 6' /&gt;&#10;      &lt;rect x='626' y='240' width='8' height='70' fill='#FFC107' /&gt;&#10;      &lt;text x='660' y='272' font-size='24' font-weight='bold' fill='#1A2230'&gt;失败则兜底建议&lt;/text&gt;&#10;      &lt;text x='660' y='298' font-size='19' fill='#4A5568'&gt;默认推荐「全科门诊」，系统不报错、不崩溃&lt;/text&gt;&#10;    &lt;/svg&gt;&#10;&#10;    &lt;Box style={{ height: '16px' }} /&gt;&#10;&#10;    &lt;Box style={{ height: '192px', flexDirection: 'row', gap: 24 }}&gt;&#10;      &lt;Box style={{ flex: 1, background: '#F7F9FC', border: '1px solid #D6DCE5', borderLeft: '6px solid #1E4FA8', padding: '18px 20px', gap: 10 }}&gt;&#10;        &lt;Text style={{ fontSize: 24, color: '#1A2230', fontWeight: 'bold' }}&gt;提示词模板独立文件管理&lt;/Text&gt;&#10;        &lt;Text style={{ fontSize: 20, color: '#4A5568', lineHeight: 1.5 }}&gt;&#10;          提示词单独放一个文件，&lt;span style={{ fontWeight: 'bold', color: '#1E4FA8' }}&gt;改提示词不用改代码&lt;/span&gt;，调起来才不心疼。&#10;        &lt;/Text&gt;&#10;      &lt;/Box&gt;&#10;      &lt;Box style={{ flex: 1, background: '#F7F9FC', border: '1px solid #D6DCE5', borderLeft: '6px solid #FFC107', padding: '18px 20px', gap: 10 }}&gt;&#10;        &lt;Text style={{ fontSize: 24, color: '#1A2230', fontWeight: 'bold' }}&gt;超时 10 秒兜底&lt;/Text&gt;&#10;        &lt;Text style={{ fontSize: 20, color: '#4A5568', lineHeight: 1.5 }}&gt;&#10;          超时或失败立刻返回兜底结果，&lt;span style={{ fontWeight: 'bold', color: '#1A2230' }}&gt;AI 挂了，系统不挂&lt;/span&gt;。&#10;        &lt;/Text&gt;&#10;      &lt;/Box&gt;&#10;      &lt;Box style={{ flex: 1, background: '#F7F9FC', border: '1px solid #D6DCE5', borderLeft: '6px solid #D9534F', padding: '18px 20px', gap: 10 }}&gt;&#10;        &lt;Text style={{ fontSize: 24, color: '#1A2230', fontWeight: 'bold' }}&gt;固定输出结构&lt;/Text&gt;&#10;        &lt;Text style={{ fontSize: 20, color: '#4A5568', lineHeight: 1.5 }}&gt;&#10;          要求输出 &lt;span style={{ fontWeight: 'bold', color: '#D9534F' }}&gt;JSON&lt;/span&gt;，自由文本解析容易翻车，字段一变就全崩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工程实现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分诊功能链路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3048000"/>
          </a:xfrm>
          <a:prstGeom prst="rect">
            <a:avLst/>
          </a:prstGeom>
          <a:ln/>
        </p:spPr>
      </p:pic>
      <p:sp>
        <p:nvSpPr>
          <p:cNvPr id="371" name=""/>
          <p:cNvSpPr/>
          <p:nvPr/>
        </p:nvSpPr>
        <p:spPr>
          <a:xfrm rot="0" flipH="0" flipV="0">
            <a:off x="438150" y="4114800"/>
            <a:ext cx="3657600" cy="1828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381000" y="4114800"/>
            <a:ext cx="3714750" cy="1828800"/>
          </a:xfrm>
          <a:custGeom>
            <a:pathLst>
              <a:path w="390" h="192">
                <a:moveTo>
                  <a:pt x="0" y="0"/>
                </a:moveTo>
                <a:lnTo>
                  <a:pt x="6" y="0"/>
                </a:lnTo>
                <a:lnTo>
                  <a:pt x="6" y="192"/>
                </a:lnTo>
                <a:lnTo>
                  <a:pt x="0" y="19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28650" y="4286250"/>
            <a:ext cx="3219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提示词模板独立文件管理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3219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提示词单独放一个文件，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改提示词不用改代码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，调起来才不心疼。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324350" y="4114800"/>
            <a:ext cx="3657600" cy="1828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4267200" y="4114800"/>
            <a:ext cx="3714750" cy="1828800"/>
          </a:xfrm>
          <a:custGeom>
            <a:pathLst>
              <a:path w="390" h="192">
                <a:moveTo>
                  <a:pt x="0" y="0"/>
                </a:moveTo>
                <a:lnTo>
                  <a:pt x="6" y="0"/>
                </a:lnTo>
                <a:lnTo>
                  <a:pt x="6" y="192"/>
                </a:lnTo>
                <a:lnTo>
                  <a:pt x="0" y="192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514850" y="4286250"/>
            <a:ext cx="3219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超时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10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秒兜底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514850" y="4657725"/>
            <a:ext cx="3219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超时或失败立刻返回兜底结果，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挂了，系统不挂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8210550" y="4114800"/>
            <a:ext cx="3657600" cy="1828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8153400" y="4114800"/>
            <a:ext cx="3714750" cy="1828800"/>
          </a:xfrm>
          <a:custGeom>
            <a:pathLst>
              <a:path w="390" h="192">
                <a:moveTo>
                  <a:pt x="0" y="0"/>
                </a:moveTo>
                <a:lnTo>
                  <a:pt x="6" y="0"/>
                </a:lnTo>
                <a:lnTo>
                  <a:pt x="6" y="192"/>
                </a:lnTo>
                <a:lnTo>
                  <a:pt x="0" y="192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401050" y="4286250"/>
            <a:ext cx="3219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固定输出结构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401050" y="4657725"/>
            <a:ext cx="32194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要求输出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JSON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，自由文本解析容易翻车，字段一变就全崩。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现在轮到你们，实操四步，做完举手。&#10;&#10;第一步，从三个方向里选一个实现，我推荐先做智能分诊，最简单也最安全。&#10;&#10;第二步，保证正常场景可用，用真实症状描述跑通。&#10;&#10;第三步，界面上必须有免责声明，不能只在文档里写。&#10;&#10;第四步，必须有降级方案。怎么验证？最简单——把 API Key 故意改错，看看系统崩不崩。崩了就说明降级没做。&#10;&#10;完成加分项的组，第 12 课答辩加 5 分展示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工程实现 · 学生实操四步&lt;/Text&gt;&#10;    &lt;Text style={{ fontSize: 16, color: '#C9D9F2' }}&gt;医院信息系统实验 · 第 11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学生实操四步&lt;/Text&gt;&#10;      &lt;Text style={{ fontSize: 22, color: '#8B97A8' }}&gt;建议用时 30 分钟 · 做完举手验收&lt;/Text&gt;&#10;    &lt;/Box&gt;&#10;&#10;    &lt;Box style={{ height: '14px' }} /&gt;&#10;&#10;    &lt;svg width={1200} height={150} viewBox='0 0 1200 150'&gt;&#10;      &lt;rect x='150' y='52' width='900' height='8' rx='4' fill='#E5E7EB' /&gt;&#10;      &lt;rect x='150' y='52' width='900' height='8' rx='4' fill='#1E4FA8' opacity='0.25' /&gt;&#10;      &lt;circle cx='150' cy='56' r='30' fill='#1E4FA8' /&gt;&#10;      &lt;text x='150' y='57' text-anchor='middle' dominant-baseline='central' font-size='24' font-weight='bold' fill='#FFFFFF'&gt;1&lt;/text&gt;&#10;      &lt;circle cx='450' cy='56' r='30' fill='#1E4FA8' /&gt;&#10;      &lt;text x='450' y='57' text-anchor='middle' dominant-baseline='central' font-size='24' font-weight='bold' fill='#FFFFFF'&gt;2&lt;/text&gt;&#10;      &lt;circle cx='750' cy='56' r='30' fill='#1E4FA8' /&gt;&#10;      &lt;text x='750' y='57' text-anchor='middle' dominant-baseline='central' font-size='24' font-weight='bold' fill='#FFFFFF'&gt;3&lt;/text&gt;&#10;      &lt;circle cx='1050' cy='56' r='34' fill='#1E4FA8' /&gt;&#10;      &lt;text x='1050' y='57' text-anchor='middle' dominant-baseline='central' font-size='26' font-weight='bold' fill='#FFFFFF'&gt;4&lt;/text&gt;&#10;      &lt;text x='150' y='122' text-anchor='middle' font-size='24' font-weight='bold' fill='#1A2230'&gt;三选一&lt;/text&gt;&#10;      &lt;text x='450' y='122' text-anchor='middle' font-size='24' font-weight='bold' fill='#1A2230'&gt;正常可用&lt;/text&gt;&#10;      &lt;text x='750' y='122' text-anchor='middle' font-size='24' font-weight='bold' fill='#1A2230'&gt;免责声明&lt;/text&gt;&#10;      &lt;text x='1050' y='122' text-anchor='middle' font-size='24' font-weight='bold' fill='#1E4FA8'&gt;降级方案&lt;/text&gt;&#10;    &lt;/svg&gt;&#10;&#10;    &lt;Box style={{ height: '16px' }} /&gt;&#10;&#10;    &lt;Box style={{ height: '248px', flexDirection: 'row', gap: 20 }}&gt;&#10;      &lt;Box style={{ flex: 1, background: '#F7F9FC', border: '1px solid #D6DCE5', borderTop: '4px solid #1E4FA8', padding: '18px 18px', gap: 8 }}&gt;&#10;        &lt;Text style={{ fontSize: 23, color: '#1A2230', fontWeight: 'bold' }}&gt;① 三选一实现加分项&lt;/Text&gt;&#10;        &lt;Text style={{ fontSize: 20, color: '#4A5568', lineHeight: 1.5 }}&gt;&#10;          智能分诊 / 处方提醒 / 挂号问答，&lt;span style={{ fontWeight: 'bold', color: '#1E4FA8' }}&gt;推荐先做智能分诊&lt;/span&gt;。&#10;        &lt;/Text&gt;&#10;        &lt;Box style={{ background: '#E8EFF8', padding: '8px 12px' }}&gt;&#10;          &lt;Text style={{ fontSize: 18, color: '#1E4FA8' }}&gt;最简单、最安全&lt;/Text&gt;&#10;        &lt;/Box&gt;&#10;      &lt;/Box&gt;&#10;      &lt;Box style={{ flex: 1, background: '#F7F9FC', border: '1px solid #D6DCE5', borderTop: '4px solid #1E4FA8', padding: '18px 18px', gap: 8 }}&gt;&#10;        &lt;Text style={{ fontSize: 23, color: '#1A2230', fontWeight: 'bold' }}&gt;② 正常场景可用&lt;/Text&gt;&#10;        &lt;Text style={{ fontSize: 20, color: '#4A5568', lineHeight: 1.5 }}&gt;&#10;          用真实症状描述跑通，能返回&lt;span style={{ fontWeight: 'bold', color: '#1A2230' }}&gt;建议科室与紧急程度&lt;/span&gt;。&#10;        &lt;/Text&gt;&#10;        &lt;Box style={{ background: '#E8EFF8', padding: '8px 12px' }}&gt;&#10;          &lt;Text style={{ fontSize: 18, color: '#1E4FA8' }}&gt;验收点：结果说得通&lt;/Text&gt;&#10;        &lt;/Box&gt;&#10;      &lt;/Box&gt;&#10;      &lt;Box style={{ flex: 1, background: '#F7F9FC', border: '1px solid #D6DCE5', borderTop: '4px solid #D9534F', padding: '18px 18px', gap: 8 }}&gt;&#10;        &lt;Text style={{ fontSize: 23, color: '#1A2230', fontWeight: 'bold' }}&gt;③ 界面必须有免责声明&lt;/Text&gt;&#10;        &lt;Text style={{ fontSize: 20, color: '#4A5568', lineHeight: 1.5 }}&gt;&#10;          &quot;本建议由 AI 生成，仅供参考，请以医生诊断为准&quot;，&lt;span style={{ fontWeight: 'bold', color: '#D9534F' }}&gt;写进界面&lt;/span&gt;。&#10;        &lt;/Text&gt;&#10;        &lt;Box style={{ background: '#FDECEA', padding: '8px 12px' }}&gt;&#10;          &lt;Text style={{ fontSize: 18, color: '#D9534F' }}&gt;只写在文档里不算&lt;/Text&gt;&#10;        &lt;/Box&gt;&#10;      &lt;/Box&gt;&#10;      &lt;Box style={{ flex: 1, background: '#E8EFF8', border: '1px solid #3D7BD9', borderTop: '4px solid #FFC107', padding: '18px 18px', gap: 8 }}&gt;&#10;        &lt;Text style={{ fontSize: 23, color: '#1A2230', fontWeight: 'bold' }}&gt;④ 有降级方案&lt;/Text&gt;&#10;        &lt;Text style={{ fontSize: 20, color: '#4A5568', lineHeight: 1.5 }}&gt;&#10;          故意把 API Key 改错，&lt;span style={{ fontWeight: 'bold', color: '#1A2230' }}&gt;验证系统不崩&lt;/span&gt;、仍有兜底结果。&#10;        &lt;/Text&gt;&#10;        &lt;Box style={{ background: '#FFFFFF', padding: '8px 12px' }}&gt;&#10;          &lt;Text style={{ fontSize: 18, color: '#1E4FA8', fontWeight: 'bold' }}&gt;这一步最容易被漏掉&lt;/Text&gt;&#10;        &lt;/Box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完成加分项的组，第 12 课答辩加 5 分展示分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工程实现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学生实操四步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学生实操四步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建议用时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30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做完举手验收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42875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124200"/>
            <a:ext cx="2714625" cy="2362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3086100"/>
            <a:ext cx="2714625" cy="2400300"/>
          </a:xfrm>
          <a:custGeom>
            <a:pathLst>
              <a:path w="285" h="25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52450" y="32956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三选一实现加分项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52450" y="3638550"/>
            <a:ext cx="23717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智能分诊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处方提醒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挂号问答，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推荐先做智能分诊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2450" y="4400550"/>
            <a:ext cx="23717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66750" y="44767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最简单、最安全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286125" y="3124200"/>
            <a:ext cx="2714625" cy="2362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3286125" y="3086100"/>
            <a:ext cx="2714625" cy="2400300"/>
          </a:xfrm>
          <a:custGeom>
            <a:pathLst>
              <a:path w="285" h="25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457575" y="32956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正常场景可用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457575" y="3638550"/>
            <a:ext cx="23717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用真实症状描述跑通，能返回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建议科室与紧急程度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457575" y="4400550"/>
            <a:ext cx="23717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571875" y="44767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验收点：结果说得通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191250" y="3124200"/>
            <a:ext cx="2714625" cy="2362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191250" y="3086100"/>
            <a:ext cx="2714625" cy="2400300"/>
          </a:xfrm>
          <a:custGeom>
            <a:pathLst>
              <a:path w="285" h="25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362700" y="32956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界面必须有免责声明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362700" y="3638550"/>
            <a:ext cx="23717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本建议由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生成，仅供参考，请以医生诊断为准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写进界面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362700" y="4743450"/>
            <a:ext cx="2371725" cy="36195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77000" y="48196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9534F"/>
                </a:solidFill>
                <a:latin typeface="Microsoft YaHei"/>
                <a:ea typeface="Microsoft YaHei"/>
              </a:rPr>
              <a:t>只写在文档里不算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9096375" y="3124200"/>
            <a:ext cx="2714625" cy="2362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9096375" y="3086100"/>
            <a:ext cx="2714625" cy="2400300"/>
          </a:xfrm>
          <a:custGeom>
            <a:pathLst>
              <a:path w="285" h="25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267825" y="329565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④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有降级方案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267825" y="3638550"/>
            <a:ext cx="23717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故意把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API Key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改错，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验证系统不崩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、仍有兜底结果。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9267825" y="4400550"/>
            <a:ext cx="2371725" cy="361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82125" y="44767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这一步最容易被漏掉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55626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71500" y="57245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" y="5629275"/>
            <a:ext cx="3990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完成加分项的组，第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12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课答辩加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5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分展示分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&#10;  notes={`实操就到这里。最后一段，我一次答清你们问得最多的三个问题。&#10;&#10;AI 答非所问怎么办、调用 API 要不要钱、免责声明写了到底有没有用。&#10;&#10;然后布置作业。作业两项：把加分项做完，再交一份《AI 功能合规自查表》。&#10;&#10;先剧透一句关于免责声明的结论：它不能免责，但必须做。为什么，我一会儿解释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Q&amp;amp;A &amp;amp; ASSIGNMENT&lt;/Text&gt;&#10;        &lt;Text style={{ fontSize: 56, color: '#1A2230', fontWeight: 'bold', lineHeight: 1.25 }}&gt;答疑与作业&lt;/Text&gt;&#10;        &lt;Text style={{ fontSize: 26, color: '#4A5568', lineHeight: 1.5 }}&gt;免责声明不能免责，但必须做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三个高频问题：答非所问 / 要钱吗 / 免责声明有用吗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作业两项：加分项完成 + 《AI 功能合规自查表》一页纸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下周结课验收，这是最后一项功能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Q&amp;A &amp; ASSIGNMENT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免责声明不能免责，但必须做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50482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三个高频问题：答非所问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要钱吗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免责声明有用吗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54006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作业两项：加分项完成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《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功能合规自查表》一页纸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32861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下周结课验收，这是最后一项功能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&#10;  notes={`你们问得最多的三个问题，我一起答。&#10;&#10;第一，&quot;AI 答非所问，给了不相关的科室。&quot;收紧提示词：限定它只能从给定科室列表里选，再加一句兜底指令——如果无法判断，返回全科门诊。&#10;&#10;第二，&quot;调用 API 要钱吗？&quot;智能分诊一次调用几分钱甚至几厘，演示用量完全可以忽略。用你们第 1 周注册的 Key，不够就充十块钱。&#10;&#10;第三，&quot;免责声明写了有用吗？&quot;法律上它不能免责，但这是合规姿态和用户告知义务。产品层面必须做，别纠结它能不能免责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常见问题应答&lt;/Text&gt;&#10;    &lt;Text style={{ fontSize: 16, color: '#C9D9F2' }}&gt;医院信息系统实验 · 第 11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答非所问&lt;/Text&gt;&#10;        &lt;/Box&gt;&#10;        &lt;Box style={{ background: '#FFFFFF', padding: '10px 16px', borderRadius: 20, alignItems: 'center' }}&gt;&#10;          &lt;Text style={{ fontSize: 20, color: '#1E4FA8', fontWeight: 'bold' }}&gt;调用费用&lt;/Text&gt;&#10;        &lt;/Box&gt;&#10;        &lt;Box style={{ background: '#FFFFFF', padding: '10px 16px', borderRadius: 20, alignItems: 'center' }}&gt;&#10;          &lt;Text style={{ fontSize: 20, color: '#1E4FA8', fontWeight: 'bold' }}&gt;免责声明&lt;/Text&gt;&#10;        &lt;/Box&gt;&#10;      &lt;/Box&gt;&#10;&#10;      &lt;Text style={{ fontSize: 20, color: '#4A5568', lineHeight: 1.5 }}&gt;&#10;        这三个问题每年都被问，答案都指向同一件事：既有技术手段，也有不能省的义务。&#10;      &lt;/Text&gt;&#10;    &lt;/Box&gt;&#10;&#10;    &lt;Box style={{ width: '810px', height: '528px', gap: 9 }}&gt;&#10;      &lt;Box style={{ height: '170px', background: '#F7F9FC', border: '1px solid #D6DCE5', borderLeft: '6px solid #D9534F', padding: '18px 22px', justifyContent: 'space-between' }}&gt;&#10;        &lt;Text style={{ fontSize: 24, color: '#1A2230', fontWeight: 'bold', lineHeight: 1.4 }}&gt;&#10;          Q：AI 答非所问，给了个不相关的科室怎么办？&#10;        &lt;/Text&gt;&#10;        &lt;Text style={{ fontSize: 21, color: '#4A5568', lineHeight: 1.5 }}&gt;&#10;          A：收紧提示词。&lt;span style={{ color: '#1E4FA8', fontWeight: 'bold' }}&gt;限定只能从给定科室列表里选&lt;/span&gt;；再加兜底指令——&quot;如果无法判断，返回全科门诊&quot;。&#10;        &lt;/Text&gt;&#10;      &lt;/Box&gt;&#10;&#10;      &lt;Box style={{ height: '170px', background: '#F7F9FC', border: '1px solid #D6DCE5', borderLeft: '6px solid #1E4FA8', padding: '18px 22px', justifyContent: 'space-between' }}&gt;&#10;        &lt;Text style={{ fontSize: 24, color: '#1A2230', fontWeight: 'bold', lineHeight: 1.4 }}&gt;&#10;          Q：调用 API 要钱吗？&#10;        &lt;/Text&gt;&#10;        &lt;Text style={{ fontSize: 21, color: '#4A5568', lineHeight: 1.5 }}&gt;&#10;          A：智能分诊一次调用&lt;span style={{ color: '#1E4FA8', fontWeight: 'bold' }}&gt;几分钱甚至几厘&lt;/span&gt;，演示用量完全可以忽略。用第 1 周注册的 Key，不够就充 10 块钱。&#10;        &lt;/Text&gt;&#10;      &lt;/Box&gt;&#10;&#10;      &lt;Box style={{ height: '170px', background: '#F7F9FC', border: '1px solid #D6DCE5', borderLeft: '6px solid #FFC107', padding: '18px 22px', justifyContent: 'space-between' }}&gt;&#10;        &lt;Text style={{ fontSize: 24, color: '#1A2230', fontWeight: 'bold', lineHeight: 1.4 }}&gt;&#10;          Q：免责声明写了，真的有用吗？&#10;        &lt;/Text&gt;&#10;        &lt;Text style={{ fontSize: 21, color: '#4A5568', lineHeight: 1.5 }}&gt;&#10;          A：&lt;span style={{ color: '#D9534F', fontWeight: 'bold' }}&gt;法律上不能免责&lt;/span&gt;，但它是合规姿态和用户告知义务。产品层面必须做，别纠结它能不能免责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28650" y="30099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714500" y="31051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答非所问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28650" y="35433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714500" y="3638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调用费用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28650" y="40767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714500" y="41719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免责声明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28650" y="4648200"/>
            <a:ext cx="2933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这三个问题每年都被问，答案都指向同一件事：既有技术手段，也有不能省的义务。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62450" y="108585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答非所问，给了个不相关的科室怎么办？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362450" y="163830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：收紧提示词。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限定只能从给定科室列表里选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；再加兜底指令——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如果无法判断，返回全科门诊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362450" y="2790825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：调用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要钱吗？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362450" y="3343275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：智能分诊一次调用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几分钱甚至几厘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，演示用量完全可以忽略。用第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周注册的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Key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，不够就充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块钱。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362450" y="449580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：免责声明写了，真的有用吗？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362450" y="504825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法律上不能免责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，但它是合规姿态和用户告知义务。产品层面必须做，别纠结它能不能免责。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&#10;  notes={`最后，请把今天这句话记牢：AI 只能辅助，不能决策。&#10;&#10;这句话落到工程上，是两条硬要求。&#10;&#10;第一，生成式 AI 在医疗领域必须有人工复核环节。这是国内的监管趋势，涉及诊疗的 AI 输出要标注，不能一键就生效。&#10;&#10;第二，这句话必须写进你们的界面——本建议由 AI 生成，仅供参考，请以医生诊断为准。不是写在文档里，是写在用户看得见的地方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医疗 AI 伦理红线&lt;/Text&gt;&#10;    &lt;Text style={{ fontSize: 16, color: '#C9D9F2' }}&gt;医院信息系统实验 · 第 11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6, color: '#FFFFFF', fontWeight: 'bold', lineHeight: 1.18 }}&gt;&#10;        AI 只能辅助&lt;br /&gt;不能决策&#10;      &lt;/Text&gt;&#10;&#10;      &lt;Box style={{ flexDirection: 'row', alignItems: 'center', gap: 20 }}&gt;&#10;        &lt;Box style={{ width: 100, height: 5, background: '#FFC107' }} /&gt;&#10;        &lt;Text style={{ fontSize: 24, color: '#C9D9F2' }}&gt;涉及诊断、用药的 AI 输出，必须标注&quot;仅供参考，需医生确认&quot;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0px 22px', gap: 10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5, color: '#1A2230', fontWeight: 'bold' }}&gt;必须有人工复核环节&lt;/Text&gt;&#10;        &lt;/Box&gt;&#10;        &lt;Text style={{ fontSize: 21, color: '#4A5568', lineHeight: 1.5 }}&gt;&#10;          国内监管趋势是：&lt;span style={{ fontWeight: 'bold', color: '#1E4FA8' }}&gt;生成式 AI 在医疗领域必须有人工复核环节&lt;/span&gt;，涉及诊疗的输出要标注，不能一键生效。&#10;        &lt;/Text&gt;&#10;      &lt;/Box&gt;&#10;      &lt;Box style={{ flex: 1, background: '#F7F9FC', border: '1px solid #D6DCE5', borderTop: '4px solid #D9534F', padding: '20px 22px', gap: 10 }}&gt;&#10;        &lt;Box style={{ flexDirection: 'row', alignItems: 'center', gap: 10 }}&gt;&#10;          &lt;Box style={{ width: 34, height: 34, background: '#D9534F', alignItems: 'center', justifyContent: 'center' }}&gt;&#10;            &lt;Text style={{ fontSize: 18, color: '#FFFFFF', fontWeight: 'bold' }}&gt;2&lt;/Text&gt;&#10;          &lt;/Box&gt;&#10;          &lt;Text style={{ fontSize: 25, color: '#1A2230', fontWeight: 'bold' }}&gt;免责声明写进界面&lt;/Text&gt;&#10;        &lt;/Box&gt;&#10;        &lt;Text style={{ fontSize: 21, color: '#4A5568', lineHeight: 1.5 }}&gt;&#10;          &lt;span style={{ fontWeight: 'bold', color: '#D9534F' }}&gt;&quot;本建议由 AI 生成，仅供参考，请以医生诊断为准&quot;&lt;/span&gt;——这句话必须出现在用户看得见的地方，做加分项时就要写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809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医疗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伦理红线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105918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只能辅助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不能决策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800100" y="3695700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943100" y="3581400"/>
            <a:ext cx="628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涉及诊断、用药的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 AI 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输出，必须标注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仅供参考，需医生确认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3810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590550" y="41719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953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09650" y="4191000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必须有人工复核环节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90550" y="45910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国内监管趋势是：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生成式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在医疗领域必须有人工复核环节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，涉及诊疗的输出要标注，不能一键生效。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2103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2103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6419850" y="417195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5246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38950" y="41910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免责声明写进界面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19850" y="45910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本建议由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生成，仅供参考，请以医生诊断为准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——这句话必须出现在用户看得见的地方，做加分项时就要写。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4" name="" descr="&lt;Slide&#10;  notes={`作业两项，下周结课验收前交。&#10;&#10;第一项，把加分项完成。验收三条：正常场景可用、界面有免责声明、有降级方案。三条缺一条，我不算完成。&#10;&#10;第二项，写一份《AI 功能合规自查表》，一页纸，写清五列：功能名称、输入输出、风险点、免责声明、降级方案。&#10;&#10;这是最后一项功能。做不完的组不影响基础分，但是做完的组，下周演示的时候明显更亮眼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作业布置&lt;/Text&gt;&#10;    &lt;Text style={{ fontSize: 16, color: '#C9D9F2' }}&gt;医院信息系统实验 · 第 11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本节课作业（两项）&lt;/Text&gt;&#10;      &lt;Text style={{ fontSize: 22, color: '#8B97A8' }}&gt;下周结课验收前提交&lt;/Text&gt;&#10;    &lt;/Box&gt;&#10;&#10;    &lt;Box style={{ height: '14px' }} /&gt;&#10;&#10;    &lt;svg width={1200} height={150} viewBox='0 0 1200 150'&gt;&#10;      &lt;rect x='150' y='52' width='900' height='8' rx='4' fill='#E5E7EB' /&gt;&#10;      &lt;rect x='150' y='52' width='900' height='8' rx='4' fill='#1E4FA8' opacity='0.25' /&gt;&#10;      &lt;circle cx='150' cy='56' r='30' fill='#1E4FA8' /&gt;&#10;      &lt;text x='150' y='57' text-anchor='middle' dominant-baseline='central' font-size='24' font-weight='bold' fill='#FFFFFF'&gt;1&lt;/text&gt;&#10;      &lt;circle cx='1050' cy='56' r='34' fill='#1E4FA8' /&gt;&#10;      &lt;text x='1050' y='57' text-anchor='middle' dominant-baseline='central' font-size='26' font-weight='bold' fill='#FFFFFF'&gt;2&lt;/text&gt;&#10;      &lt;text x='150' y='122' text-anchor='middle' font-size='24' font-weight='bold' fill='#1A2230'&gt;加分项完成&lt;/text&gt;&#10;      &lt;text x='1050' y='122' text-anchor='middle' font-size='24' font-weight='bold' fill='#1E4FA8'&gt;合规自查表&lt;/text&gt;&#10;    &lt;/svg&gt;&#10;&#10;    &lt;Box style={{ height: '16px' }} /&gt;&#10;&#10;    &lt;Box style={{ height: '248px', flexDirection: 'row', gap: 24 }}&gt;&#10;      &lt;Box style={{ flex: 1, background: '#F7F9FC', border: '1px solid #D6DCE5', borderTop: '4px solid #1E4FA8', padding: '20px 24px', gap: 12 }}&gt;&#10;        &lt;Text style={{ fontSize: 26, color: '#1A2230', fontWeight: 'bold' }}&gt;① 加分项完成&lt;/Text&gt;&#10;        &lt;Text style={{ fontSize: 21, color: '#4A5568', lineHeight: 1.5 }}&gt;&#10;          三选一实现，验收三条同时满足：&lt;span style={{ fontWeight: 'bold', color: '#1E4FA8' }}&gt;正常场景可用&lt;/span&gt;、&lt;span style={{ fontWeight: 'bold', color: '#1A2230' }}&gt;界面有免责声明&lt;/span&gt;、&lt;span style={{ fontWeight: 'bold', color: '#1A2230' }}&gt;有降级方案&lt;/span&gt;。&#10;        &lt;/Text&gt;&#10;        &lt;Box style={{ background: '#E8EFF8', padding: '10px 14px' }}&gt;&#10;          &lt;Text style={{ fontSize: 19, color: '#1E4FA8' }}&gt;验收点：把 API Key 改错，系统照样返回结果&lt;/Text&gt;&#10;        &lt;/Box&gt;&#10;      &lt;/Box&gt;&#10;      &lt;Box style={{ flex: 1, background: '#F7F9FC', border: '1px solid #D6DCE5', borderTop: '4px solid #D9534F', padding: '20px 24px', gap: 12 }}&gt;&#10;        &lt;Text style={{ fontSize: 26, color: '#1A2230', fontWeight: 'bold' }}&gt;②《AI 功能合规自查表》&lt;/Text&gt;&#10;        &lt;Text style={{ fontSize: 21, color: '#4A5568', lineHeight: 1.5 }}&gt;&#10;          一页纸，写清五项内容：功能名称、输入输出、风险点、免责声明、降级方案。&#10;        &lt;/Text&gt;&#10;        &lt;Box style={{ flexDirection: 'row', gap: 8, flexWrap: 'wrap' }}&gt;&#10;          &lt;Box style={{ background: '#FFFFFF', border: '1px solid #D6DCE5', padding: '6px 12px' }}&gt;&#10;            &lt;Text style={{ fontSize: 19, color: '#1A2230' }}&gt;功能名称&lt;/Text&gt;&#10;          &lt;/Box&gt;&#10;          &lt;Box style={{ background: '#FFFFFF', border: '1px solid #D6DCE5', padding: '6px 12px' }}&gt;&#10;            &lt;Text style={{ fontSize: 19, color: '#1A2230' }}&gt;输入输出&lt;/Text&gt;&#10;          &lt;/Box&gt;&#10;          &lt;Box style={{ background: '#FFFFFF', border: '1px solid #D6DCE5', padding: '6px 12px' }}&gt;&#10;            &lt;Text style={{ fontSize: 19, color: '#D9534F' }}&gt;风险点&lt;/Text&gt;&#10;          &lt;/Box&gt;&#10;          &lt;Box style={{ background: '#FFFFFF', border: '1px solid #D6DCE5', padding: '6px 12px' }}&gt;&#10;            &lt;Text style={{ fontSize: 19, color: '#1A2230' }}&gt;免责声明&lt;/Text&gt;&#10;          &lt;/Box&gt;&#10;          &lt;Box style={{ background: '#FFFFFF', border: '1px solid #D6DCE5', padding: '6px 12px' }}&gt;&#10;            &lt;Text style={{ fontSize: 19, color: '#1A2230' }}&gt;降级方案&lt;/Text&gt;&#10;          &lt;/Box&gt;&#10;        &lt;/Box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下周结课验收，这是最后一项功能；做不完不影响基础分，做完演示时更亮眼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886950" y="24765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本节课作业（两项）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下周结课验收前提交</a:t>
            </a:r>
            <a:endParaRPr/>
          </a:p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42875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381000" y="3124200"/>
            <a:ext cx="5600700" cy="2362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381000" y="3086100"/>
            <a:ext cx="5600700" cy="2400300"/>
          </a:xfrm>
          <a:custGeom>
            <a:pathLst>
              <a:path w="588" h="252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33147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加分项完成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三选一实现，验收三条同时满足：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正常场景可用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界面有免责声明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有降级方案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4572000"/>
            <a:ext cx="5143500" cy="4095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4667250"/>
            <a:ext cx="487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验收点：把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> API Key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改错，系统照样返回结果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210300" y="3124200"/>
            <a:ext cx="5600700" cy="2362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210300" y="3086100"/>
            <a:ext cx="5600700" cy="2400300"/>
          </a:xfrm>
          <a:custGeom>
            <a:pathLst>
              <a:path w="588" h="252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38900" y="33147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②《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功能合规自查表》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38900" y="3733800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一页纸，写清五项内容：功能名称、输入输出、风险点、免责声明、降级方案。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438900" y="4572000"/>
            <a:ext cx="952500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553200" y="46291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功能名称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467600" y="4572000"/>
            <a:ext cx="952500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581900" y="46291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输入输出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8496300" y="4572000"/>
            <a:ext cx="771525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610600" y="46291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D9534F"/>
                </a:solidFill>
                <a:latin typeface="Microsoft YaHei"/>
                <a:ea typeface="Microsoft YaHei"/>
              </a:rPr>
              <a:t>风险点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344025" y="4572000"/>
            <a:ext cx="952500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458325" y="46291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免责声明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10372725" y="4572000"/>
            <a:ext cx="952500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487025" y="46291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降级方案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381000" y="55626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571500" y="57245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42950" y="5629275"/>
            <a:ext cx="6800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下周结课验收，这是最后一项功能；做不完不影响基础分，做完演示时更亮眼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8" name="" descr="&lt;Slide&#10;  notes={`今天就到这里。&#10;&#10;你们这学期做的事，说白了就是两件：让 AI 上场，同时守住红线。让它帮你写代码、帮你做功能，但涉及诊断和用药，最终拍板的永远是人。&#10;&#10;加分项做完的组，记得把免责声明和降级方案都准备好，下周演示我会一项一项看。&#10;&#10;下节课是第 12 课，验收演示与课程复盘。每组 7 分钟，5 分钟演示加 2 分钟答辩，按你们第 4 课提交的功能点清单逐项核验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11 课 · 小结&lt;/Text&gt;&#10;      &lt;/Box&gt;&#10;      &lt;Text style={{ fontSize: 58, color: '#FFFFFF', fontWeight: 'bold', lineHeight: 1.25 }}&gt;让 AI 上场&lt;br /&gt;也守住红线&lt;/Text&gt;&#10;      &lt;Text style={{ fontSize: 24, color: '#9FBEE6', lineHeight: 1.5 }}&gt;AI 只能辅助，不能决策&lt;/Text&gt;&#10;    &lt;/Box&gt;&#10;&#10;    &lt;Box style={{ width: '52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12 课 验收演示与课程复盘&lt;/Text&gt;&#10;      &lt;Text style={{ fontSize: 22, color: '#8FAED8', lineHeight: 1.5 }}&gt;每组 7 分钟 · 5 分钟演示 + 2 分钟答辩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61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11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1657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让</a:t>
            </a: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上场</a:t>
            </a:r>
            <a:endParaRPr/>
          </a:p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也守住红线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2933700"/>
            <a:ext cx="112014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800">
                <a:solidFill>
                  <a:srgbClr val="9FBEE6"/>
                </a:solidFill>
                <a:latin typeface="Microsoft YaHei"/>
                <a:ea typeface="Microsoft YaHei"/>
              </a:rPr>
              <a:t>AI </a:t>
            </a:r>
            <a:r>
              <a:rPr lang="zh-CN" sz="1800">
                <a:solidFill>
                  <a:srgbClr val="9FBEE6"/>
                </a:solidFill>
                <a:latin typeface="Microsoft YaHei"/>
                <a:ea typeface="Microsoft YaHei"/>
              </a:rPr>
              <a:t>只能辅助，不能决策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3790950"/>
            <a:ext cx="4953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4953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4524375"/>
            <a:ext cx="49530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12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验收演示与课程复盘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5229225"/>
            <a:ext cx="4953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每组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7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· 5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分钟演示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+ 2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分钟答辩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2026-09-07T00:34:25Z</dcterms:created>
  <dcterms:modified xsi:type="dcterms:W3CDTF">2026-09-07T00:34:25Z</dcterms:modified>
</cp:coreProperties>
</file>
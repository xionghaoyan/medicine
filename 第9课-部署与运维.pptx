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media/image1.svg" ContentType="image/svg+xml"/>
  <Override PartName="/ppt/slides/media/image2.svg" ContentType="image/svg+xml"/>
  <Override PartName="/ppt/slides/media/image3.svg" ContentType="image/svg+xml"/>
  <Override PartName="/ppt/slides/media/image4.svg" ContentType="image/svg+xml"/>
  <Override PartName="/ppt/slides/media/image5.svg" ContentType="image/svg+xml"/>
  <Override PartName="/ppt/slides/media/image6.svg" ContentType="image/svg+xml"/>
  <Override PartName="/ppt/slides/media/image7.svg" ContentType="image/svg+xml"/>
  <Override PartName="/ppt/slides/media/image8.svg" ContentType="image/svg+xml"/>
  <Override PartName="/ppt/slides/media/image9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tableStyles" Target="tableStyles.xml"/><Relationship Id="rId19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同学们好。从今天起，你们的系统要&amp;quot;出栏&amp;quot;了。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前面八周，系统一直活在你们自己的电脑上，这叫&amp;quot;本地能跑&amp;quot;。但生产级的定义是：别人在别的电脑上，打开浏览器就能用。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这节课讲部署三件套：Docker 把环境打包，云平台把服务挂上去，GitHub Actions 让发布自动化。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先给各位打个预防针：部署是这门课最脏活累活的一课，报错会很多。但也正因为如此，它是最能体现 AI 价值的一课。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今天这节课分三段走。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第一段讲 Docker，解决&amp;quot;在我电脑上能跑&amp;quot;这个世界级难题。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第二段讲云部署和 CI/CD，把服务挂到公网上，再让发布自动化。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第三段你们自己动手，下课前的目标是拿到一个公网能访问的地址。有问题我现场答，最后布置今天的作业。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第一段，先讲 Docker。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为什么需要它？因为&amp;quot;在我电脑上能跑&amp;quot;是世界级难题。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你的电脑有 Node 18、Python 3.11，还有一堆依赖，全都装好了；别人的电脑什么都没有，代码拷过去就是跑不起来。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Docker 的解法很直接：把环境和代码一起打包成镜像，镜像拿到哪台机器上都能跑。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先记住生产级的定义：别人在别的电脑上，打开浏览器就能用。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你们现在处在第一步——你的电脑，Node、Python、一堆依赖全装好了，所以能跑。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要把这份&amp;quot;能跑&amp;quot;送出去，得把环境和代码一起打包成镜像；镜像拿到任何一台机器上都能运行；最后别人打开浏览器就能用。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这四个节点之间的差距，就是今天要填的坑。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Docker 有三个概念，记住三个比方就够了。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镜像，就是打包好的&amp;quot;安装光盘&amp;quot;，里面装着环境和代码。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容器，是这张光盘运行起来的&amp;quot;虚拟机&amp;quot;，也就是真正跑起来的那个实例。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Dockerfile，是制作这张光盘的&amp;quot;配方&amp;quot;，一步一步写清楚怎么装。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我们项目要跑三个容器：前端、后端、数据库。三个容器不用一个个启动，写一个 docker-compose.yml 统一管理，一条 docker compose up 全部起来。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今天的三件套，一句一个。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Docker，把环境打包，解决环境不一致。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云平台，把服务挂上去，让别人有地址可以访问。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GitHub Actions，让发布自动化，以后推代码就自动跑测试、自动部署。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先给各位打个预防针：部署是这门课最脏活累活的一课，报错会很多。但也正因为如此，它是最能体现 AI 价值的一课——大部分报错，丢给 AI 就能处理。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第二段，讲云部署和自动化。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不管你用哪个平台，流程都是同一个套路：把代码推到 GitHub，云平台关联这个仓库，配置构建命令和环境变量，然后自动部署。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这里有一个关键操作我要单独强调——环境变量。数据库连接串、JWT 密钥这些，绝不能写进代码仓库，要填在云平台的后台配置里。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记住一句话：密钥进仓库，等于钥匙贴门口。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具体怎么做？四步，所有平台都一样。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第一步，把代码推到 GitHub。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第二步，云平台关联这个仓库。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第三步，配置构建命令和环境变量。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第四步，等它自动部署，拿到 HTTPS 地址。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环境变量这一块再强调一遍：本地用 .env 文件，但 .env 绝不进仓库，只提交 .env.example，里面只有变量名没有值。免费层方案是前端放 Vercel、后端放 Render、数据库先用 SQLite，或者升级到免费的 PostgreSQL 实例。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最后是自动化，用 GitHub Actions。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写一个工作流文件 .github/workflows/ci.yml，实现三件事：每次 push 代码，自动跑测试；测试通过，自动部署；测试挂了，直接拦截。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好处是，以后任何人提交代码，系统都会自动验证一遍，测试不通过的代码根本进不了生产。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这就是&amp;quot;持续集成&amp;quot;的入门形态。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现在轮到你们，按演示顺序来四步。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第一，让 AI 生成前端和后端的 Dockerfile，还有含 SQLite 卷的 docker-compose.yml。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第二，本地执行 docker compose up，一键启动，浏览器访问确认能打开。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第三，Vercel 部署前端、Render 部署后端，配好环境变量，拿到 HTTPS 地址。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第四，用手机热点访问一次，模拟别人家的网络，把截图发群。卡住的组，把报错原文加上 @ 相关文件丢给 AI。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实操就到这里。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最后一段，我先把你们今天最可能撞上的三个问题一次答清楚：接口 404、免费实例休眠、本地能跑但云上跑不起来。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答完之后布置作业，一共两项，今晚到下周课前交。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先说一句：部署出错很正常，你负责冷静，AI 负责报错。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三个问题，我一起答。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第一，&amp;quot;Vercel 部署前端但接口 404&amp;quot;。八成是环境变量没配，或者跨域没配，去检查云平台的环境变量和 CORS 配置。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第二，&amp;quot;Render 免费实例休眠，演示时打不开&amp;quot;。提前十分钟访问一次把它唤醒，这是免费层的常态，答辩前记得预热。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第三，&amp;quot;本地 Docker 能跑，云上不行&amp;quot;。常见原因是云上构建时缺依赖、数据库文件没持久化、端口配置不同，让 AI 对比两边的日志找差异。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今天我要你们记住一句话：部署报错 90% 出在配置文件。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Dockerfile 和 compose 文件都可以让 AI 生成，但你必须自己看懂。看不懂，报错的时候你连该改哪一行都不知道。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所以正确的做法是：让 AI 生成之后，逐行问它，这行是干什么的。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最常见的三类坑我先给你们：端口没映射、环境变量没传、数据库连不上。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作业两项。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第一，提交公网可访问的地址。我会在课后点开验证，所以答辩前记得预热，别让免费实例睡着。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第二，提交 docker-compose.yml 和 GitHub Actions 的配置，交你自己看得懂的那一版。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下节课我们做数据规范——你们的系统要&amp;quot;接上医院的规矩&amp;quot;了。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今天就到这里。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今天做的事总结成一句话：让它跑到别人的电脑上。这是&amp;quot;作业&amp;quot;和&amp;quot;系统&amp;quot;的分界线。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回去把公网地址稳住，别等到答辩那天才发现实例休眠打不开。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下节课我们讲数据规范与集成，给你们的系统接上医院真正的数据规矩。下课。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sv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5.sv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6.svg"/><Relationship Id="rId2" Type="http://schemas.openxmlformats.org/officeDocument/2006/relationships/image" Target="media/image7.svg"/><Relationship Id="rId3" Type="http://schemas.openxmlformats.org/officeDocument/2006/relationships/image" Target="media/image8.sv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9.sv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sv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.sv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.svg"/><Relationship Id="rId3" Type="http://schemas.openxmlformats.org/officeDocument/2006/relationships/notesSlide" Target="../notesSlides/notesSlide15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&#10;  notes={`同学们好。从今天起，你们的系统要&quot;出栏&quot;了。&#10;&#10;前面八周，系统一直活在你们自己的电脑上，这叫&quot;本地能跑&quot;。但生产级的定义是：别人在别的电脑上，打开浏览器就能用。&#10;&#10;这节课讲部署三件套：Docker 把环境打包，云平台把服务挂上去，GitHub Actions 让发布自动化。&#10;&#10;先给各位打个预防针：部署是这门课最脏活累活的一课，报错会很多。但也正因为如此，它是最能体现 AI 价值的一课。`}&#10;  style={{ width: '1280px', height: '720px', background: '#0E3F8C', padding: '0px', position: 'relative' }}&#10;&gt;&#10;  &lt;svg width={560} height={720} viewBox='0 0 560 720' style={{ position: 'absolute', top: 0, right: 0 }}&gt;&#10;    &lt;rect x='0' y='0' width='560' height='720' fill='#0E3F8C' /&gt;&#10;    &lt;path d='M120 0 L560 0 L560 720 L300 720 Z' fill='#1E4FA8' opacity='0.55' /&gt;&#10;&#10;    &lt;rect x='150' y='96' width='300' height='86' rx='8' fill='#FFFFFF' opacity='0.12' /&gt;&#10;    &lt;rect x='150' y='96' width='300' height='8' rx='4' fill='#FFC107' opacity='0.75' /&gt;&#10;    &lt;rect x='176' y='126' width='150' height='9' rx='4' fill='#FFFFFF' opacity='0.30' /&gt;&#10;    &lt;rect x='176' y='150' width='230' height='9' rx='4' fill='#FFFFFF' opacity='0.18' /&gt;&#10;&#10;    &lt;rect x='150' y='198' width='300' height='86' rx='8' fill='#FFFFFF' opacity='0.12' /&gt;&#10;    &lt;rect x='150' y='198' width='300' height='8' rx='4' fill='#3D7BD9' opacity='0.85' /&gt;&#10;    &lt;rect x='176' y='228' width='200' height='9' rx='4' fill='#FFFFFF' opacity='0.30' /&gt;&#10;    &lt;rect x='176' y='252' width='150' height='9' rx='4' fill='#FFFFFF' opacity='0.18' /&gt;&#10;&#10;    &lt;rect x='150' y='300' width='300' height='86' rx='8' fill='#FFFFFF' opacity='0.12' /&gt;&#10;    &lt;rect x='150' y='300' width='300' height='8' rx='4' fill='#FFFFFF' opacity='0.28' /&gt;&#10;    &lt;rect x='176' y='330' width='170' height='9' rx='4' fill='#FFFFFF' opacity='0.30' /&gt;&#10;    &lt;rect x='176' y='354' width='240' height='9' rx='4' fill='#FFFFFF' opacity='0.18' /&gt;&#10;&#10;    &lt;path d='M300 400 L300 448' stroke='#FFC107' strokeWidth='4' /&gt;&#10;    &lt;path d='M292 440 L300 452 L308 440 Z' fill='#FFC107' /&gt;&#10;    &lt;rect x='150' y='456' width='300' height='86' rx='8' fill='#FFFFFF' opacity='0.18' /&gt;&#10;    &lt;rect x='150' y='456' width='300' height='8' rx='4' fill='#FFC107' opacity='0.55' /&gt;&#10;    &lt;rect x='176' y='486' width='210' height='9' rx='4' fill='#FFFFFF' opacity='0.34' /&gt;&#10;    &lt;rect x='176' y='510' width='130' height='9' rx='4' fill='#FFFFFF' opacity='0.20' /&gt;&#10;&#10;    &lt;rect x='176' y='580' width='248' height='9' rx='4' fill='#FFFFFF' opacity='0.13' /&gt;&#10;    &lt;rect x='176' y='604' width='180' height='9' rx='4' fill='#FFFFFF' opacity='0.10' /&gt;&#10;    &lt;rect x='176' y='628' width='220' height='9' rx='4' fill='#FFFFFF' opacity='0.13' /&gt;&#10;&#10;    &lt;circle cx='470' cy='668' r='46' fill='#1E4FA8' opacity='0.5' /&gt;&#10;    &lt;circle cx='470' cy='668' r='22' fill='#FFC107' opacity='0.5' /&gt;&#10;  &lt;/svg&gt;&#10;&#10;  &lt;Box style={{ width: '1280px', height: '720px', padding: '64px 40px 56px 64px', justifyContent: 'space-between', position: 'relative', zIndex: 2 }}&gt;&#10;    &lt;Box style={{ flexDirection: 'row', alignItems: 'center', gap: 16 }}&gt;&#10;      &lt;Box style={{ width: 6, height: 26, background: '#FFC107' }} /&gt;&#10;      &lt;Text style={{ fontSize: 20, color: '#C9D9F2', fontWeight: 'bold' }}&gt;医院信息系统实验 · AI 智能体与 Vibe Coding 开发实践&lt;/Text&gt;&#10;    &lt;/Box&gt;&#10;&#10;    &lt;Box style={{ gap: 22 }}&gt;&#10;      &lt;Box style={{ flexDirection: 'row', alignItems: 'center', gap: 14 }}&gt;&#10;        &lt;Box style={{ background: '#FFC107', padding: '6px 16px', borderRadius: 4 }}&gt;&#10;          &lt;Text style={{ fontSize: 22, color: '#0E3F8C', fontWeight: 'bold' }}&gt;MODULE 09&lt;/Text&gt;&#10;        &lt;/Box&gt;&#10;        &lt;Text style={{ fontSize: 22, color: '#9FBEE6' }}&gt;Deployment &amp;amp; Operations&lt;/Text&gt;&#10;      &lt;/Box&gt;&#10;      &lt;Text style={{ fontSize: 62, color: '#FFFFFF', fontWeight: 'bold', lineHeight: 1.2 }}&gt;部署与运维&lt;/Text&gt;&#10;      &lt;Text style={{ fontSize: 30, color: '#C9D9F2', lineHeight: 1.4 }}&gt;第 9 课 · 让系统&quot;出栏&quot;&lt;/Text&gt;&#10;      &lt;Box style={{ width: 96, height: 5, background: '#FFC107' }} /&gt;&#10;    &lt;/Box&gt;&#10;&#10;    &lt;Box style={{ flexDirection: 'row', alignItems: 'center', gap: 20 }}&gt;&#10;      &lt;Text style={{ fontSize: 18, color: '#8FAED8' }}&gt;湖南中医药大学&lt;/Text&gt;&#10;      &lt;Box style={{ width: 1, height: 20, background: '#4A6FA8' }} /&gt;&#10;      &lt;Text style={{ fontSize: 18, color: '#8FAED8' }}&gt;医院信息系统实验&lt;/Text&gt;&#10;      &lt;Box style={{ width: 1, height: 20, background: '#4A6FA8' }} /&gt;&#10;      &lt;Text style={{ fontSize: 18, color: '#8FAED8' }}&gt;主讲教师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0" y="0"/>
            <a:ext cx="5334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609600" y="609600"/>
            <a:ext cx="57150" cy="2476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19150" y="619125"/>
            <a:ext cx="4800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500" b="1">
                <a:solidFill>
                  <a:srgbClr val="C9D9F2"/>
                </a:solidFill>
                <a:latin typeface="Microsoft YaHei"/>
                <a:ea typeface="Microsoft YaHei"/>
              </a:rPr>
              <a:t> · AI </a:t>
            </a:r>
            <a:r>
              <a:rPr lang="zh-CN" sz="1500" b="1">
                <a:solidFill>
                  <a:srgbClr val="C9D9F2"/>
                </a:solidFill>
                <a:latin typeface="Microsoft YaHei"/>
                <a:ea typeface="Microsoft YaHei"/>
              </a:rPr>
              <a:t>智能体与</a:t>
            </a:r>
            <a:r>
              <a:rPr lang="en-US" sz="1500" b="1">
                <a:solidFill>
                  <a:srgbClr val="C9D9F2"/>
                </a:solidFill>
                <a:latin typeface="Microsoft YaHei"/>
                <a:ea typeface="Microsoft YaHei"/>
              </a:rPr>
              <a:t> Vibe Coding </a:t>
            </a:r>
            <a:r>
              <a:rPr lang="zh-CN" sz="1500" b="1">
                <a:solidFill>
                  <a:srgbClr val="C9D9F2"/>
                </a:solidFill>
                <a:latin typeface="Microsoft YaHei"/>
                <a:ea typeface="Microsoft YaHei"/>
              </a:rPr>
              <a:t>开发实践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2295525"/>
            <a:ext cx="1581150" cy="371475"/>
          </a:xfrm>
          <a:prstGeom prst="roundRect">
            <a:avLst>
              <a:gd name="adj" fmla="val 10256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2352675"/>
            <a:ext cx="1276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MODULE 09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2324100" y="2352675"/>
            <a:ext cx="26574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9FBEE6"/>
                </a:solidFill>
                <a:latin typeface="Microsoft YaHei"/>
                <a:ea typeface="Microsoft YaHei"/>
              </a:rPr>
              <a:t>Deployment &amp; Operations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2876550"/>
            <a:ext cx="11201400" cy="8572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650" b="1">
                <a:solidFill>
                  <a:srgbClr val="FFFFFF"/>
                </a:solidFill>
                <a:latin typeface="Microsoft YaHei"/>
                <a:ea typeface="Microsoft YaHei"/>
              </a:rPr>
              <a:t>部署与运维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3943350"/>
            <a:ext cx="11201400" cy="485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2250">
                <a:solidFill>
                  <a:srgbClr val="C9D9F2"/>
                </a:solidFill>
                <a:latin typeface="Microsoft YaHei"/>
                <a:ea typeface="Microsoft YaHei"/>
              </a:rPr>
              <a:t> 9 </a:t>
            </a:r>
            <a:r>
              <a:rPr lang="zh-CN" sz="225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r>
              <a:rPr lang="en-US" sz="225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2250">
                <a:solidFill>
                  <a:srgbClr val="C9D9F2"/>
                </a:solidFill>
                <a:latin typeface="Microsoft YaHei"/>
                <a:ea typeface="Microsoft YaHei"/>
              </a:rPr>
              <a:t>让系统</a:t>
            </a:r>
            <a:r>
              <a:rPr lang="en-US" sz="2250">
                <a:solidFill>
                  <a:srgbClr val="C9D9F2"/>
                </a:solidFill>
                <a:latin typeface="Microsoft YaHei"/>
                <a:ea typeface="Microsoft YaHei"/>
              </a:rPr>
              <a:t>"</a:t>
            </a:r>
            <a:r>
              <a:rPr lang="zh-CN" sz="2250">
                <a:solidFill>
                  <a:srgbClr val="C9D9F2"/>
                </a:solidFill>
                <a:latin typeface="Microsoft YaHei"/>
                <a:ea typeface="Microsoft YaHei"/>
              </a:rPr>
              <a:t>出栏</a:t>
            </a:r>
            <a:r>
              <a:rPr lang="en-US" sz="2250">
                <a:solidFill>
                  <a:srgbClr val="C9D9F2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609600" y="4638675"/>
            <a:ext cx="9144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湖南中医药大学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2000250" y="61245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2200275" y="6115050"/>
            <a:ext cx="137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3762375" y="61245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3962400" y="61150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主讲教师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72" name="" descr="&lt;Slide&#10;  notes={`今天这节课分三段走。&#10;&#10;第一段讲 Docker，解决&quot;在我电脑上能跑&quot;这个世界级难题。&#10;&#10;第二段讲云部署和 CI/CD，把服务挂到公网上，再让发布自动化。&#10;&#10;第三段你们自己动手，下课前的目标是拿到一个公网能访问的地址。有问题我现场答，最后布置今天的作业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本节课路线图&lt;/Text&gt;&#10;    &lt;Text style={{ fontSize: 16, color: '#C9D9F2' }}&gt;医院信息系统实验 · 第 9 课&lt;/Text&gt;&#10;  &lt;/Box&gt;&#10;&#10;  &lt;Box style={{ width: '1280px', height: '552px', flexDirection: 'row', padding: '24px 40px 0px 40px', gap: 30 }}&gt;&#10;    &lt;Box style={{ width: '380px', height: '528px', background: '#0E3F8C', padding: '36px 32px', justifyContent: 'space-between' }}&gt;&#10;      &lt;Box style={{ gap: 10 }}&gt;&#10;        &lt;Text style={{ fontSize: 76, color: '#FFFFFF', fontWeight: 'bold', lineHeight: 1.1 }}&gt;目录&lt;/Text&gt;&#10;        &lt;Text style={{ fontSize: 18, color: '#7FA3D6', letterSpacing: 2 }}&gt;CONTENTS&lt;/Text&gt;&#10;      &lt;/Box&gt;&#10;      &lt;Box style={{ width: 64, height: 5, background: '#FFC107' }} /&gt;&#10;      &lt;Box style={{ gap: 12 }}&gt;&#10;        &lt;Text style={{ fontSize: 20, color: '#C9D9F2', lineHeight: 1.6 }}&gt;90 分钟&lt;/Text&gt;&#10;        &lt;Text style={{ fontSize: 20, color: '#C9D9F2', lineHeight: 1.6 }}&gt;讲授 65 · 实操 20 · 小结 5&lt;/Text&gt;&#10;      &lt;/Box&gt;&#10;    &lt;/Box&gt;&#10;&#10;    &lt;Box style={{ width: '790px', height: '528px', gap: 18 }}&gt;&#10;      &lt;Box style={{ height: '164px', background: '#F7F9FC', border: '1px solid #D6DCE5', borderLeft: '6px solid #1E4FA8', padding: '22px 26px', gap: 8 }}&gt;&#10;        &lt;Box style={{ flexDirection: 'row', alignItems: 'center', gap: 14 }}&gt;&#10;          &lt;Box style={{ width: 40, height: 40, background: '#1E4FA8', alignItems: 'center', justifyContent: 'center' }}&gt;&#10;            &lt;Text style={{ fontSize: 20, color: '#FFFFFF', fontWeight: 'bold' }}&gt;01&lt;/Text&gt;&#10;          &lt;/Box&gt;&#10;          &lt;Text style={{ fontSize: 28, color: '#1A2230', fontWeight: 'bold' }}&gt;Docker · 把环境打包&lt;/Text&gt;&#10;        &lt;/Box&gt;&#10;        &lt;Text style={{ fontSize: 22, color: '#4A5568', lineHeight: 1.45 }}&gt;镜像、容器、Dockerfile 三个概念，一条 docker compose up 拉起前端、后端与数据库。&lt;/Text&gt;&#10;      &lt;/Box&gt;&#10;&#10;      &lt;Box style={{ height: '164px', background: '#F7F9FC', border: '1px solid #D6DCE5', borderLeft: '6px solid #3D7BD9', padding: '22px 26px', gap: 8 }}&gt;&#10;        &lt;Box style={{ flexDirection: 'row', alignItems: 'center', gap: 14 }}&gt;&#10;          &lt;Box style={{ width: 40, height: 40, background: '#3D7BD9', alignItems: 'center', justifyContent: 'center' }}&gt;&#10;            &lt;Text style={{ fontSize: 20, color: '#FFFFFF', fontWeight: 'bold' }}&gt;02&lt;/Text&gt;&#10;          &lt;/Box&gt;&#10;          &lt;Text style={{ fontSize: 28, color: '#1A2230', fontWeight: 'bold' }}&gt;云部署与 CI/CD · 挂上去、自动化&lt;/Text&gt;&#10;        &lt;/Box&gt;&#10;        &lt;Text style={{ fontSize: 22, color: '#4A5568', lineHeight: 1.45 }}&gt;免费层上云拿 HTTPS 地址，用 GitHub Actions 实现推送即测试、测试通过即部署。&lt;/Text&gt;&#10;      &lt;/Box&gt;&#10;&#10;      &lt;Box style={{ height: '164px', background: '#F7F9FC', border: '1px solid #D6DCE5', borderLeft: '6px solid #0E3F8C', padding: '22px 26px', gap: 8 }}&gt;&#10;        &lt;Box style={{ flexDirection: 'row', alignItems: 'center', gap: 14 }}&gt;&#10;          &lt;Box style={{ width: 40, height: 40, background: '#0E3F8C', alignItems: 'center', justifyContent: 'center' }}&gt;&#10;            &lt;Text style={{ fontSize: 20, color: '#FFFFFF', fontWeight: 'bold' }}&gt;03&lt;/Text&gt;&#10;          &lt;/Box&gt;&#10;          &lt;Text style={{ fontSize: 28, color: '#1A2230', fontWeight: 'bold' }}&gt;答疑与作业&lt;/Text&gt;&#10;        &lt;/Box&gt;&#10;        &lt;Text style={{ fontSize: 22, color: '#4A5568', lineHeight: 1.45 }}&gt;现场回答接口 404、实例休眠、云上跑不起来三类问题，布置本节课两项作业。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2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本节课路线图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9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381000" y="914400"/>
            <a:ext cx="3619500" cy="5029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85800" y="1257300"/>
            <a:ext cx="3009900" cy="9620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57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85800" y="2314575"/>
            <a:ext cx="3009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150">
                <a:solidFill>
                  <a:srgbClr val="7FA3D6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685800" y="3609975"/>
            <a:ext cx="6096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85800" y="4743450"/>
            <a:ext cx="30099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90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85800" y="5229225"/>
            <a:ext cx="30099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讲授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65 ·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实操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20 ·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小结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5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4343400" y="914400"/>
            <a:ext cx="7524750" cy="1562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84" name=""/>
          <p:cNvSpPr/>
          <p:nvPr/>
        </p:nvSpPr>
        <p:spPr>
          <a:xfrm rot="0" flipH="0" flipV="0">
            <a:off x="4286250" y="914400"/>
            <a:ext cx="7581900" cy="1562100"/>
          </a:xfrm>
          <a:custGeom>
            <a:pathLst>
              <a:path w="796" h="164">
                <a:moveTo>
                  <a:pt x="0" y="0"/>
                </a:moveTo>
                <a:lnTo>
                  <a:pt x="6" y="0"/>
                </a:lnTo>
                <a:lnTo>
                  <a:pt x="6" y="164"/>
                </a:lnTo>
                <a:lnTo>
                  <a:pt x="0" y="16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5" name=""/>
          <p:cNvSpPr/>
          <p:nvPr/>
        </p:nvSpPr>
        <p:spPr>
          <a:xfrm rot="0" flipH="0" flipV="0">
            <a:off x="4591050" y="1123950"/>
            <a:ext cx="381000" cy="381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4667250" y="120015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5105400" y="1152525"/>
            <a:ext cx="25622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1A2230"/>
                </a:solidFill>
                <a:latin typeface="Microsoft YaHei"/>
                <a:ea typeface="Microsoft YaHei"/>
              </a:rPr>
              <a:t>Docker · </a:t>
            </a: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把环境打包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4591050" y="1581150"/>
            <a:ext cx="69723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镜像、容器、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Dockerfile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三个概念，一条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docker compose up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拉起前端、后端与数据库。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4343400" y="2647950"/>
            <a:ext cx="7524750" cy="1562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4286250" y="2647950"/>
            <a:ext cx="7581900" cy="1562100"/>
          </a:xfrm>
          <a:custGeom>
            <a:pathLst>
              <a:path w="796" h="164">
                <a:moveTo>
                  <a:pt x="0" y="0"/>
                </a:moveTo>
                <a:lnTo>
                  <a:pt x="6" y="0"/>
                </a:lnTo>
                <a:lnTo>
                  <a:pt x="6" y="164"/>
                </a:lnTo>
                <a:lnTo>
                  <a:pt x="0" y="16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191" name=""/>
          <p:cNvSpPr/>
          <p:nvPr/>
        </p:nvSpPr>
        <p:spPr>
          <a:xfrm rot="0" flipH="0" flipV="0">
            <a:off x="4591050" y="2857500"/>
            <a:ext cx="381000" cy="3810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4667250" y="293370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5105400" y="2886075"/>
            <a:ext cx="407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云部署与</a:t>
            </a:r>
            <a:r>
              <a:rPr lang="en-US" sz="2100" b="1">
                <a:solidFill>
                  <a:srgbClr val="1A2230"/>
                </a:solidFill>
                <a:latin typeface="Microsoft YaHei"/>
                <a:ea typeface="Microsoft YaHei"/>
              </a:rPr>
              <a:t> CI/CD · </a:t>
            </a: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挂上去、自动化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4591050" y="3314700"/>
            <a:ext cx="69723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免费层上云拿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HTTPS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地址，用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GitHub Actions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实现推送即测试、测试通过即部署。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4343400" y="4381500"/>
            <a:ext cx="7524750" cy="1562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96" name=""/>
          <p:cNvSpPr/>
          <p:nvPr/>
        </p:nvSpPr>
        <p:spPr>
          <a:xfrm rot="0" flipH="0" flipV="0">
            <a:off x="4286250" y="4381500"/>
            <a:ext cx="7581900" cy="1562100"/>
          </a:xfrm>
          <a:custGeom>
            <a:pathLst>
              <a:path w="796" h="164">
                <a:moveTo>
                  <a:pt x="0" y="0"/>
                </a:moveTo>
                <a:lnTo>
                  <a:pt x="6" y="0"/>
                </a:lnTo>
                <a:lnTo>
                  <a:pt x="6" y="164"/>
                </a:lnTo>
                <a:lnTo>
                  <a:pt x="0" y="164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197" name=""/>
          <p:cNvSpPr/>
          <p:nvPr/>
        </p:nvSpPr>
        <p:spPr>
          <a:xfrm rot="0" flipH="0" flipV="0">
            <a:off x="4591050" y="4591050"/>
            <a:ext cx="381000" cy="381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4667250" y="466725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5105400" y="4619625"/>
            <a:ext cx="1333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答疑与作业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4591050" y="5048250"/>
            <a:ext cx="69723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现场回答接口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404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、实例休眠、云上跑不起来三类问题，布置本节课两项作业。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02 / 15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203" name="" descr="&lt;Slide&#10;  notes={`第一段，先讲 Docker。&#10;&#10;为什么需要它？因为&quot;在我电脑上能跑&quot;是世界级难题。&#10;&#10;你的电脑有 Node 18、Python 3.11，还有一堆依赖，全都装好了；别人的电脑什么都没有，代码拷过去就是跑不起来。&#10;&#10;Docker 的解法很直接：把环境和代码一起打包成镜像，镜像拿到哪台机器上都能跑。`}&#10;  style={{ width: '1280px', height: '720px', background: '#F7F9FC', padding: '0px' }}&#10;&gt;&#10;  &lt;Box style={{ width: '1280px', height: '720px', flexDirection: 'row', padding: '64px 40px', gap: 48 }}&gt;&#10;    &lt;Box style={{ width: '420px', height: '592px', justifyContent: 'center', gap: 8 }}&gt;&#10;      &lt;Text style={{ fontSize: 240, color: '#0E3F8C', fontWeight: 'bold', lineHeight: 1 }}&gt;01&lt;/Text&gt;&#10;      &lt;Box style={{ width: 120, height: 6, background: '#FFC107' }} /&gt;&#10;    &lt;/Box&gt;&#10;&#10;    &lt;Box style={{ width: '732px', height: '592px', justifyContent: 'center', gap: 28 }}&gt;&#10;      &lt;Box style={{ gap: 14 }}&gt;&#10;        &lt;Text style={{ fontSize: 20, color: '#3D7BD9', fontWeight: 'bold', letterSpacing: 2 }}&gt;DOCKER · 把环境打包&lt;/Text&gt;&#10;        &lt;Text style={{ fontSize: 56, color: '#1A2230', fontWeight: 'bold', lineHeight: 1.25 }}&gt;Docker&lt;/Text&gt;&#10;        &lt;Text style={{ fontSize: 34, color: '#1E4FA8', fontWeight: 'bold', lineHeight: 1.4 }}&gt;&quot;在我电脑上能跑&quot;是世界级难题。&lt;/Text&gt;&#10;      &lt;/Box&gt;&#10;&#10;      &lt;Box style={{ width: '732px', height: 2, background: '#D6DCE5' }} /&gt;&#10;&#10;      &lt;Box style={{ gap: 16 }}&gt;&#10;        &lt;Box style={{ flexDirection: 'row', alignItems: 'flex-start', gap: 14 }}&gt;&#10;          &lt;Box style={{ width: 10, height: 10, background: '#1E4FA8', marginTop: 12 }} /&gt;&#10;          &lt;Text style={{ fontSize: 23, color: '#1A2230', lineHeight: 1.5 }}&gt;你的电脑 · Node 18、Python 3.11 加一堆依赖&lt;/Text&gt;&#10;        &lt;/Box&gt;&#10;        &lt;Box style={{ flexDirection: 'row', alignItems: 'flex-start', gap: 14 }}&gt;&#10;          &lt;Box style={{ width: 10, height: 10, background: '#3D7BD9', marginTop: 12 }} /&gt;&#10;          &lt;Text style={{ fontSize: 23, color: '#1A2230', lineHeight: 1.5 }}&gt;别人的电脑 · 什么都没装，代码拷过去就崩&lt;/Text&gt;&#10;        &lt;/Box&gt;&#10;        &lt;Box style={{ flexDirection: 'row', alignItems: 'flex-start', gap: 14 }}&gt;&#10;          &lt;Box style={{ width: 10, height: 10, background: '#D9534F', marginTop: 12 }} /&gt;&#10;          &lt;Text style={{ fontSize: 23, color: '#1A2230', lineHeight: 1.5 }}&gt;Docker 的解法 · 环境与代码一起打包成镜像&lt;/Text&gt;&#10;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381000" y="1990725"/>
            <a:ext cx="400050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0E3F8C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381000" y="4810125"/>
            <a:ext cx="11430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4838700" y="1476375"/>
            <a:ext cx="697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3D7BD9"/>
                </a:solidFill>
                <a:latin typeface="Microsoft YaHei"/>
                <a:ea typeface="Microsoft YaHei"/>
              </a:rPr>
              <a:t>DOCKER · </a:t>
            </a:r>
            <a:r>
              <a:rPr lang="zh-CN" sz="1500" b="1" spc="150">
                <a:solidFill>
                  <a:srgbClr val="3D7BD9"/>
                </a:solidFill>
                <a:latin typeface="Microsoft YaHei"/>
                <a:ea typeface="Microsoft YaHei"/>
              </a:rPr>
              <a:t>把环境打包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4838700" y="1838325"/>
            <a:ext cx="6972300" cy="8001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4200" b="1">
                <a:solidFill>
                  <a:srgbClr val="1A2230"/>
                </a:solidFill>
                <a:latin typeface="Microsoft YaHei"/>
                <a:ea typeface="Microsoft YaHei"/>
              </a:rPr>
              <a:t>Docker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4838700" y="2771775"/>
            <a:ext cx="6972300" cy="552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在我电脑上能跑</a:t>
            </a: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是世界级难题。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4838700" y="3590925"/>
            <a:ext cx="69723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11" name=""/>
          <p:cNvSpPr/>
          <p:nvPr/>
        </p:nvSpPr>
        <p:spPr>
          <a:xfrm rot="0" flipH="0" flipV="0">
            <a:off x="4838700" y="399097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5067300" y="3876675"/>
            <a:ext cx="459105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你的电脑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Node 18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、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Python 3.11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加一堆依赖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4838700" y="4543425"/>
            <a:ext cx="95250" cy="952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5067300" y="4429125"/>
            <a:ext cx="413385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别人的电脑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什么都没装，代码拷过去就崩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4838700" y="5095875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5067300" y="4981575"/>
            <a:ext cx="4276725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Docker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的解法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环境与代码一起打包成镜像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17" name="" descr="&lt;Slide&#10;  notes={`先记住生产级的定义：别人在别的电脑上，打开浏览器就能用。&#10;&#10;你们现在处在第一步——你的电脑，Node、Python、一堆依赖全装好了，所以能跑。&#10;&#10;要把这份&quot;能跑&quot;送出去，得把环境和代码一起打包成镜像；镜像拿到任何一台机器上都能运行；最后别人打开浏览器就能用。&#10;&#10;这四个节点之间的差距，就是今天要填的坑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1 Docker · 从&quot;本地能跑&quot;到&quot;别人能用&quot;&lt;/Text&gt;&#10;    &lt;Text style={{ fontSize: 16, color: '#C9D9F2' }}&gt;医院信息系统实验 · 第 9 课&lt;/Text&gt;&#10;  &lt;/Box&gt;&#10;&#10;  &lt;Box style={{ width: '1280px', height: '552px', padding: '24px 40px 0px 40px' }}&gt;&#10;    &lt;Box style={{ height: '48px', flexDirection: 'row', alignItems: 'center', gap: 14 }}&gt;&#10;      &lt;Box style={{ width: 6, height: 34, background: '#1E4FA8' }} /&gt;&#10;      &lt;Text style={{ fontSize: 36, color: '#1A2230', fontWeight: 'bold' }}&gt;从&quot;本地能跑&quot;到&quot;别人能用&quot;&lt;/Text&gt;&#10;      &lt;Text style={{ fontSize: 22, color: '#8B97A8' }}&gt;From Local Run to Public Use&lt;/Text&gt;&#10;    &lt;/Box&gt;&#10;&#10;    &lt;Box style={{ height: '16px' }} /&gt;&#10;&#10;    &lt;svg width={1200} height={190} viewBox='0 0 1200 190'&gt;&#10;      &lt;line x1='150' y1='96' x2='1050' y2='96' stroke='#D6DCE5' strokeWidth='3' /&gt;&#10;      &lt;line x1='150' y1='96' x2='600' y2='96' stroke='#3D7BD9' strokeWidth='3' /&gt;&#10;      &lt;line x1='600' y1='96' x2='1050' y2='96' stroke='#1E4FA8' strokeWidth='3' /&gt;&#10;      &lt;circle cx='150' cy='96' r='24' fill='#FFFFFF' stroke='#3D7BD9' strokeWidth='4' /&gt;&#10;      &lt;circle cx='450' cy='96' r='24' fill='#FFFFFF' stroke='#3D7BD9' strokeWidth='4' /&gt;&#10;      &lt;circle cx='750' cy='96' r='24' fill='#FFFFFF' stroke='#1E4FA8' strokeWidth='4' /&gt;&#10;      &lt;circle cx='1050' cy='96' r='30' fill='#1E4FA8' /&gt;&#10;      &lt;text x='150' y='96' text-anchor='middle' dominant-baseline='central' font-size='21' font-weight='bold' fill='#3D7BD9'&gt;1&lt;/text&gt;&#10;      &lt;text x='450' y='96' text-anchor='middle' dominant-baseline='central' font-size='21' font-weight='bold' fill='#3D7BD9'&gt;2&lt;/text&gt;&#10;      &lt;text x='750' y='96' text-anchor='middle' dominant-baseline='central' font-size='21' font-weight='bold' fill='#1E4FA8'&gt;3&lt;/text&gt;&#10;      &lt;text x='1050' y='96' text-anchor='middle' dominant-baseline='central' font-size='24' font-weight='bold' fill='#FFFFFF'&gt;4&lt;/text&gt;&#10;      &lt;text x='150' y='46' text-anchor='middle' font-size='30' font-weight='bold' fill='#1A2230'&gt;你的电脑&lt;/text&gt;&#10;      &lt;text x='450' y='46' text-anchor='middle' font-size='30' font-weight='bold' fill='#1A2230'&gt;打包成镜像&lt;/text&gt;&#10;      &lt;text x='750' y='46' text-anchor='middle' font-size='30' font-weight='bold' fill='#1A2230'&gt;镜像在任何机器运行&lt;/text&gt;&#10;      &lt;text x='1050' y='46' text-anchor='middle' font-size='30' font-weight='bold' fill='#0E3F8C'&gt;别人打开浏览器就能用&lt;/text&gt;&#10;      &lt;text x='150' y='152' text-anchor='middle' font-size='19' fill='#8B97A8'&gt;Node + Python + 一堆依赖&lt;/text&gt;&#10;      &lt;text x='450' y='152' text-anchor='middle' font-size='19' fill='#8B97A8'&gt;环境和代码封在一起&lt;/text&gt;&#10;      &lt;text x='750' y='152' text-anchor='middle' font-size='19' fill='#4A5568'&gt;装了 Docker 就能跑&lt;/text&gt;&#10;      &lt;text x='1050' y='152' text-anchor='middle' font-size='19' fill='#1E4FA8'&gt;这一步才叫生产级&lt;/text&gt;&#10;    &lt;/svg&gt;&#10;&#10;    &lt;Box style={{ height: '18px' }} /&gt;&#10;&#10;    &lt;Box style={{ height: '196px', flexDirection: 'row', gap: 20 }}&gt;&#10;      &lt;Box style={{ flex: 1, background: '#F7F9FC', border: '1px solid #D6DCE5', borderTop: '4px solid #3D7BD9', padding: '16px 18px', gap: 8 }}&gt;&#10;        &lt;Text style={{ fontSize: 24, color: '#1A2230', fontWeight: 'bold' }}&gt;① 本地能跑&lt;/Text&gt;&#10;        &lt;Text style={{ fontSize: 20, color: '#4A5568', lineHeight: 1.5 }}&gt;依赖都装在你这台机器上，所以代码一跑就通。这是&quot;能跑&quot;的起点，不是终点。&lt;/Text&gt;&#10;      &lt;/Box&gt;&#10;      &lt;Box style={{ flex: 1, background: '#F7F9FC', border: '1px solid #D6DCE5', borderTop: '4px solid #3D7BD9', padding: '16px 18px', gap: 8 }}&gt;&#10;        &lt;Text style={{ fontSize: 24, color: '#1A2230', fontWeight: 'bold' }}&gt;② 打包成镜像&lt;/Text&gt;&#10;        &lt;Text style={{ fontSize: 20, color: '#4A5568', lineHeight: 1.5 }}&gt;把运行环境、依赖库和你的代码一起封进镜像，别人不必再装任何东西。&lt;/Text&gt;&#10;      &lt;/Box&gt;&#10;      &lt;Box style={{ flex: 1, background: '#F7F9FC', border: '1px solid #D6DCE5', borderTop: '4px solid #1E4FA8', padding: '16px 18px', gap: 8 }}&gt;&#10;        &lt;Text style={{ fontSize: 24, color: '#1A2230', fontWeight: 'bold' }}&gt;③ 镜像到处跑&lt;/Text&gt;&#10;        &lt;Text style={{ fontSize: 20, color: '#4A5568', lineHeight: 1.5 }}&gt;镜像在哪台机器上运行结果都一样，不再有&quot;你电脑和我电脑&quot;的区别。&lt;/Text&gt;&#10;      &lt;/Box&gt;&#10;      &lt;Box style={{ flex: 1, background: '#E8EFF8', border: '1px solid #3D7BD9', borderTop: '4px solid #0E3F8C', padding: '16px 18px', gap: 8 }}&gt;&#10;        &lt;Text style={{ fontSize: 24, color: '#1A2230', fontWeight: 'bold' }}&gt;④ 别人能用&lt;/Text&gt;&#10;        &lt;Text style={{ fontSize: 20, color: '#1E4FA8', lineHeight: 1.5 }}&gt;别人在别的电脑上，打开浏览器输入地址就能访问你的系统。&lt;/Text&gt;&#10;      &lt;/Box&gt;&#10;    &lt;/Box&gt;&#10;&#10;    &lt;Box style={{ height: '12px' }} /&gt;&#10;&#10;    &lt;Box style={{ height: '44px', background: '#1E4FA8', flexDirection: 'row', alignItems: 'center', padding: '0px 20px', gap: 12 }}&gt;&#10;      &lt;Box style={{ width: 6, height: 6, background: '#FFC107' }} /&gt;&#10;      &lt;Text style={{ fontSize: 22, color: '#FFFFFF', fontWeight: 'bold' }}&gt;生产级 = 别人在别的电脑上，打开浏览器就能用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4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34766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 Docker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从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本地能跑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到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别人能用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9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381000" y="98107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571500" y="933450"/>
            <a:ext cx="41529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从</a:t>
            </a:r>
            <a:r>
              <a:rPr lang="en-US" sz="270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本地能跑</a:t>
            </a:r>
            <a:r>
              <a:rPr lang="en-US" sz="270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到</a:t>
            </a:r>
            <a:r>
              <a:rPr lang="en-US" sz="270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别人能用</a:t>
            </a:r>
            <a:r>
              <a:rPr lang="en-US" sz="270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4857750" y="1019175"/>
            <a:ext cx="2933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8B97A8"/>
                </a:solidFill>
                <a:latin typeface="Microsoft YaHei"/>
                <a:ea typeface="Microsoft YaHei"/>
              </a:rPr>
              <a:t>From Local Run to Public Use</a:t>
            </a:r>
            <a:endParaRPr/>
          </a:p>
        </p:txBody>
      </p:sp>
      <p:pic>
        <p:nvPicPr>
          <p:cNvPr id="2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1524000"/>
            <a:ext cx="11430000" cy="1809750"/>
          </a:xfrm>
          <a:prstGeom prst="rect">
            <a:avLst/>
          </a:prstGeom>
          <a:ln/>
        </p:spPr>
      </p:pic>
      <p:sp>
        <p:nvSpPr>
          <p:cNvPr id="226" name=""/>
          <p:cNvSpPr/>
          <p:nvPr/>
        </p:nvSpPr>
        <p:spPr>
          <a:xfrm rot="0" flipH="0" flipV="0">
            <a:off x="381000" y="3543300"/>
            <a:ext cx="2714625" cy="18669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27" name=""/>
          <p:cNvSpPr/>
          <p:nvPr/>
        </p:nvSpPr>
        <p:spPr>
          <a:xfrm rot="0" flipH="0" flipV="0">
            <a:off x="381000" y="3505200"/>
            <a:ext cx="2714625" cy="1905000"/>
          </a:xfrm>
          <a:custGeom>
            <a:pathLst>
              <a:path w="285" h="200">
                <a:moveTo>
                  <a:pt x="0" y="0"/>
                </a:moveTo>
                <a:lnTo>
                  <a:pt x="285" y="0"/>
                </a:lnTo>
                <a:lnTo>
                  <a:pt x="285" y="4"/>
                </a:lnTo>
                <a:lnTo>
                  <a:pt x="0" y="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552450" y="3695700"/>
            <a:ext cx="2371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①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本地能跑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552450" y="4048125"/>
            <a:ext cx="2371725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依赖都装在你这台机器上，所以代码一跑就通。这是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能跑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的起点，不是终点。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3286125" y="3543300"/>
            <a:ext cx="2714625" cy="18669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31" name=""/>
          <p:cNvSpPr/>
          <p:nvPr/>
        </p:nvSpPr>
        <p:spPr>
          <a:xfrm rot="0" flipH="0" flipV="0">
            <a:off x="3286125" y="3505200"/>
            <a:ext cx="2714625" cy="1905000"/>
          </a:xfrm>
          <a:custGeom>
            <a:pathLst>
              <a:path w="285" h="200">
                <a:moveTo>
                  <a:pt x="0" y="0"/>
                </a:moveTo>
                <a:lnTo>
                  <a:pt x="285" y="0"/>
                </a:lnTo>
                <a:lnTo>
                  <a:pt x="285" y="4"/>
                </a:lnTo>
                <a:lnTo>
                  <a:pt x="0" y="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3457575" y="3695700"/>
            <a:ext cx="2371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②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打包成镜像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3457575" y="4048125"/>
            <a:ext cx="2371725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把运行环境、依赖库和你的代码一起封进镜像，别人不必再装任何东西。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6191250" y="3543300"/>
            <a:ext cx="2714625" cy="18669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35" name=""/>
          <p:cNvSpPr/>
          <p:nvPr/>
        </p:nvSpPr>
        <p:spPr>
          <a:xfrm rot="0" flipH="0" flipV="0">
            <a:off x="6191250" y="3505200"/>
            <a:ext cx="2714625" cy="1905000"/>
          </a:xfrm>
          <a:custGeom>
            <a:pathLst>
              <a:path w="285" h="200">
                <a:moveTo>
                  <a:pt x="0" y="0"/>
                </a:moveTo>
                <a:lnTo>
                  <a:pt x="285" y="0"/>
                </a:lnTo>
                <a:lnTo>
                  <a:pt x="285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362700" y="3695700"/>
            <a:ext cx="2371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③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镜像到处跑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362700" y="4048125"/>
            <a:ext cx="2371725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镜像在哪台机器上运行结果都一样，不再有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你电脑和我电脑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的区别。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9096375" y="3543300"/>
            <a:ext cx="2714625" cy="18669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39" name=""/>
          <p:cNvSpPr/>
          <p:nvPr/>
        </p:nvSpPr>
        <p:spPr>
          <a:xfrm rot="0" flipH="0" flipV="0">
            <a:off x="9096375" y="3505200"/>
            <a:ext cx="2714625" cy="1905000"/>
          </a:xfrm>
          <a:custGeom>
            <a:pathLst>
              <a:path w="285" h="200">
                <a:moveTo>
                  <a:pt x="0" y="0"/>
                </a:moveTo>
                <a:lnTo>
                  <a:pt x="285" y="0"/>
                </a:lnTo>
                <a:lnTo>
                  <a:pt x="285" y="4"/>
                </a:lnTo>
                <a:lnTo>
                  <a:pt x="0" y="4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9267825" y="3695700"/>
            <a:ext cx="2371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④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别人能用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9267825" y="4048125"/>
            <a:ext cx="2371725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1E4FA8"/>
                </a:solidFill>
                <a:latin typeface="Microsoft YaHei"/>
                <a:ea typeface="Microsoft YaHei"/>
              </a:rPr>
              <a:t>别人在别的电脑上，打开浏览器输入地址就能访问你的系统。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381000" y="5486400"/>
            <a:ext cx="11430000" cy="419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3" name=""/>
          <p:cNvSpPr/>
          <p:nvPr/>
        </p:nvSpPr>
        <p:spPr>
          <a:xfrm rot="0" flipH="0" flipV="0">
            <a:off x="571500" y="5667375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742950" y="5572125"/>
            <a:ext cx="4476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生产级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=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别人在别的电脑上，打开浏览器就能用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04 / 15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47" name="" descr="&lt;Slide&#10;  notes={`Docker 有三个概念，记住三个比方就够了。&#10;&#10;镜像，就是打包好的&quot;安装光盘&quot;，里面装着环境和代码。&#10;&#10;容器，是这张光盘运行起来的&quot;虚拟机&quot;，也就是真正跑起来的那个实例。&#10;&#10;Dockerfile，是制作这张光盘的&quot;配方&quot;，一步一步写清楚怎么装。&#10;&#10;我们项目要跑三个容器：前端、后端、数据库。三个容器不用一个个启动，写一个 docker-compose.yml 统一管理，一条 docker compose up 全部起来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1 Docker · 三个概念与一条命令&lt;/Text&gt;&#10;    &lt;Text style={{ fontSize: 16, color: '#C9D9F2' }}&gt;医院信息系统实验 · 第 9 课&lt;/Text&gt;&#10;  &lt;/Box&gt;&#10;&#10;  &lt;Box style={{ width: '1280px', height: '552px', flexDirection: 'row', padding: '24px 40px 0px 40px', gap: 30 }}&gt;&#10;    &lt;Box style={{ width: '760px', height: '528px', background: '#F7F9FC', border: '1px solid #D6DCE5', borderTop: '6px solid #1E4FA8', padding: '26px 30px' }}&gt;&#10;      &lt;Box style={{ height: '44px', flexDirection: 'row', alignItems: 'center', gap: 14 }}&gt;&#10;        &lt;Box style={{ width: 44, height: 44, background: '#1E4FA8', alignItems: 'center', justifyContent: 'center' }}&gt;&#10;          &lt;Text style={{ fontSize: 22, color: '#FFFFFF', fontWeight: 'bold' }}&gt;D&lt;/Text&gt;&#10;        &lt;/Box&gt;&#10;        &lt;Text style={{ fontSize: 32, color: '#1A2230', fontWeight: 'bold' }}&gt;Docker 的三个概念&lt;/Text&gt;&#10;      &lt;/Box&gt;&#10;&#10;      &lt;Box style={{ height: '18px' }} /&gt;&#10;&#10;      &lt;Box style={{ height: '104px', flexDirection: 'row', gap: 16 }}&gt;&#10;        &lt;Box style={{ width: 44, height: 44, background: '#1E4FA8', alignItems: 'center', justifyContent: 'center' }}&gt;&#10;          &lt;Text style={{ fontSize: 20, color: '#FFFFFF', fontWeight: 'bold' }}&gt;01&lt;/Text&gt;&#10;        &lt;/Box&gt;&#10;        &lt;Box style={{ flex: 1, gap: 6 }}&gt;&#10;          &lt;Text style={{ fontSize: 26, color: '#1A2230', fontWeight: 'bold' }}&gt;镜像 Image&lt;/Text&gt;&#10;          &lt;Text style={{ fontSize: 21, color: '#4A5568', lineHeight: 1.5 }}&gt;打包好的&quot;安装光盘&quot;，里面装着运行环境、依赖库和你的代码。&lt;/Text&gt;&#10;        &lt;/Box&gt;&#10;      &lt;/Box&gt;&#10;&#10;      &lt;Box style={{ height: '14px' }} /&gt;&#10;&#10;      &lt;Box style={{ height: '104px', flexDirection: 'row', gap: 16 }}&gt;&#10;        &lt;Box style={{ width: 44, height: 44, background: '#3D7BD9', alignItems: 'center', justifyContent: 'center' }}&gt;&#10;          &lt;Text style={{ fontSize: 20, color: '#FFFFFF', fontWeight: 'bold' }}&gt;02&lt;/Text&gt;&#10;        &lt;/Box&gt;&#10;        &lt;Box style={{ flex: 1, gap: 6 }}&gt;&#10;          &lt;Text style={{ fontSize: 26, color: '#1A2230', fontWeight: 'bold' }}&gt;容器 Container&lt;/Text&gt;&#10;          &lt;Text style={{ fontSize: 21, color: '#4A5568', lineHeight: 1.5 }}&gt;光盘运行起来的&quot;虚拟机&quot;，是镜像真正跑起来之后的那一个实例。&lt;/Text&gt;&#10;        &lt;/Box&gt;&#10;      &lt;/Box&gt;&#10;&#10;      &lt;Box style={{ height: '14px' }} /&gt;&#10;&#10;      &lt;Box style={{ height: '104px', flexDirection: 'row', gap: 16 }}&gt;&#10;        &lt;Box style={{ width: 44, height: 44, background: '#0E3F8C', alignItems: 'center', justifyContent: 'center' }}&gt;&#10;          &lt;Text style={{ fontSize: 20, color: '#FFFFFF', fontWeight: 'bold' }}&gt;03&lt;/Text&gt;&#10;        &lt;/Box&gt;&#10;        &lt;Box style={{ flex: 1, gap: 6 }}&gt;&#10;          &lt;Text style={{ fontSize: 26, color: '#1A2230', fontWeight: 'bold' }}&gt;Dockerfile&lt;/Text&gt;&#10;          &lt;Text style={{ fontSize: 21, color: '#4A5568', lineHeight: 1.5 }}&gt;制作这张光盘的&quot;配方&quot;，一步一步写清楚环境该怎么装起来。&lt;/Text&gt;&#10;        &lt;/Box&gt;&#10;      &lt;/Box&gt;&#10;&#10;      &lt;Box style={{ height: '14px' }} /&gt;&#10;&#10;      &lt;Box style={{ height: '60px', background: '#E8EFF8', padding: '12px 18px', justifyContent: 'center', gap: 4 }}&gt;&#10;        &lt;Text style={{ fontSize: 21, color: '#1E4FA8', fontWeight: 'bold' }}&gt;这三个文件都可以让 AI 生成 —— 但你必须逐行看懂。&lt;/Text&gt;&#10;        &lt;Text style={{ fontSize: 19, color: '#4A5568' }}&gt;因为部署报错 90% 出在配置文件里。&lt;/Text&gt;&#10;      &lt;/Box&gt;&#10;    &lt;/Box&gt;&#10;&#10;    &lt;Box style={{ width: '410px', height: '528px', background: '#E8EFF8', border: '1px solid #3D7BD9', borderTop: '6px solid #3D7BD9', padding: '24px 24px' }}&gt;&#10;      &lt;Box style={{ gap: 10 }}&gt;&#10;        &lt;Text style={{ fontSize: 17, color: '#3D7BD9', letterSpacing: 2 }}&gt;OUR PROJECT&lt;/Text&gt;&#10;        &lt;Text style={{ fontSize: 30, color: '#1A2230', fontWeight: 'bold', lineHeight: 1.25 }}&gt;三个容器&lt;/Text&gt;&#10;      &lt;/Box&gt;&#10;&#10;      &lt;Box style={{ height: '14px' }} /&gt;&#10;&#10;      &lt;Box style={{ height: '40px', flexDirection: 'row', gap: 10 }}&gt;&#10;        &lt;Box style={{ flex: 1, background: '#FFFFFF', alignItems: 'center', justifyContent: 'center' }}&gt;&#10;          &lt;Text style={{ fontSize: 20, color: '#1E4FA8', fontWeight: 'bold' }}&gt;前端&lt;/Text&gt;&#10;        &lt;/Box&gt;&#10;        &lt;Box style={{ flex: 1, background: '#FFFFFF', alignItems: 'center', justifyContent: 'center' }}&gt;&#10;          &lt;Text style={{ fontSize: 20, color: '#1E4FA8', fontWeight: 'bold' }}&gt;后端&lt;/Text&gt;&#10;        &lt;/Box&gt;&#10;        &lt;Box style={{ flex: 1, background: '#FFFFFF', alignItems: 'center', justifyContent: 'center' }}&gt;&#10;          &lt;Text style={{ fontSize: 20, color: '#1E4FA8', fontWeight: 'bold' }}&gt;数据库&lt;/Text&gt;&#10;        &lt;/Box&gt;&#10;      &lt;/Box&gt;&#10;&#10;      &lt;Box style={{ height: '14px' }} /&gt;&#10;&#10;      &lt;Text style={{ fontSize: 20, color: '#4A5568', lineHeight: 1.5 }}&gt;&#10;        三个容器不一个个启动，用 &lt;span style={{ fontWeight: 'bold', color: '#1A2230' }}&gt;docker-compose.yml&lt;/span&gt; 一个文件统一管理。&#10;      &lt;/Text&gt;&#10;&#10;      &lt;Box style={{ height: '14px' }} /&gt;&#10;&#10;      &lt;Box style={{ height: '212px', background: '#FFFFFF', border: '1px solid #D6DCE5', padding: '8px 0px' }}&gt;&#10;        &lt;CodeBlock&#10;          code={`# docker-compose.yml 统一管理&#10;services:&#10;  web:      # 前端容器&#10;  api:      # 后端容器&#10;  db:       # 数据库 + SQLite 卷&#10;&#10;# 一条命令全部启动&#10;docker compose up`}&#10;          language='bash'&#10;          width={358}&#10;          fontSize={14}&#10;          theme='github-light'&#10;          background='#FFFFFF'&#10;        /&gt;&#10;      &lt;/Box&gt;&#10;&#10;      &lt;Box style={{ height: '14px' }} /&gt;&#10;&#10;      &lt;Box style={{ height: '44px', background: '#1E4FA8', alignItems: 'center', justifyContent: 'center' }}&gt;&#10;        &lt;Text style={{ fontSize: 21, color: '#FFFFFF', fontWeight: 'bold' }}&gt;一条命令全启动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5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886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 Docker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三个概念与一条命令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9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381000" y="971550"/>
            <a:ext cx="7239000" cy="49720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381000" y="914400"/>
            <a:ext cx="7239000" cy="5029200"/>
          </a:xfrm>
          <a:custGeom>
            <a:pathLst>
              <a:path w="760" h="528">
                <a:moveTo>
                  <a:pt x="0" y="0"/>
                </a:moveTo>
                <a:lnTo>
                  <a:pt x="760" y="0"/>
                </a:lnTo>
                <a:lnTo>
                  <a:pt x="760" y="6"/>
                </a:lnTo>
                <a:lnTo>
                  <a:pt x="0" y="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4" name=""/>
          <p:cNvSpPr/>
          <p:nvPr/>
        </p:nvSpPr>
        <p:spPr>
          <a:xfrm rot="0" flipH="0" flipV="0">
            <a:off x="666750" y="1219200"/>
            <a:ext cx="419100" cy="419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790575" y="1304925"/>
            <a:ext cx="171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D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1219200" y="1247775"/>
            <a:ext cx="27051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A2230"/>
                </a:solidFill>
                <a:latin typeface="Microsoft YaHei"/>
                <a:ea typeface="Microsoft YaHei"/>
              </a:rPr>
              <a:t>Docker </a:t>
            </a:r>
            <a:r>
              <a:rPr lang="zh-CN" sz="2400" b="1">
                <a:solidFill>
                  <a:srgbClr val="1A2230"/>
                </a:solidFill>
                <a:latin typeface="Microsoft YaHei"/>
                <a:ea typeface="Microsoft YaHei"/>
              </a:rPr>
              <a:t>的三个概念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666750" y="1809750"/>
            <a:ext cx="419100" cy="419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62000" y="190500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1238250" y="1809750"/>
            <a:ext cx="6096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镜像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 Image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1238250" y="2171700"/>
            <a:ext cx="60960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打包好的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安装光盘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，里面装着运行环境、依赖库和你的代码。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666750" y="2933700"/>
            <a:ext cx="419100" cy="419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762000" y="302895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1238250" y="2933700"/>
            <a:ext cx="6096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容器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 Container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1238250" y="3295650"/>
            <a:ext cx="60960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光盘运行起来的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虚拟机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，是镜像真正跑起来之后的那一个实例。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666750" y="4057650"/>
            <a:ext cx="419100" cy="4191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62000" y="415290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1238250" y="4057650"/>
            <a:ext cx="6096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Dockerfile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1238250" y="4419600"/>
            <a:ext cx="60960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制作这张光盘的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配方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，一步一步写清楚环境该怎么装起来。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666750" y="5181600"/>
            <a:ext cx="6667500" cy="5715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838200" y="5219700"/>
            <a:ext cx="6324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这三个文件都可以让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 AI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生成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 ——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但你必须逐行看懂。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838200" y="5505450"/>
            <a:ext cx="6324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因为部署报错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90%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出在配置文件里。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7905750" y="971550"/>
            <a:ext cx="3905250" cy="49720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73" name=""/>
          <p:cNvSpPr/>
          <p:nvPr/>
        </p:nvSpPr>
        <p:spPr>
          <a:xfrm rot="0" flipH="0" flipV="0">
            <a:off x="7905750" y="914400"/>
            <a:ext cx="3905250" cy="5029200"/>
          </a:xfrm>
          <a:custGeom>
            <a:pathLst>
              <a:path w="410" h="528">
                <a:moveTo>
                  <a:pt x="0" y="0"/>
                </a:moveTo>
                <a:lnTo>
                  <a:pt x="410" y="0"/>
                </a:lnTo>
                <a:lnTo>
                  <a:pt x="410" y="6"/>
                </a:lnTo>
                <a:lnTo>
                  <a:pt x="0" y="6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8134350" y="1200150"/>
            <a:ext cx="3448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3D7BD9"/>
                </a:solidFill>
                <a:latin typeface="Microsoft YaHei"/>
                <a:ea typeface="Microsoft YaHei"/>
              </a:rPr>
              <a:t>OUR PROJECT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8134350" y="1495425"/>
            <a:ext cx="3448050" cy="4286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1A2230"/>
                </a:solidFill>
                <a:latin typeface="Microsoft YaHei"/>
                <a:ea typeface="Microsoft YaHei"/>
              </a:rPr>
              <a:t>三个容器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8134350" y="2057400"/>
            <a:ext cx="1085850" cy="381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8486775" y="213360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前端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9315450" y="2057400"/>
            <a:ext cx="1085850" cy="381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9667875" y="213360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后端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10496550" y="2057400"/>
            <a:ext cx="1085850" cy="381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10753725" y="2133600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数据库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8134350" y="2571750"/>
            <a:ext cx="344805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三个容器不一个个启动，用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docker-compose.yml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一个文件统一管理。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8134350" y="3390900"/>
            <a:ext cx="3448050" cy="201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84" name=""/>
          <p:cNvSpPr/>
          <p:nvPr/>
        </p:nvSpPr>
        <p:spPr>
          <a:xfrm rot="0" flipH="0" flipV="0">
            <a:off x="8134350" y="5543550"/>
            <a:ext cx="3448050" cy="419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9163050" y="5629275"/>
            <a:ext cx="1400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一条命令全启动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05 / 15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8134350" y="3467100"/>
            <a:ext cx="3448050" cy="2066925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9" name=""/>
          <p:cNvSpPr txBox="1"/>
          <p:nvPr/>
        </p:nvSpPr>
        <p:spPr>
          <a:xfrm rot="0" flipH="0" flipV="0">
            <a:off x="8286750" y="3600450"/>
            <a:ext cx="3143250" cy="1800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docker-compose.yml 统一管理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F42C1"/>
                </a:solidFill>
                <a:latin typeface="Menlo"/>
                <a:ea typeface="Menlo"/>
              </a:rPr>
              <a:t>services: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050">
                <a:solidFill>
                  <a:srgbClr val="6F42C1"/>
                </a:solidFill>
                <a:latin typeface="Menlo"/>
                <a:ea typeface="Menlo"/>
              </a:rPr>
              <a:t>web: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前端容器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050">
                <a:solidFill>
                  <a:srgbClr val="6F42C1"/>
                </a:solidFill>
                <a:latin typeface="Menlo"/>
                <a:ea typeface="Menlo"/>
              </a:rPr>
              <a:t>api: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后端容器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050">
                <a:solidFill>
                  <a:srgbClr val="6F42C1"/>
                </a:solidFill>
                <a:latin typeface="Menlo"/>
                <a:ea typeface="Menlo"/>
              </a:rPr>
              <a:t>db: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数据库 + SQLite 卷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一条命令全部启动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F42C1"/>
                </a:solidFill>
                <a:latin typeface="Menlo"/>
                <a:ea typeface="Menlo"/>
              </a:rPr>
              <a:t>docker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compose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up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90" name="" descr="&lt;Slide&#10;  notes={`今天的三件套，一句一个。&#10;&#10;Docker，把环境打包，解决环境不一致。&#10;&#10;云平台，把服务挂上去，让别人有地址可以访问。&#10;&#10;GitHub Actions，让发布自动化，以后推代码就自动跑测试、自动部署。&#10;&#10;先给各位打个预防针：部署是这门课最脏活累活的一课，报错会很多。但也正因为如此，它是最能体现 AI 价值的一课——大部分报错，丢给 AI 就能处理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本课要点 · 部署三件套&lt;/Text&gt;&#10;    &lt;Text style={{ fontSize: 16, color: '#C9D9F2' }}&gt;医院信息系统实验 · 第 9 课&lt;/Text&gt;&#10;  &lt;/Box&gt;&#10;&#10;  &lt;Box style={{ width: '1280px', height: '552px', padding: '24px 40px 0px 40px' }}&gt;&#10;    &lt;Box style={{ height: '470px', flexDirection: 'row', gap: 24 }}&gt;&#10;      &lt;Box style={{ flex: 1, background: '#FFFFFF', border: '1px solid #D6DCE5', borderTop: '6px solid #1E4FA8', padding: '24px 22px', justifyContent: 'space-between' }}&gt;&#10;        &lt;Box style={{ gap: 12 }}&gt;&#10;          &lt;Text style={{ fontSize: 48, color: '#1E4FA8', fontWeight: 'bold', lineHeight: 1 }}&gt;01&lt;/Text&gt;&#10;          &lt;svg width={64} height={64} viewBox='0 0 64 64'&gt;&#10;            &lt;rect x='10' y='30' width='13' height='13' rx='2' fill='#1E4FA8' /&gt;&#10;            &lt;rect x='26' y='30' width='13' height='13' rx='2' fill='#3D7BD9' /&gt;&#10;            &lt;rect x='42' y='30' width='13' height='13' rx='2' fill='#1E4FA8' /&gt;&#10;            &lt;rect x='26' y='14' width='13' height='13' rx='2' fill='#3D7BD9' /&gt;&#10;            &lt;rect x='16' y='46' width='35' height='10' rx='3' fill='#1E4FA8' /&gt;&#10;          &lt;/svg&gt;&#10;          &lt;Text style={{ fontSize: 27, color: '#1A2230', fontWeight: 'bold', lineHeight: 1.3 }}&gt;Docker&lt;br /&gt;把环境打包&lt;/Text&gt;&#10;          &lt;Text style={{ fontSize: 21, color: '#4A5568', lineHeight: 1.5 }}&gt;&#10;            环境和代码&lt;span style={{ fontWeight: 'bold', color: '#1E4FA8' }}&gt;一起封进镜像&lt;/span&gt;，镜像在哪台机器上运行的结果都一样。&#10;          &lt;/Text&gt;&#10;        &lt;/Box&gt;&#10;        &lt;Box style={{ background: '#E8EFF8', padding: '10px 14px' }}&gt;&#10;          &lt;Text style={{ fontSize: 20, color: '#1E4FA8', fontWeight: 'bold' }}&gt;→ 解决&quot;我电脑能跑&quot;&lt;/Text&gt;&#10;        &lt;/Box&gt;&#10;      &lt;/Box&gt;&#10;&#10;      &lt;Box style={{ flex: 1, background: '#FFFFFF', border: '1px solid #D6DCE5', borderTop: '6px solid #3D7BD9', padding: '24px 22px', justifyContent: 'space-between' }}&gt;&#10;        &lt;Box style={{ gap: 12 }}&gt;&#10;          &lt;Text style={{ fontSize: 48, color: '#3D7BD9', fontWeight: 'bold', lineHeight: 1 }}&gt;02&lt;/Text&gt;&#10;          &lt;svg width={64} height={64} viewBox='0 0 64 64'&gt;&#10;            &lt;path d='M20 40 a9 9 0 0 1 1-18 a13 13 0 0 1 25 3 a8 8 0 0 1 -1 15 Z' fill='#E8EFF8' stroke='#3D7BD9' strokeWidth='3' /&gt;&#10;            &lt;line x1='33' y1='58' x2='33' y2='42' stroke='#1E4FA8' strokeWidth='4' strokeLinecap='round' /&gt;&#10;            &lt;path d='M25 49 L33 41 L41 49' fill='none' stroke='#1E4FA8' strokeWidth='4' strokeLinecap='round' strokeLinejoin='round' /&gt;&#10;          &lt;/svg&gt;&#10;          &lt;Text style={{ fontSize: 27, color: '#1A2230', fontWeight: 'bold', lineHeight: 1.3 }}&gt;云平台&lt;br /&gt;把服务挂上去&lt;/Text&gt;&#10;          &lt;Text style={{ fontSize: 21, color: '#4A5568', lineHeight: 1.5 }}&gt;&#10;            代码推到 GitHub，云平台&lt;span style={{ fontWeight: 'bold', color: '#1A2230' }}&gt;关联仓库自动构建&lt;/span&gt;，给你一个 HTTPS 地址。&#10;          &lt;/Text&gt;&#10;        &lt;/Box&gt;&#10;        &lt;Box style={{ background: '#E8EFF8', padding: '10px 14px' }}&gt;&#10;          &lt;Text style={{ fontSize: 20, color: '#1E4FA8', fontWeight: 'bold' }}&gt;→ 让别人有地址可访问&lt;/Text&gt;&#10;        &lt;/Box&gt;&#10;      &lt;/Box&gt;&#10;&#10;      &lt;Box style={{ flex: 1, background: '#FFFFFF', border: '1px solid #D6DCE5', borderTop: '6px solid #FFC107', padding: '24px 22px', justifyContent: 'space-between' }}&gt;&#10;        &lt;Box style={{ gap: 12 }}&gt;&#10;          &lt;Text style={{ fontSize: 48, color: '#FFC107', fontWeight: 'bold', lineHeight: 1 }}&gt;03&lt;/Text&gt;&#10;          &lt;svg width={64} height={64} viewBox='0 0 64 64'&gt;&#10;            &lt;path d='M14 34 a18 18 0 0 1 30 -13' fill='none' stroke='#3D7BD9' strokeWidth='4' strokeLinecap='round' /&gt;&#10;            &lt;path d='M50 30 a18 18 0 0 1 -30 13' fill='none' stroke='#1E4FA8' strokeWidth='4' strokeLinecap='round' /&gt;&#10;            &lt;path d='M44 11 L54 21 L41 24 Z' fill='#3D7BD9' /&gt;&#10;            &lt;path d='M20 53 L10 43 L23 40 Z' fill='#1E4FA8' /&gt;&#10;            &lt;circle cx='32' cy='34' r='6' fill='#FFC107' /&gt;&#10;          &lt;/svg&gt;&#10;          &lt;Text style={{ fontSize: 27, color: '#1A2230', fontWeight: 'bold', lineHeight: 1.3 }}&gt;GitHub Actions&lt;br /&gt;让发布自动化&lt;/Text&gt;&#10;          &lt;Text style={{ fontSize: 21, color: '#4A5568', lineHeight: 1.5 }}&gt;&#10;            &lt;span style={{ fontWeight: 'bold', color: '#1A2230' }}&gt;每次 push 自动跑测试&lt;/span&gt;，测试通过自动部署，不用你手动点。&#10;          &lt;/Text&gt;&#10;        &lt;/Box&gt;&#10;        &lt;Box style={{ background: '#FFF8E1', padding: '10px 14px' }}&gt;&#10;          &lt;Text style={{ fontSize: 20, color: '#B7860B', fontWeight: 'bold' }}&gt;→ 推送即验证、即部署&lt;/Text&gt;&#10;        &lt;/Box&gt;&#10;      &lt;/Box&gt;&#10;    &lt;/Box&gt;&#10;&#10;    &lt;Box style={{ height: '12px' }} /&gt;&#10;&#10;    &lt;Box style={{ height: '46px', background: '#1E4FA8', flexDirection: 'row', alignItems: 'center', padding: '0px 20px', gap: 12 }}&gt;&#10;      &lt;Box style={{ width: 6, height: 6, background: '#FFC107' }} /&gt;&#10;      &lt;Text style={{ fontSize: 22, color: '#FFFFFF', fontWeight: 'bold' }}&gt;部署是最脏活累活的一课，但也是最能体现 AI 价值的一课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6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2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1914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本课要点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部署三件套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9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381000" y="971550"/>
            <a:ext cx="3657600" cy="44767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6" name=""/>
          <p:cNvSpPr/>
          <p:nvPr/>
        </p:nvSpPr>
        <p:spPr>
          <a:xfrm rot="0" flipH="0" flipV="0">
            <a:off x="381000" y="914400"/>
            <a:ext cx="3657600" cy="4533900"/>
          </a:xfrm>
          <a:custGeom>
            <a:pathLst>
              <a:path w="384" h="476">
                <a:moveTo>
                  <a:pt x="0" y="0"/>
                </a:moveTo>
                <a:lnTo>
                  <a:pt x="384" y="0"/>
                </a:lnTo>
                <a:lnTo>
                  <a:pt x="384" y="6"/>
                </a:lnTo>
                <a:lnTo>
                  <a:pt x="0" y="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590550" y="1200150"/>
            <a:ext cx="3238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1E4FA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pic>
        <p:nvPicPr>
          <p:cNvPr id="29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90550" y="1866900"/>
            <a:ext cx="609600" cy="609600"/>
          </a:xfrm>
          <a:prstGeom prst="rect">
            <a:avLst/>
          </a:prstGeom>
          <a:ln/>
        </p:spPr>
      </p:pic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590550" y="2590800"/>
            <a:ext cx="3238500" cy="8096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025" b="1">
                <a:solidFill>
                  <a:srgbClr val="1A2230"/>
                </a:solidFill>
                <a:latin typeface="Microsoft YaHei"/>
                <a:ea typeface="Microsoft YaHei"/>
              </a:rPr>
              <a:t>Docker</a:t>
            </a:r>
            <a:endParaRPr/>
          </a:p>
          <a:p>
            <a:pPr>
              <a:lnSpc>
                <a:spcPct val="130000"/>
              </a:lnSpc>
            </a:pPr>
            <a:r>
              <a:rPr lang="zh-CN" sz="2025" b="1">
                <a:solidFill>
                  <a:srgbClr val="1A2230"/>
                </a:solidFill>
                <a:latin typeface="Microsoft YaHei"/>
                <a:ea typeface="Microsoft YaHei"/>
              </a:rPr>
              <a:t>把环境打包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590550" y="3514725"/>
            <a:ext cx="32385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环境和代码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一起封进镜像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，镜像在哪台机器上运行的结果都一样。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590550" y="4743450"/>
            <a:ext cx="3238500" cy="4191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723900" y="483870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→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解决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我电脑能跑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4267200" y="971550"/>
            <a:ext cx="3657600" cy="44767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4" name=""/>
          <p:cNvSpPr/>
          <p:nvPr/>
        </p:nvSpPr>
        <p:spPr>
          <a:xfrm rot="0" flipH="0" flipV="0">
            <a:off x="4267200" y="914400"/>
            <a:ext cx="3657600" cy="4533900"/>
          </a:xfrm>
          <a:custGeom>
            <a:pathLst>
              <a:path w="384" h="476">
                <a:moveTo>
                  <a:pt x="0" y="0"/>
                </a:moveTo>
                <a:lnTo>
                  <a:pt x="384" y="0"/>
                </a:lnTo>
                <a:lnTo>
                  <a:pt x="384" y="6"/>
                </a:lnTo>
                <a:lnTo>
                  <a:pt x="0" y="6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4476750" y="1200150"/>
            <a:ext cx="3238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3D7BD9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pic>
        <p:nvPicPr>
          <p:cNvPr id="3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476750" y="1866900"/>
            <a:ext cx="609600" cy="609600"/>
          </a:xfrm>
          <a:prstGeom prst="rect">
            <a:avLst/>
          </a:prstGeom>
          <a:ln/>
        </p:spPr>
      </p:pic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4476750" y="2590800"/>
            <a:ext cx="3238500" cy="8096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025" b="1">
                <a:solidFill>
                  <a:srgbClr val="1A2230"/>
                </a:solidFill>
                <a:latin typeface="Microsoft YaHei"/>
                <a:ea typeface="Microsoft YaHei"/>
              </a:rPr>
              <a:t>云平台</a:t>
            </a:r>
            <a:endParaRPr/>
          </a:p>
          <a:p>
            <a:pPr>
              <a:lnSpc>
                <a:spcPct val="130000"/>
              </a:lnSpc>
            </a:pPr>
            <a:r>
              <a:rPr lang="zh-CN" sz="2025" b="1">
                <a:solidFill>
                  <a:srgbClr val="1A2230"/>
                </a:solidFill>
                <a:latin typeface="Microsoft YaHei"/>
                <a:ea typeface="Microsoft YaHei"/>
              </a:rPr>
              <a:t>把服务挂上去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4476750" y="3514725"/>
            <a:ext cx="32385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代码推到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GitHub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，云平台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关联仓库自动构建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，给你一个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HTTPS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地址。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4476750" y="4743450"/>
            <a:ext cx="3238500" cy="4191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4610100" y="483870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→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让别人有地址可访问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8153400" y="971550"/>
            <a:ext cx="3657600" cy="44767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2" name=""/>
          <p:cNvSpPr/>
          <p:nvPr/>
        </p:nvSpPr>
        <p:spPr>
          <a:xfrm rot="0" flipH="0" flipV="0">
            <a:off x="8153400" y="914400"/>
            <a:ext cx="3657600" cy="4533900"/>
          </a:xfrm>
          <a:custGeom>
            <a:pathLst>
              <a:path w="384" h="476">
                <a:moveTo>
                  <a:pt x="0" y="0"/>
                </a:moveTo>
                <a:lnTo>
                  <a:pt x="384" y="0"/>
                </a:lnTo>
                <a:lnTo>
                  <a:pt x="384" y="6"/>
                </a:lnTo>
                <a:lnTo>
                  <a:pt x="0" y="6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8362950" y="1200150"/>
            <a:ext cx="3238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FFC107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pic>
        <p:nvPicPr>
          <p:cNvPr id="3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362950" y="1866900"/>
            <a:ext cx="609600" cy="609600"/>
          </a:xfrm>
          <a:prstGeom prst="rect">
            <a:avLst/>
          </a:prstGeom>
          <a:ln/>
        </p:spPr>
      </p:pic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8362950" y="2590800"/>
            <a:ext cx="3238500" cy="8096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025" b="1">
                <a:solidFill>
                  <a:srgbClr val="1A2230"/>
                </a:solidFill>
                <a:latin typeface="Microsoft YaHei"/>
                <a:ea typeface="Microsoft YaHei"/>
              </a:rPr>
              <a:t>GitHub Actions</a:t>
            </a:r>
            <a:endParaRPr/>
          </a:p>
          <a:p>
            <a:pPr>
              <a:lnSpc>
                <a:spcPct val="130000"/>
              </a:lnSpc>
            </a:pPr>
            <a:r>
              <a:rPr lang="zh-CN" sz="2025" b="1">
                <a:solidFill>
                  <a:srgbClr val="1A2230"/>
                </a:solidFill>
                <a:latin typeface="Microsoft YaHei"/>
                <a:ea typeface="Microsoft YaHei"/>
              </a:rPr>
              <a:t>让发布自动化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8362950" y="3514725"/>
            <a:ext cx="32385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每次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 push 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自动跑测试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，测试通过自动部署，不用你手动点。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8362950" y="4743450"/>
            <a:ext cx="3238500" cy="41910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8496300" y="483870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B7860B"/>
                </a:solidFill>
                <a:latin typeface="Microsoft YaHei"/>
                <a:ea typeface="Microsoft YaHei"/>
              </a:rPr>
              <a:t>→ </a:t>
            </a:r>
            <a:r>
              <a:rPr lang="zh-CN" sz="1500" b="1">
                <a:solidFill>
                  <a:srgbClr val="B7860B"/>
                </a:solidFill>
                <a:latin typeface="Microsoft YaHei"/>
                <a:ea typeface="Microsoft YaHei"/>
              </a:rPr>
              <a:t>推送即验证、即部署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381000" y="5505450"/>
            <a:ext cx="11430000" cy="4381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0" name=""/>
          <p:cNvSpPr/>
          <p:nvPr/>
        </p:nvSpPr>
        <p:spPr>
          <a:xfrm rot="0" flipH="0" flipV="0">
            <a:off x="571500" y="5695950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742950" y="5600700"/>
            <a:ext cx="5391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部署是最脏活累活的一课，但也是最能体现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AI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价值的一课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06 / 15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324" name="" descr="&lt;Slide&#10;  notes={`第二段，讲云部署和自动化。&#10;&#10;不管你用哪个平台，流程都是同一个套路：把代码推到 GitHub，云平台关联这个仓库，配置构建命令和环境变量，然后自动部署。&#10;&#10;这里有一个关键操作我要单独强调——环境变量。数据库连接串、JWT 密钥这些，绝不能写进代码仓库，要填在云平台的后台配置里。&#10;&#10;记住一句话：密钥进仓库，等于钥匙贴门口。`}&#10;  style={{ width: '1280px', height: '720px', background: '#F7F9FC', padding: '0px' }}&#10;&gt;&#10;  &lt;Box style={{ width: '1280px', height: '720px', flexDirection: 'row', padding: '64px 40px', gap: 48 }}&gt;&#10;    &lt;Box style={{ width: '420px', height: '592px', justifyContent: 'center', gap: 8 }}&gt;&#10;      &lt;Text style={{ fontSize: 240, color: '#0E3F8C', fontWeight: 'bold', lineHeight: 1 }}&gt;02&lt;/Text&gt;&#10;      &lt;Box style={{ width: 120, height: 6, background: '#FFC107' }} /&gt;&#10;    &lt;/Box&gt;&#10;&#10;    &lt;Box style={{ width: '732px', height: '592px', justifyContent: 'center', gap: 28 }}&gt;&#10;      &lt;Box style={{ gap: 14 }}&gt;&#10;        &lt;Text style={{ fontSize: 20, color: '#3D7BD9', fontWeight: 'bold', letterSpacing: 2 }}&gt;CLOUD &amp;amp; CI/CD · 挂上去、自动化&lt;/Text&gt;&#10;        &lt;Text style={{ fontSize: 56, color: '#1A2230', fontWeight: 'bold', lineHeight: 1.25 }}&gt;云部署与自动化&lt;/Text&gt;&#10;        &lt;Text style={{ fontSize: 34, color: '#1E4FA8', fontWeight: 'bold', lineHeight: 1.4 }}&gt;密钥进仓库，等于钥匙贴门口。&lt;/Text&gt;&#10;      &lt;/Box&gt;&#10;&#10;      &lt;Box style={{ width: '732px', height: 2, background: '#D6DCE5' }} /&gt;&#10;&#10;      &lt;Box style={{ gap: 16 }}&gt;&#10;        &lt;Box style={{ flexDirection: 'row', alignItems: 'flex-start', gap: 14 }}&gt;&#10;          &lt;Box style={{ width: 10, height: 10, background: '#1E4FA8', marginTop: 12 }} /&gt;&#10;          &lt;Text style={{ fontSize: 23, color: '#1A2230', lineHeight: 1.5 }}&gt;同一套流程 · 推代码 → 关联仓库 → 配置 → 自动部署&lt;/Text&gt;&#10;        &lt;/Box&gt;&#10;        &lt;Box style={{ flexDirection: 'row', alignItems: 'flex-start', gap: 14 }}&gt;&#10;          &lt;Box style={{ width: 10, height: 10, background: '#3D7BD9', marginTop: 12 }} /&gt;&#10;          &lt;Text style={{ fontSize: 23, color: '#1A2230', lineHeight: 1.5 }}&gt;关键操作 · 密钥填云平台后台，不写进代码仓库&lt;/Text&gt;&#10;        &lt;/Box&gt;&#10;        &lt;Box style={{ flexDirection: 'row', alignItems: 'flex-start', gap: 14 }}&gt;&#10;          &lt;Box style={{ width: 10, height: 10, background: '#D9534F', marginTop: 12 }} /&gt;&#10;          &lt;Text style={{ fontSize: 23, color: '#1A2230', lineHeight: 1.5 }}&gt;免费层的现实 · 冷启动慢、可能休眠，演示前要预热&lt;/Text&gt;&#10;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381000" y="1990725"/>
            <a:ext cx="400050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0E3F8C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381000" y="4810125"/>
            <a:ext cx="11430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4838700" y="1476375"/>
            <a:ext cx="697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3D7BD9"/>
                </a:solidFill>
                <a:latin typeface="Microsoft YaHei"/>
                <a:ea typeface="Microsoft YaHei"/>
              </a:rPr>
              <a:t>CLOUD &amp; CI/CD · </a:t>
            </a:r>
            <a:r>
              <a:rPr lang="zh-CN" sz="1500" b="1" spc="150">
                <a:solidFill>
                  <a:srgbClr val="3D7BD9"/>
                </a:solidFill>
                <a:latin typeface="Microsoft YaHei"/>
                <a:ea typeface="Microsoft YaHei"/>
              </a:rPr>
              <a:t>挂上去、自动化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4838700" y="1838325"/>
            <a:ext cx="6972300" cy="8001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1A2230"/>
                </a:solidFill>
                <a:latin typeface="Microsoft YaHei"/>
                <a:ea typeface="Microsoft YaHei"/>
              </a:rPr>
              <a:t>云部署与自动化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4838700" y="2771775"/>
            <a:ext cx="6972300" cy="552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密钥进仓库，等于钥匙贴门口。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4838700" y="3590925"/>
            <a:ext cx="69723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332" name=""/>
          <p:cNvSpPr/>
          <p:nvPr/>
        </p:nvSpPr>
        <p:spPr>
          <a:xfrm rot="0" flipH="0" flipV="0">
            <a:off x="4838700" y="399097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5067300" y="3876675"/>
            <a:ext cx="5172075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同一套流程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推代码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关联仓库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配置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自动部署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4838700" y="4543425"/>
            <a:ext cx="95250" cy="952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5067300" y="4429125"/>
            <a:ext cx="45720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关键操作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密钥填云平台后台，不写进代码仓库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4838700" y="5095875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5067300" y="4981575"/>
            <a:ext cx="501015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免费层的现实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冷启动慢、可能休眠，演示前要预热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38" name="" descr="&lt;Slide&#10;  notes={`具体怎么做？四步，所有平台都一样。&#10;&#10;第一步，把代码推到 GitHub。&#10;&#10;第二步，云平台关联这个仓库。&#10;&#10;第三步，配置构建命令和环境变量。&#10;&#10;第四步，等它自动部署，拿到 HTTPS 地址。&#10;&#10;环境变量这一块再强调一遍：本地用 .env 文件，但 .env 绝不进仓库，只提交 .env.example，里面只有变量名没有值。免费层方案是前端放 Vercel、后端放 Render、数据库先用 SQLite，或者升级到免费的 PostgreSQL 实例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2 云部署与 CI/CD · 部署四步套路&lt;/Text&gt;&#10;    &lt;Text style={{ fontSize: 16, color: '#C9D9F2' }}&gt;医院信息系统实验 · 第 9 课&lt;/Text&gt;&#10;  &lt;/Box&gt;&#10;&#10;  &lt;Box style={{ width: '1280px', height: '552px', padding: '24px 40px 0px 40px' }}&gt;&#10;    &lt;Box style={{ height: '470px', flexDirection: 'row', gap: 30 }}&gt;&#10;      &lt;Box style={{ width: '360px', height: '470px', background: '#0E3F8C', padding: '30px 28px', justifyContent: 'space-between' }}&gt;&#10;        &lt;Box style={{ gap: 14 }}&gt;&#10;          &lt;Text style={{ fontSize: 17, color: '#7FA3D6', letterSpacing: 2 }}&gt;DEPLOY FLOW&lt;/Text&gt;&#10;          &lt;Text style={{ fontSize: 44, color: '#FFFFFF', fontWeight: 'bold', lineHeight: 1.2 }}&gt;部署四步&lt;br /&gt;套路&lt;/Text&gt;&#10;          &lt;Box style={{ width: 80, height: 5, background: '#FFC107' }} /&gt;&#10;        &lt;/Box&gt;&#10;        &lt;Text style={{ fontSize: 22, color: '#C9D9F2', lineHeight: 1.6 }}&gt;&#10;          换平台不改套路：推代码、关联仓库、配置、部署，四步走完就拿到公网地址。&#10;        &lt;/Text&gt;&#10;        &lt;Box style={{ gap: 8 }}&gt;&#10;          &lt;Box style={{ height: 1, background: '#3D7BD9' }} /&gt;&#10;          &lt;Text style={{ fontSize: 20, color: '#8FAED8' }}&gt;密钥填云平台后台，不进仓库&lt;/Text&gt;&#10;        &lt;/Box&gt;&#10;      &lt;/Box&gt;&#10;&#10;      &lt;Box style={{ width: '810px', height: '470px' }}&gt;&#10;        &lt;Box style={{ height: '210px', justifyContent: 'space-between' }}&gt;&#10;          &lt;Box style={{ flexDirection: 'row', alignItems: 'center', gap: 14, height: '36px' }}&gt;&#10;            &lt;Box style={{ width: 30, height: 30, background: '#1E4FA8', alignItems: 'center', justifyContent: 'center' }}&gt;&#10;              &lt;Text style={{ fontSize: 17, color: '#FFFFFF', fontWeight: 'bold' }}&gt;1&lt;/Text&gt;&#10;            &lt;/Box&gt;&#10;            &lt;Text style={{ fontSize: 22, color: '#1A2230', lineHeight: 1.4 }}&gt;代码推到 GitHub，保证仓库里是能跑的完整版本&lt;/Text&gt;&#10;          &lt;/Box&gt;&#10;          &lt;Box style={{ flexDirection: 'row', alignItems: 'center', gap: 14, height: '36px' }}&gt;&#10;            &lt;Box style={{ width: 30, height: 30, background: '#1E4FA8', alignItems: 'center', justifyContent: 'center' }}&gt;&#10;              &lt;Text style={{ fontSize: 17, color: '#FFFFFF', fontWeight: 'bold' }}&gt;2&lt;/Text&gt;&#10;            &lt;/Box&gt;&#10;            &lt;Text style={{ fontSize: 22, color: '#1A2230', lineHeight: 1.4 }}&gt;云平台关联仓库：Vercel 挂前端，Render 挂后端&lt;/Text&gt;&#10;          &lt;/Box&gt;&#10;          &lt;Box style={{ flexDirection: 'row', alignItems: 'center', gap: 14, height: '36px' }}&gt;&#10;            &lt;Box style={{ width: 30, height: 30, background: '#D9534F', alignItems: 'center', justifyContent: 'center' }}&gt;&#10;              &lt;Text style={{ fontSize: 17, color: '#FFFFFF', fontWeight: 'bold' }}&gt;3&lt;/Text&gt;&#10;            &lt;/Box&gt;&#10;            &lt;Text style={{ fontSize: 22, color: '#1A2230', lineHeight: 1.4 }}&gt;配置构建命令与环境变量（数据库连接串、JWT 密钥）&lt;/Text&gt;&#10;          &lt;/Box&gt;&#10;          &lt;Box style={{ flexDirection: 'row', alignItems: 'center', gap: 14, height: '36px' }}&gt;&#10;            &lt;Box style={{ width: 30, height: 30, background: '#1E4FA8', alignItems: 'center', justifyContent: 'center' }}&gt;&#10;              &lt;Text style={{ fontSize: 17, color: '#FFFFFF', fontWeight: 'bold' }}&gt;4&lt;/Text&gt;&#10;            &lt;/Box&gt;&#10;            &lt;Text style={{ fontSize: 22, color: '#1A2230', lineHeight: 1.4 }}&gt;自动部署，拿到 HTTPS 公网地址，手机访问验证&lt;/Text&gt;&#10;          &lt;/Box&gt;&#10;        &lt;/Box&gt;&#10;&#10;        &lt;Box style={{ height: '10px' }} /&gt;&#10;&#10;        &lt;Box style={{ height: '250px', background: '#F7F9FC', border: '1px solid #D6DCE5', padding: '12px 14px' }}&gt;&#10;          &lt;CodeBlock&#10;            code={`# .env 规则：真实密钥绝不进仓库&#10;.env            # 本地真实值，加进 .gitignore&#10;.env.example    # 只提交变量名，没有值&#10;&#10;# .env.example —— 提交到仓库的模板&#10;DATABASE_URL=&#10;JWT_SECRET=&#10;API_BASE_URL=`}&#10;            language='bash'&#10;            width={778}&#10;            fontSize={14}&#10;            theme='github-light'&#10;            background='#FFFFFF'&#10;          /&gt;&#10;        &lt;/Box&gt;&#10;      &lt;/Box&gt;&#10;    &lt;/Box&gt;&#10;&#10;    &lt;Box style={{ height: '14px' }} /&gt;&#10;&#10;    &lt;Box style={{ height: '44px', background: '#1E4FA8', flexDirection: 'row', alignItems: 'center', padding: '0px 20px', gap: 12 }}&gt;&#10;      &lt;Box style={{ width: 6, height: 6, background: '#FFC107' }} /&gt;&#10;      &lt;Text style={{ fontSize: 22, color: '#FFFFFF', fontWeight: 'bold' }}&gt;免费层方案：前端 Vercel · 后端 Render · 数据库 SQLite 或免费 PostgreSQL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8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3019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云部署与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CI/CD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部署四步套路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9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381000" y="914400"/>
            <a:ext cx="3429000" cy="44767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647700" y="1200150"/>
            <a:ext cx="289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7FA3D6"/>
                </a:solidFill>
                <a:latin typeface="Microsoft YaHei"/>
                <a:ea typeface="Microsoft YaHei"/>
              </a:rPr>
              <a:t>DEPLOY FLOW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647700" y="1533525"/>
            <a:ext cx="2895600" cy="1209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300" b="1">
                <a:solidFill>
                  <a:srgbClr val="FFFFFF"/>
                </a:solidFill>
                <a:latin typeface="Microsoft YaHei"/>
                <a:ea typeface="Microsoft YaHei"/>
              </a:rPr>
              <a:t>部署四步</a:t>
            </a:r>
            <a:endParaRPr/>
          </a:p>
          <a:p>
            <a:pPr>
              <a:lnSpc>
                <a:spcPct val="120000"/>
              </a:lnSpc>
            </a:pPr>
            <a:r>
              <a:rPr lang="zh-CN" sz="3300" b="1">
                <a:solidFill>
                  <a:srgbClr val="FFFFFF"/>
                </a:solidFill>
                <a:latin typeface="Microsoft YaHei"/>
                <a:ea typeface="Microsoft YaHei"/>
              </a:rPr>
              <a:t>套路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647700" y="2876550"/>
            <a:ext cx="7620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647700" y="3257550"/>
            <a:ext cx="2895600" cy="1209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C9D9F2"/>
                </a:solidFill>
                <a:latin typeface="Microsoft YaHei"/>
                <a:ea typeface="Microsoft YaHei"/>
              </a:rPr>
              <a:t>换平台不改套路：推代码、关联仓库、配置、部署，四步走完就拿到公网地址。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647700" y="4791075"/>
            <a:ext cx="2895600" cy="952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647700" y="4876800"/>
            <a:ext cx="289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FAED8"/>
                </a:solidFill>
                <a:latin typeface="Microsoft YaHei"/>
                <a:ea typeface="Microsoft YaHei"/>
              </a:rPr>
              <a:t>密钥填云平台后台，不进仓库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4095750" y="942975"/>
            <a:ext cx="285750" cy="2857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4191000" y="99060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4514850" y="914400"/>
            <a:ext cx="455295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代码推到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GitHub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，保证仓库里是能跑的完整版本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4095750" y="1495425"/>
            <a:ext cx="285750" cy="2857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4191000" y="154305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4514850" y="1466850"/>
            <a:ext cx="459105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云平台关联仓库：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Vercel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挂前端，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Render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挂后端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4095750" y="2047875"/>
            <a:ext cx="285750" cy="2857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4191000" y="209550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4514850" y="2019300"/>
            <a:ext cx="5095875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配置构建命令与环境变量（数据库连接串、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JWT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密钥）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4095750" y="2600325"/>
            <a:ext cx="285750" cy="2857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4191000" y="264795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4514850" y="2571750"/>
            <a:ext cx="455295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自动部署，拿到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HTTPS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公网地址，手机访问验证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4095750" y="3009900"/>
            <a:ext cx="7715250" cy="23812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63" name=""/>
          <p:cNvSpPr/>
          <p:nvPr/>
        </p:nvSpPr>
        <p:spPr>
          <a:xfrm rot="0" flipH="0" flipV="0">
            <a:off x="381000" y="5524500"/>
            <a:ext cx="11430000" cy="419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4" name=""/>
          <p:cNvSpPr/>
          <p:nvPr/>
        </p:nvSpPr>
        <p:spPr>
          <a:xfrm rot="0" flipH="0" flipV="0">
            <a:off x="571500" y="5705475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742950" y="5610225"/>
            <a:ext cx="7391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免费层方案：前端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Vercel ·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后端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Render ·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数据库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SQLite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或免费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PostgreSQL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08 / 15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4229100" y="3124200"/>
            <a:ext cx="7448550" cy="2066925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9" name=""/>
          <p:cNvSpPr txBox="1"/>
          <p:nvPr/>
        </p:nvSpPr>
        <p:spPr>
          <a:xfrm rot="0" flipH="0" flipV="0">
            <a:off x="4381500" y="3257550"/>
            <a:ext cx="7143750" cy="1800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.env 规则：真实密钥绝不进仓库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F42C1"/>
                </a:solidFill>
                <a:latin typeface="Menlo"/>
                <a:ea typeface="Menlo"/>
              </a:rPr>
              <a:t>.env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     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本地真实值，加进 .gitignore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F42C1"/>
                </a:solidFill>
                <a:latin typeface="Menlo"/>
                <a:ea typeface="Menlo"/>
              </a:rPr>
              <a:t>.env.example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只提交变量名，没有值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.env.example —— 提交到仓库的模板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DATABASE_URL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=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JWT_SECRET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=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API_BASE_URL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=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70" name="" descr="&lt;Slide&#10;  notes={`最后是自动化，用 GitHub Actions。&#10;&#10;写一个工作流文件 .github/workflows/ci.yml，实现三件事：每次 push 代码，自动跑测试；测试通过，自动部署；测试挂了，直接拦截。&#10;&#10;好处是，以后任何人提交代码，系统都会自动验证一遍，测试不通过的代码根本进不了生产。&#10;&#10;这就是&quot;持续集成&quot;的入门形态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2 云部署与 CI/CD · 自动化流水线&lt;/Text&gt;&#10;    &lt;Text style={{ fontSize: 16, color: '#C9D9F2' }}&gt;医院信息系统实验 · 第 9 课&lt;/Text&gt;&#10;  &lt;/Box&gt;&#10;&#10;  &lt;Box style={{ width: '1280px', height: '552px', padding: '24px 40px 0px 40px' }}&gt;&#10;    &lt;svg width={1200} height={340} viewBox='0 0 1200 340'&gt;&#10;      &lt;text x='20' y='46' font-size='19' fill='#8B97A8'&gt;CI/CD 流水线 · Continuous Integration / Continuous Deployment&lt;/text&gt;&#10;&#10;      &lt;rect x='20' y='125' width='210' height='90' rx='10' fill='#F7F9FC' stroke='#D6DCE5' strokeWidth='2' /&gt;&#10;      &lt;rect x='20' y='125' width='210' height='6' rx='3' fill='#3D7BD9' /&gt;&#10;      &lt;text x='125' y='163' text-anchor='middle' font-size='25' font-weight='bold' fill='#1A2230'&gt;push 代码&lt;/text&gt;&#10;      &lt;text x='125' y='193' text-anchor='middle' font-size='19' fill='#8B97A8'&gt;推到 GitHub 仓库&lt;/text&gt;&#10;&#10;      &lt;path d='M238 170 L282 170' stroke='#1E4FA8' strokeWidth='3' /&gt;&#10;      &lt;path d='M276 162 L286 170 L276 178 Z' fill='#1E4FA8' /&gt;&#10;&#10;      &lt;rect x='290' y='125' width='230' height='90' rx='10' fill='#F7F9FC' stroke='#D6DCE5' strokeWidth='2' /&gt;&#10;      &lt;rect x='290' y='125' width='230' height='6' rx='3' fill='#3D7BD9' /&gt;&#10;      &lt;text x='405' y='163' text-anchor='middle' font-size='25' font-weight='bold' fill='#1A2230'&gt;自动跑测试&lt;/text&gt;&#10;      &lt;text x='405' y='193' text-anchor='middle' font-size='19' fill='#8B97A8'&gt;后端 pytest + 前端构建&lt;/text&gt;&#10;&#10;      &lt;path d='M528 170 L572 170' stroke='#1E4FA8' strokeWidth='3' /&gt;&#10;      &lt;path d='M566 162 L576 170 L566 178 Z' fill='#1E4FA8' /&gt;&#10;&#10;      &lt;rect x='580' y='125' width='200' height='90' rx='10' fill='#E8EFF8' stroke='#1E4FA8' strokeWidth='2' /&gt;&#10;      &lt;text x='680' y='163' text-anchor='middle' font-size='25' font-weight='bold' fill='#1E4FA8'&gt;测试通过？&lt;/text&gt;&#10;      &lt;text x='680' y='193' text-anchor='middle' font-size='19' fill='#4A5568'&gt;由 Actions 判定&lt;/text&gt;&#10;&#10;      &lt;path d='M786 155 L812 155 L812 80 L842 80' fill='none' stroke='#1E4FA8' strokeWidth='3' /&gt;&#10;      &lt;path d='M836 72 L846 80 L836 88 Z' fill='#1E4FA8' /&gt;&#10;&#10;      &lt;path d='M786 185 L812 185 L812 292 L842 292' fill='none' stroke='#D9534F' strokeWidth='3' /&gt;&#10;      &lt;path d='M836 284 L846 292 L836 300 Z' fill='#D9534F' /&gt;&#10;&#10;      &lt;rect x='850' y='40' width='330' height='80' rx='10' fill='#E8EFF8' stroke='#1E4FA8' strokeWidth='3' /&gt;&#10;      &lt;text x='1015' y='72' text-anchor='middle' font-size='25' font-weight='bold' fill='#1E4FA8'&gt;测试通过 → 自动部署&lt;/text&gt;&#10;      &lt;text x='1015' y='102' text-anchor='middle' font-size='19' fill='#4A5568'&gt;直接发布到公网地址&lt;/text&gt;&#10;&#10;      &lt;rect x='850' y='252' width='330' height='80' rx='10' fill='#FDECEA' stroke='#D9534F' strokeWidth='3' /&gt;&#10;      &lt;text x='1015' y='284' text-anchor='middle' font-size='25' font-weight='bold' fill='#D9534F'&gt;测试挂了 → 拦截&lt;/text&gt;&#10;      &lt;text x='1015' y='314' text-anchor='middle' font-size='19' fill='#D9534F'&gt;代码根本进不了生产&lt;/text&gt;&#10;    &lt;/svg&gt;&#10;&#10;    &lt;Box style={{ height: '14px' }} /&gt;&#10;&#10;    &lt;Box style={{ height: '174px', flexDirection: 'row', gap: 24 }}&gt;&#10;      &lt;Box style={{ flex: 1, background: '#F7F9FC', border: '1px solid #D6DCE5', borderLeft: '6px solid #1E4FA8', padding: '20px 24px', gap: 10 }}&gt;&#10;        &lt;Text style={{ fontSize: 25, color: '#1A2230', fontWeight: 'bold' }}&gt;.github/workflows/ci.yml&lt;/Text&gt;&#10;        &lt;Text style={{ fontSize: 20, color: '#4A5568', lineHeight: 1.55 }}&gt;&#10;          工作流文件就放在这个路径下，&lt;span style={{ fontWeight: 'bold', color: '#1E4FA8' }}&gt;push 时跑后端 pytest 与前端构建&lt;/span&gt;，成功后触发部署。&#10;        &lt;/Text&gt;&#10;      &lt;/Box&gt;&#10;      &lt;Box style={{ flex: 1, background: '#F7F9FC', border: '1px solid #D6DCE5', borderLeft: '6px solid #3D7BD9', padding: '20px 24px', gap: 10 }}&gt;&#10;        &lt;Text style={{ fontSize: 25, color: '#1A2230', fontWeight: 'bold' }}&gt;每次 push 自动验证&lt;/Text&gt;&#10;        &lt;Text style={{ fontSize: 20, color: '#4A5568', lineHeight: 1.55 }}&gt;&#10;          以后任何人提交代码，系统都&lt;span style={{ fontWeight: 'bold', color: '#1A2230' }}&gt;自动跑一遍测试&lt;/span&gt;，不用谁记得手动去点。&#10;        &lt;/Text&gt;&#10;      &lt;/Box&gt;&#10;      &lt;Box style={{ flex: 1, background: '#FDECEA', border: '1px solid #D9534F', borderLeft: '6px solid #D9534F', padding: '20px 24px', gap: 10 }}&gt;&#10;        &lt;Text style={{ fontSize: 25, color: '#1A2230', fontWeight: 'bold' }}&gt;测试挂了进不了生产&lt;/Text&gt;&#10;        &lt;Text style={{ fontSize: 20, color: '#4A5568', lineHeight: 1.55 }}&gt;&#10;          测试不通过，部署根本不会触发，&lt;span style={{ fontWeight: 'bold', color: '#D9534F' }}&gt;坏代码被挡在门外&lt;/span&gt;。&#10;        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9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2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3019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云部署与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CI/CD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自动化流水线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9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pic>
        <p:nvPicPr>
          <p:cNvPr id="3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914400"/>
            <a:ext cx="11430000" cy="3238500"/>
          </a:xfrm>
          <a:prstGeom prst="rect">
            <a:avLst/>
          </a:prstGeom>
          <a:ln/>
        </p:spPr>
      </p:pic>
      <p:sp>
        <p:nvSpPr>
          <p:cNvPr id="376" name=""/>
          <p:cNvSpPr/>
          <p:nvPr/>
        </p:nvSpPr>
        <p:spPr>
          <a:xfrm rot="0" flipH="0" flipV="0">
            <a:off x="438150" y="4286250"/>
            <a:ext cx="3657600" cy="18288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77" name=""/>
          <p:cNvSpPr/>
          <p:nvPr/>
        </p:nvSpPr>
        <p:spPr>
          <a:xfrm rot="0" flipH="0" flipV="0">
            <a:off x="381000" y="4286250"/>
            <a:ext cx="3714750" cy="1828800"/>
          </a:xfrm>
          <a:custGeom>
            <a:pathLst>
              <a:path w="390" h="192">
                <a:moveTo>
                  <a:pt x="0" y="0"/>
                </a:moveTo>
                <a:lnTo>
                  <a:pt x="6" y="0"/>
                </a:lnTo>
                <a:lnTo>
                  <a:pt x="6" y="192"/>
                </a:lnTo>
                <a:lnTo>
                  <a:pt x="0" y="192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666750" y="4476750"/>
            <a:ext cx="31432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1A2230"/>
                </a:solidFill>
                <a:latin typeface="Microsoft YaHei"/>
                <a:ea typeface="Microsoft YaHei"/>
              </a:rPr>
              <a:t>.github/workflows/ci.yml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666750" y="4857750"/>
            <a:ext cx="3143250" cy="1066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工作流文件就放在这个路径下，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push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时跑后端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 pytest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与前端构建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，成功后触发部署。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4324350" y="4286250"/>
            <a:ext cx="3657600" cy="16573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81" name=""/>
          <p:cNvSpPr/>
          <p:nvPr/>
        </p:nvSpPr>
        <p:spPr>
          <a:xfrm rot="0" flipH="0" flipV="0">
            <a:off x="4267200" y="4286250"/>
            <a:ext cx="3714750" cy="1657350"/>
          </a:xfrm>
          <a:custGeom>
            <a:pathLst>
              <a:path w="390" h="174">
                <a:moveTo>
                  <a:pt x="0" y="0"/>
                </a:moveTo>
                <a:lnTo>
                  <a:pt x="6" y="0"/>
                </a:lnTo>
                <a:lnTo>
                  <a:pt x="6" y="174"/>
                </a:lnTo>
                <a:lnTo>
                  <a:pt x="0" y="17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4552950" y="4476750"/>
            <a:ext cx="31432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每次</a:t>
            </a:r>
            <a:r>
              <a:rPr lang="en-US" sz="1875" b="1">
                <a:solidFill>
                  <a:srgbClr val="1A2230"/>
                </a:solidFill>
                <a:latin typeface="Microsoft YaHei"/>
                <a:ea typeface="Microsoft YaHei"/>
              </a:rPr>
              <a:t> push </a:t>
            </a: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自动验证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4552950" y="4857750"/>
            <a:ext cx="31432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以后任何人提交代码，系统都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自动跑一遍测试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，不用谁记得手动去点。</a:t>
            </a:r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8210550" y="4286250"/>
            <a:ext cx="3657600" cy="1657350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p/>
        </p:txBody>
      </p:sp>
      <p:sp>
        <p:nvSpPr>
          <p:cNvPr id="385" name=""/>
          <p:cNvSpPr/>
          <p:nvPr/>
        </p:nvSpPr>
        <p:spPr>
          <a:xfrm rot="0" flipH="0" flipV="0">
            <a:off x="8153400" y="4286250"/>
            <a:ext cx="3714750" cy="1657350"/>
          </a:xfrm>
          <a:custGeom>
            <a:pathLst>
              <a:path w="390" h="174">
                <a:moveTo>
                  <a:pt x="0" y="0"/>
                </a:moveTo>
                <a:lnTo>
                  <a:pt x="6" y="0"/>
                </a:lnTo>
                <a:lnTo>
                  <a:pt x="6" y="174"/>
                </a:lnTo>
                <a:lnTo>
                  <a:pt x="0" y="174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8439150" y="4476750"/>
            <a:ext cx="31432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测试挂了进不了生产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8439150" y="4857750"/>
            <a:ext cx="31432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测试不通过，部署根本不会触发，</a:t>
            </a:r>
            <a:r>
              <a:rPr lang="zh-CN" sz="1500" b="1">
                <a:solidFill>
                  <a:srgbClr val="D9534F"/>
                </a:solidFill>
                <a:latin typeface="Microsoft YaHei"/>
                <a:ea typeface="Microsoft YaHei"/>
              </a:rPr>
              <a:t>坏代码被挡在门外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09 / 15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7" name="" descr="&lt;Slide&#10;  notes={`现在轮到你们，按演示顺序来四步。&#10;&#10;第一，让 AI 生成前端和后端的 Dockerfile，还有含 SQLite 卷的 docker-compose.yml。&#10;&#10;第二，本地执行 docker compose up，一键启动，浏览器访问确认能打开。&#10;&#10;第三，Vercel 部署前端、Render 部署后端，配好环境变量，拿到 HTTPS 地址。&#10;&#10;第四，用手机热点访问一次，模拟别人家的网络，把截图发群。卡住的组，把报错原文加上 @ 相关文件丢给 AI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2 云部署与 CI/CD · 学生实操四步&lt;/Text&gt;&#10;    &lt;Text style={{ fontSize: 16, color: '#C9D9F2' }}&gt;医院信息系统实验 · 第 9 课&lt;/Text&gt;&#10;  &lt;/Box&gt;&#10;&#10;  &lt;Box style={{ width: '1280px', height: '552px', padding: '24px 40px 0px 40px' }}&gt;&#10;    &lt;Box style={{ height: '48px', flexDirection: 'row', alignItems: 'center', gap: 14 }}&gt;&#10;      &lt;Box style={{ width: 6, height: 34, background: '#1E4FA8' }} /&gt;&#10;      &lt;Text style={{ fontSize: 36, color: '#1A2230', fontWeight: 'bold' }}&gt;学生实操四步&lt;/Text&gt;&#10;      &lt;Text style={{ fontSize: 22, color: '#8B97A8' }}&gt;下课前的目标：拿到一个公网能访问的地址&lt;/Text&gt;&#10;    &lt;/Box&gt;&#10;&#10;    &lt;Box style={{ height: '14px' }} /&gt;&#10;&#10;    &lt;svg width={1200} height={132} viewBox='0 0 1200 132'&gt;&#10;      &lt;rect x='150' y='42' width='900' height='8' rx='4' fill='#E5E7EB' /&gt;&#10;      &lt;rect x='150' y='42' width='600' height='8' rx='4' fill='#1E4FA8' opacity='0.25' /&gt;&#10;      &lt;circle cx='150' cy='46' r='28' fill='#1E4FA8' /&gt;&#10;      &lt;text x='150' y='47' text-anchor='middle' dominant-baseline='central' font-size='22' font-weight='bold' fill='#FFFFFF'&gt;1&lt;/text&gt;&#10;      &lt;circle cx='450' cy='46' r='28' fill='#1E4FA8' /&gt;&#10;      &lt;text x='450' y='47' text-anchor='middle' dominant-baseline='central' font-size='22' font-weight='bold' fill='#FFFFFF'&gt;2&lt;/text&gt;&#10;      &lt;circle cx='750' cy='46' r='28' fill='#1E4FA8' /&gt;&#10;      &lt;text x='750' y='47' text-anchor='middle' dominant-baseline='central' font-size='22' font-weight='bold' fill='#FFFFFF'&gt;3&lt;/text&gt;&#10;      &lt;circle cx='1050' cy='46' r='32' fill='#0E3F8C' /&gt;&#10;      &lt;text x='1050' y='47' text-anchor='middle' dominant-baseline='central' font-size='24' font-weight='bold' fill='#FFFFFF'&gt;4&lt;/text&gt;&#10;      &lt;text x='150' y='106' text-anchor='middle' font-size='22' font-weight='bold' fill='#1A2230'&gt;生成容器配置&lt;/text&gt;&#10;      &lt;text x='450' y='106' text-anchor='middle' font-size='22' font-weight='bold' fill='#1A2230'&gt;本地一键启动&lt;/text&gt;&#10;      &lt;text x='750' y='106' text-anchor='middle' font-size='22' font-weight='bold' fill='#1A2230'&gt;上云拿地址&lt;/text&gt;&#10;      &lt;text x='1050' y='106' text-anchor='middle' font-size='22' font-weight='bold' fill='#0E3F8C'&gt;手机热点验证&lt;/text&gt;&#10;    &lt;/svg&gt;&#10;&#10;    &lt;Box style={{ height: '16px' }} /&gt;&#10;&#10;    &lt;Box style={{ height: '264px', flexDirection: 'row', gap: 20 }}&gt;&#10;      &lt;Box style={{ flex: 1, background: '#F7F9FC', border: '1px solid #D6DCE5', borderTop: '4px solid #1E4FA8', padding: '18px 20px', justifyContent: 'space-between' }}&gt;&#10;        &lt;Box style={{ gap: 10 }}&gt;&#10;          &lt;Text style={{ fontSize: 24, color: '#1A2230', fontWeight: 'bold' }}&gt;① 生成容器配置&lt;/Text&gt;&#10;          &lt;Text style={{ fontSize: 20, color: '#4A5568', lineHeight: 1.5 }}&gt;&#10;            让 AI 生成前端 + 后端 Dockerfile，以及&lt;span style={{ fontWeight: 'bold', color: '#1A2230' }}&gt;含 SQLite 卷&lt;/span&gt;的 docker-compose.yml。&#10;          &lt;/Text&gt;&#10;        &lt;/Box&gt;&#10;        &lt;Box style={{ background: '#E8EFF8', padding: '8px 12px' }}&gt;&#10;          &lt;Text style={{ fontSize: 18, color: '#1E4FA8' }}&gt;生成后逐行问懂它&lt;/Text&gt;&#10;        &lt;/Box&gt;&#10;      &lt;/Box&gt;&#10;      &lt;Box style={{ flex: 1, background: '#F7F9FC', border: '1px solid #D6DCE5', borderTop: '4px solid #1E4FA8', padding: '18px 20px', justifyContent: 'space-between' }}&gt;&#10;        &lt;Box style={{ gap: 10 }}&gt;&#10;          &lt;Text style={{ fontSize: 24, color: '#1A2230', fontWeight: 'bold' }}&gt;② 本地一键启动&lt;/Text&gt;&#10;          &lt;Text style={{ fontSize: 20, color: '#4A5568', lineHeight: 1.5 }}&gt;&#10;            执行 &lt;span style={{ fontWeight: 'bold', color: '#1E4FA8' }}&gt;docker compose up&lt;/span&gt; 一键启动，浏览器访问确认页面能打开。&#10;          &lt;/Text&gt;&#10;        &lt;/Box&gt;&#10;        &lt;Box style={{ background: '#E8EFF8', padding: '8px 12px' }}&gt;&#10;          &lt;Text style={{ fontSize: 18, color: '#1E4FA8' }}&gt;验收：浏览器能打开&lt;/Text&gt;&#10;        &lt;/Box&gt;&#10;      &lt;/Box&gt;&#10;      &lt;Box style={{ flex: 1, background: '#F7F9FC', border: '1px solid #D6DCE5', borderTop: '4px solid #3D7BD9', padding: '18px 20px', justifyContent: 'space-between' }}&gt;&#10;        &lt;Box style={{ gap: 10 }}&gt;&#10;          &lt;Text style={{ fontSize: 24, color: '#1A2230', fontWeight: 'bold' }}&gt;③ 上云拿地址&lt;/Text&gt;&#10;          &lt;Text style={{ fontSize: 20, color: '#4A5568', lineHeight: 1.5 }}&gt;&#10;            Vercel 部署前端、Render 部署后端，在后台配好&lt;span style={{ fontWeight: 'bold', color: '#1A2230' }}&gt;环境变量&lt;/span&gt;。&#10;          &lt;/Text&gt;&#10;        &lt;/Box&gt;&#10;        &lt;Box style={{ background: '#E8EFF8', padding: '8px 12px' }}&gt;&#10;          &lt;Text style={{ fontSize: 18, color: '#1E4FA8' }}&gt;验收：拿到 HTTPS 地址&lt;/Text&gt;&#10;        &lt;/Box&gt;&#10;      &lt;/Box&gt;&#10;      &lt;Box style={{ flex: 1, background: '#E8EFF8', border: '1px solid #3D7BD9', borderTop: '4px solid #0E3F8C', padding: '18px 20px', justifyContent: 'space-between' }}&gt;&#10;        &lt;Box style={{ gap: 10 }}&gt;&#10;          &lt;Text style={{ fontSize: 24, color: '#1A2230', fontWeight: 'bold' }}&gt;④ 手机热点验证&lt;/Text&gt;&#10;          &lt;Text style={{ fontSize: 20, color: '#4A5568', lineHeight: 1.5 }}&gt;&#10;            用&lt;span style={{ fontWeight: 'bold', color: '#1A2230' }}&gt;手机热点访问一次&lt;/span&gt;，模拟别人家的网络，把访问截图发群。&#10;          &lt;/Text&gt;&#10;        &lt;/Box&gt;&#10;        &lt;Box style={{ background: '#FFFFFF', padding: '8px 12px' }}&gt;&#10;          &lt;Text style={{ fontSize: 18, color: '#0E3F8C', fontWeight: 'bold' }}&gt;验收：群里看到截图&lt;/Text&gt;&#10;        &lt;/Box&gt;&#10;      &lt;/Box&gt;&#10;    &lt;/Box&gt;&#10;&#10;    &lt;Box style={{ height: '12px' }} /&gt;&#10;&#10;    &lt;Box style={{ height: '42px', background: '#1E4FA8', flexDirection: 'row', alignItems: 'center', padding: '0px 20px', gap: 12 }}&gt;&#10;      &lt;Box style={{ width: 6, height: 6, background: '#FFC107' }} /&gt;&#10;      &lt;Text style={{ fontSize: 21, color: '#FFFFFF', fontWeight: 'bold' }}&gt;卡住就把报错原文 + @ 相关文件丢给 AI，用报错三件套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0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3019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云部署与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CI/CD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学生实操四步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9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381000" y="98107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71500" y="933450"/>
            <a:ext cx="2057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学生实操四步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2762250" y="101917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下课前的目标：拿到一个公网能访问的地址</a:t>
            </a:r>
            <a:endParaRPr/>
          </a:p>
        </p:txBody>
      </p:sp>
      <p:pic>
        <p:nvPicPr>
          <p:cNvPr id="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1504950"/>
            <a:ext cx="11430000" cy="1257300"/>
          </a:xfrm>
          <a:prstGeom prst="rect">
            <a:avLst/>
          </a:prstGeom>
          <a:ln/>
        </p:spPr>
      </p:pic>
      <p:sp>
        <p:nvSpPr>
          <p:cNvPr id="26" name=""/>
          <p:cNvSpPr/>
          <p:nvPr/>
        </p:nvSpPr>
        <p:spPr>
          <a:xfrm rot="0" flipH="0" flipV="0">
            <a:off x="381000" y="2952750"/>
            <a:ext cx="2714625" cy="25146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381000" y="2914650"/>
            <a:ext cx="2714625" cy="2552700"/>
          </a:xfrm>
          <a:custGeom>
            <a:pathLst>
              <a:path w="285" h="268">
                <a:moveTo>
                  <a:pt x="0" y="0"/>
                </a:moveTo>
                <a:lnTo>
                  <a:pt x="285" y="0"/>
                </a:lnTo>
                <a:lnTo>
                  <a:pt x="285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571500" y="3124200"/>
            <a:ext cx="23336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①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生成容器配置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571500" y="3495675"/>
            <a:ext cx="2333625" cy="1371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让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生成前端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后端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Dockerfile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，以及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含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 SQLite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卷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的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docker-compose.yml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571500" y="4895850"/>
            <a:ext cx="2333625" cy="3619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85800" y="4972050"/>
            <a:ext cx="2105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生成后逐行问懂它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3286125" y="2952750"/>
            <a:ext cx="2714625" cy="25146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3" name=""/>
          <p:cNvSpPr/>
          <p:nvPr/>
        </p:nvSpPr>
        <p:spPr>
          <a:xfrm rot="0" flipH="0" flipV="0">
            <a:off x="3286125" y="2914650"/>
            <a:ext cx="2714625" cy="2552700"/>
          </a:xfrm>
          <a:custGeom>
            <a:pathLst>
              <a:path w="285" h="268">
                <a:moveTo>
                  <a:pt x="0" y="0"/>
                </a:moveTo>
                <a:lnTo>
                  <a:pt x="285" y="0"/>
                </a:lnTo>
                <a:lnTo>
                  <a:pt x="285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3476625" y="3124200"/>
            <a:ext cx="23336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②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本地一键启动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3476625" y="3495675"/>
            <a:ext cx="2333625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执行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docker compose up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一键启动，浏览器访问确认页面能打开。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3476625" y="4895850"/>
            <a:ext cx="2333625" cy="3619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3590925" y="4972050"/>
            <a:ext cx="2105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验收：浏览器能打开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191250" y="2952750"/>
            <a:ext cx="2714625" cy="25146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6191250" y="2914650"/>
            <a:ext cx="2714625" cy="2552700"/>
          </a:xfrm>
          <a:custGeom>
            <a:pathLst>
              <a:path w="285" h="268">
                <a:moveTo>
                  <a:pt x="0" y="0"/>
                </a:moveTo>
                <a:lnTo>
                  <a:pt x="285" y="0"/>
                </a:lnTo>
                <a:lnTo>
                  <a:pt x="285" y="4"/>
                </a:lnTo>
                <a:lnTo>
                  <a:pt x="0" y="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381750" y="3124200"/>
            <a:ext cx="23336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③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上云拿地址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381750" y="3495675"/>
            <a:ext cx="2333625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Vercel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部署前端、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Render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部署后端，在后台配好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环境变量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381750" y="4895850"/>
            <a:ext cx="2333625" cy="3619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496050" y="4972050"/>
            <a:ext cx="2105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验收：拿到</a:t>
            </a:r>
            <a:r>
              <a:rPr lang="en-US" sz="1350">
                <a:solidFill>
                  <a:srgbClr val="1E4FA8"/>
                </a:solidFill>
                <a:latin typeface="Microsoft YaHei"/>
                <a:ea typeface="Microsoft YaHei"/>
              </a:rPr>
              <a:t> HTTPS </a:t>
            </a: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地址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9096375" y="2952750"/>
            <a:ext cx="2714625" cy="25146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5" name=""/>
          <p:cNvSpPr/>
          <p:nvPr/>
        </p:nvSpPr>
        <p:spPr>
          <a:xfrm rot="0" flipH="0" flipV="0">
            <a:off x="9096375" y="2914650"/>
            <a:ext cx="2714625" cy="2552700"/>
          </a:xfrm>
          <a:custGeom>
            <a:pathLst>
              <a:path w="285" h="268">
                <a:moveTo>
                  <a:pt x="0" y="0"/>
                </a:moveTo>
                <a:lnTo>
                  <a:pt x="285" y="0"/>
                </a:lnTo>
                <a:lnTo>
                  <a:pt x="285" y="4"/>
                </a:lnTo>
                <a:lnTo>
                  <a:pt x="0" y="4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9286875" y="3124200"/>
            <a:ext cx="23336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④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手机热点验证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9286875" y="3495675"/>
            <a:ext cx="2333625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用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手机热点访问一次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，模拟别人家的网络，把访问截图发群。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9286875" y="4895850"/>
            <a:ext cx="2333625" cy="361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9401175" y="4972050"/>
            <a:ext cx="2105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验收：群里看到截图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381000" y="5543550"/>
            <a:ext cx="11430000" cy="4000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571500" y="5715000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42950" y="5619750"/>
            <a:ext cx="50196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卡住就把报错原文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 + @ 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相关文件丢给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 AI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，用报错三件套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10 / 15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5" name="" descr="&lt;Slide&#10;  notes={`实操就到这里。&#10;&#10;最后一段，我先把你们今天最可能撞上的三个问题一次答清楚：接口 404、免费实例休眠、本地能跑但云上跑不起来。&#10;&#10;答完之后布置作业，一共两项，今晚到下周课前交。&#10;&#10;先说一句：部署出错很正常，你负责冷静，AI 负责报错。`}&#10;  style={{ width: '1280px', height: '720px', background: '#F7F9FC', padding: '0px' }}&#10;&gt;&#10;  &lt;Box style={{ width: '1280px', height: '720px', flexDirection: 'row', padding: '64px 40px', gap: 48 }}&gt;&#10;    &lt;Box style={{ width: '420px', height: '592px', justifyContent: 'center', gap: 8 }}&gt;&#10;      &lt;Text style={{ fontSize: 240, color: '#0E3F8C', fontWeight: 'bold', lineHeight: 1 }}&gt;03&lt;/Text&gt;&#10;      &lt;Box style={{ width: 120, height: 6, background: '#FFC107' }} /&gt;&#10;    &lt;/Box&gt;&#10;&#10;    &lt;Box style={{ width: '732px', height: '592px', justifyContent: 'center', gap: 28 }}&gt;&#10;      &lt;Box style={{ gap: 14 }}&gt;&#10;        &lt;Text style={{ fontSize: 20, color: '#3D7BD9', fontWeight: 'bold', letterSpacing: 2 }}&gt;Q&amp;amp;A &amp;amp; ASSIGNMENT&lt;/Text&gt;&#10;        &lt;Text style={{ fontSize: 56, color: '#1A2230', fontWeight: 'bold', lineHeight: 1.25 }}&gt;答疑与作业&lt;/Text&gt;&#10;        &lt;Text style={{ fontSize: 34, color: '#1E4FA8', fontWeight: 'bold', lineHeight: 1.4 }}&gt;你负责冷静，AI 负责报错。&lt;/Text&gt;&#10;      &lt;/Box&gt;&#10;&#10;      &lt;Box style={{ width: '732px', height: 2, background: '#D6DCE5' }} /&gt;&#10;&#10;      &lt;Box style={{ gap: 16 }}&gt;&#10;        &lt;Box style={{ flexDirection: 'row', alignItems: 'flex-start', gap: 14 }}&gt;&#10;          &lt;Box style={{ width: 10, height: 10, background: '#1E4FA8', marginTop: 12 }} /&gt;&#10;          &lt;Text style={{ fontSize: 23, color: '#1A2230', lineHeight: 1.5 }}&gt;三类高频问题：接口 404 / 实例休眠 / 云上跑不起来&lt;/Text&gt;&#10;        &lt;/Box&gt;&#10;        &lt;Box style={{ flexDirection: 'row', alignItems: 'flex-start', gap: 14 }}&gt;&#10;          &lt;Box style={{ width: 10, height: 10, background: '#3D7BD9', marginTop: 12 }} /&gt;&#10;          &lt;Text style={{ fontSize: 23, color: '#1A2230', lineHeight: 1.5 }}&gt;两项作业：公网可访问地址 / 容器与流水线配置&lt;/Text&gt;&#10;        &lt;/Box&gt;&#10;        &lt;Box style={{ flexDirection: 'row', alignItems: 'flex-start', gap: 14 }}&gt;&#10;          &lt;Box style={{ width: 10, height: 10, background: '#D9534F', marginTop: 12 }} /&gt;&#10;          &lt;Text style={{ fontSize: 23, color: '#1A2230', lineHeight: 1.5 }}&gt;下节课做数据规范，系统要&quot;接上医院的规矩&quot;&lt;/Text&gt;&#10;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381000" y="1990725"/>
            <a:ext cx="400050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0E3F8C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381000" y="4810125"/>
            <a:ext cx="11430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4838700" y="1476375"/>
            <a:ext cx="697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3D7BD9"/>
                </a:solidFill>
                <a:latin typeface="Microsoft YaHei"/>
                <a:ea typeface="Microsoft YaHei"/>
              </a:rPr>
              <a:t>Q&amp;A &amp; ASSIGNMENT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4838700" y="1838325"/>
            <a:ext cx="6972300" cy="8001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1A2230"/>
                </a:solidFill>
                <a:latin typeface="Microsoft YaHei"/>
                <a:ea typeface="Microsoft YaHei"/>
              </a:rPr>
              <a:t>答疑与作业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4838700" y="2771775"/>
            <a:ext cx="6972300" cy="552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你负责冷静，</a:t>
            </a: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AI </a:t>
            </a: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负责报错。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4838700" y="3590925"/>
            <a:ext cx="69723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63" name=""/>
          <p:cNvSpPr/>
          <p:nvPr/>
        </p:nvSpPr>
        <p:spPr>
          <a:xfrm rot="0" flipH="0" flipV="0">
            <a:off x="4838700" y="399097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5067300" y="3876675"/>
            <a:ext cx="50673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三类高频问题：接口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404 /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实例休眠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云上跑不起来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4838700" y="4543425"/>
            <a:ext cx="95250" cy="952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5067300" y="4429125"/>
            <a:ext cx="46101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两项作业：公网可访问地址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容器与流水线配置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4838700" y="5095875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5067300" y="4981575"/>
            <a:ext cx="436245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下节课做数据规范，系统要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接上医院的规矩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69" name="" descr="&lt;Slide&#10;  notes={`三个问题，我一起答。&#10;&#10;第一，&quot;Vercel 部署前端但接口 404&quot;。八成是环境变量没配，或者跨域没配，去检查云平台的环境变量和 CORS 配置。&#10;&#10;第二，&quot;Render 免费实例休眠，演示时打不开&quot;。提前十分钟访问一次把它唤醒，这是免费层的常态，答辩前记得预热。&#10;&#10;第三，&quot;本地 Docker 能跑，云上不行&quot;。常见原因是云上构建时缺依赖、数据库文件没持久化、端口配置不同，让 AI 对比两边的日志找差异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3 答疑与作业 · 常见问题应答&lt;/Text&gt;&#10;    &lt;Text style={{ fontSize: 16, color: '#C9D9F2' }}&gt;医院信息系统实验 · 第 9 课&lt;/Text&gt;&#10;  &lt;/Box&gt;&#10;&#10;  &lt;Box style={{ width: '1280px', height: '552px', flexDirection: 'row', padding: '24px 40px 0px 40px', gap: 30 }}&gt;&#10;    &lt;Box style={{ width: '360px', height: '528px', background: '#E8EFF8', border: '1px solid #D6DCE5', padding: '28px 26px', justifyContent: 'space-between' }}&gt;&#10;      &lt;Box style={{ gap: 14 }}&gt;&#10;        &lt;Text style={{ fontSize: 17, color: '#3D7BD9', letterSpacing: 2 }}&gt;FAQ&lt;/Text&gt;&#10;        &lt;Text style={{ fontSize: 42, color: '#1A2230', fontWeight: 'bold', lineHeight: 1.2 }}&gt;常见问题&lt;br /&gt;应答&lt;/Text&gt;&#10;        &lt;Box style={{ width: 80, height: 5, background: '#1E4FA8' }} /&gt;&#10;      &lt;/Box&gt;&#10;&#10;      &lt;Box style={{ gap: 12 }}&gt;&#10;        &lt;Box style={{ background: '#FFFFFF', padding: '10px 16px', borderRadius: 20, alignItems: 'center' }}&gt;&#10;          &lt;Text style={{ fontSize: 20, color: '#1E4FA8', fontWeight: 'bold' }}&gt;接口 404&lt;/Text&gt;&#10;        &lt;/Box&gt;&#10;        &lt;Box style={{ background: '#FFFFFF', padding: '10px 16px', borderRadius: 20, alignItems: 'center' }}&gt;&#10;          &lt;Text style={{ fontSize: 20, color: '#1E4FA8', fontWeight: 'bold' }}&gt;实例休眠&lt;/Text&gt;&#10;        &lt;/Box&gt;&#10;        &lt;Box style={{ background: '#FFFFFF', padding: '10px 16px', borderRadius: 20, alignItems: 'center' }}&gt;&#10;          &lt;Text style={{ fontSize: 20, color: '#1E4FA8', fontWeight: 'bold' }}&gt;云上不行&lt;/Text&gt;&#10;        &lt;/Box&gt;&#10;      &lt;/Box&gt;&#10;&#10;      &lt;Text style={{ fontSize: 20, color: '#4A5568', lineHeight: 1.5 }}&gt;&#10;        这三个问题每年都被问，答案都指向同一件事：先看配置，再问 AI。&#10;      &lt;/Text&gt;&#10;    &lt;/Box&gt;&#10;&#10;    &lt;Box style={{ width: '810px', height: '528px', gap: 9 }}&gt;&#10;      &lt;Box style={{ height: '170px', background: '#F7F9FC', border: '1px solid #D6DCE5', borderLeft: '6px solid #D9534F', padding: '16px 20px', justifyContent: 'space-between' }}&gt;&#10;        &lt;Box style={{ gap: 8 }}&gt;&#10;          &lt;Text style={{ fontSize: 22, color: '#1A2230', fontWeight: 'bold', lineHeight: 1.35 }}&gt;&#10;            Q：Vercel 部署前端成功，但接口 404。&#10;          &lt;/Text&gt;&#10;          &lt;Text style={{ fontSize: 20, color: '#4A5568', lineHeight: 1.45 }}&gt;&#10;            A：八成是&lt;span style={{ fontWeight: 'bold', color: '#1A2230' }}&gt;环境变量没配（后端地址）&lt;/span&gt;，或者跨域没配。&#10;          &lt;/Text&gt;&#10;        &lt;/Box&gt;&#10;        &lt;Box style={{ background: '#FDECEA', padding: '6px 12px' }}&gt;&#10;          &lt;Text style={{ fontSize: 18, color: '#D9534F', fontWeight: 'bold' }}&gt;怎么查：检查云平台的环境变量与 CORS 配置&lt;/Text&gt;&#10;        &lt;/Box&gt;&#10;      &lt;/Box&gt;&#10;&#10;      &lt;Box style={{ height: '170px', background: '#F7F9FC', border: '1px solid #D6DCE5', borderLeft: '6px solid #1E4FA8', padding: '16px 20px', justifyContent: 'space-between' }}&gt;&#10;        &lt;Box style={{ gap: 8 }}&gt;&#10;          &lt;Text style={{ fontSize: 22, color: '#1A2230', fontWeight: 'bold', lineHeight: 1.35 }}&gt;&#10;            Q：Render 免费实例休眠，演示时打不开。&#10;          &lt;/Text&gt;&#10;          &lt;Text style={{ fontSize: 20, color: '#4A5568', lineHeight: 1.45 }}&gt;&#10;            A：&lt;span style={{ fontWeight: 'bold', color: '#1E4FA8' }}&gt;提前 10 分钟访问一次&lt;/span&gt;把它唤醒，这是免费层的常态。&#10;          &lt;/Text&gt;&#10;        &lt;/Box&gt;&#10;        &lt;Box style={{ background: '#E8EFF8', padding: '6px 12px' }}&gt;&#10;          &lt;Text style={{ fontSize: 18, color: '#1E4FA8', fontWeight: 'bold' }}&gt;怎么查：答辩前先预热，别等上台才第一次访问&lt;/Text&gt;&#10;        &lt;/Box&gt;&#10;      &lt;/Box&gt;&#10;&#10;      &lt;Box style={{ height: '170px', background: '#F7F9FC', border: '1px solid #D6DCE5', borderLeft: '6px solid #FFC107', padding: '16px 20px', justifyContent: 'space-between' }}&gt;&#10;        &lt;Box style={{ gap: 8 }}&gt;&#10;          &lt;Text style={{ fontSize: 22, color: '#1A2230', fontWeight: 'bold', lineHeight: 1.35 }}&gt;&#10;            Q：本地 Docker 能跑，云上跑不起来。&#10;          &lt;/Text&gt;&#10;          &lt;Text style={{ fontSize: 20, color: '#4A5568', lineHeight: 1.45 }}&gt;&#10;            A：云上构建缺依赖、&lt;span style={{ fontWeight: 'bold', color: '#1A2230' }}&gt;数据库文件没持久化&lt;/span&gt;、端口配置不同。&#10;          &lt;/Text&gt;&#10;        &lt;/Box&gt;&#10;        &lt;Box style={{ background: '#FFF8E1', padding: '6px 12px' }}&gt;&#10;          &lt;Text style={{ fontSize: 18, color: '#B7860B', fontWeight: 'bold' }}&gt;怎么查：让 AI 对比本地与云上的日志找差异&lt;/Text&gt;&#10;        &lt;/Box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2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590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答疑与作业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常见问题应答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9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381000" y="914400"/>
            <a:ext cx="3429000" cy="5029200"/>
          </a:xfrm>
          <a:prstGeom prst="rect">
            <a:avLst/>
          </a:prstGeom>
          <a:solidFill>
            <a:srgbClr val="E8EFF8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28650" y="1181100"/>
            <a:ext cx="2933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3D7BD9"/>
                </a:solidFill>
                <a:latin typeface="Microsoft YaHei"/>
                <a:ea typeface="Microsoft YaHei"/>
              </a:rPr>
              <a:t>FAQ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28650" y="1514475"/>
            <a:ext cx="2933700" cy="11525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150" b="1">
                <a:solidFill>
                  <a:srgbClr val="1A2230"/>
                </a:solidFill>
                <a:latin typeface="Microsoft YaHei"/>
                <a:ea typeface="Microsoft YaHei"/>
              </a:rPr>
              <a:t>常见问题</a:t>
            </a:r>
            <a:endParaRPr/>
          </a:p>
          <a:p>
            <a:pPr>
              <a:lnSpc>
                <a:spcPct val="120000"/>
              </a:lnSpc>
            </a:pPr>
            <a:r>
              <a:rPr lang="zh-CN" sz="3150" b="1">
                <a:solidFill>
                  <a:srgbClr val="1A2230"/>
                </a:solidFill>
                <a:latin typeface="Microsoft YaHei"/>
                <a:ea typeface="Microsoft YaHei"/>
              </a:rPr>
              <a:t>应答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628650" y="2800350"/>
            <a:ext cx="7620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8" name=""/>
          <p:cNvSpPr/>
          <p:nvPr/>
        </p:nvSpPr>
        <p:spPr>
          <a:xfrm rot="0" flipH="0" flipV="0">
            <a:off x="628650" y="3181350"/>
            <a:ext cx="2933700" cy="41910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704975" y="3276600"/>
            <a:ext cx="790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接口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 404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628650" y="3714750"/>
            <a:ext cx="2933700" cy="41910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714500" y="381000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实例休眠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628650" y="4248150"/>
            <a:ext cx="2933700" cy="41910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1714500" y="434340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云上不行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28650" y="4991100"/>
            <a:ext cx="29337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这三个问题每年都被问，答案都指向同一件事：先看配置，再问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AI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4152900" y="914400"/>
            <a:ext cx="7715250" cy="1619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86" name=""/>
          <p:cNvSpPr/>
          <p:nvPr/>
        </p:nvSpPr>
        <p:spPr>
          <a:xfrm rot="0" flipH="0" flipV="0">
            <a:off x="4095750" y="914400"/>
            <a:ext cx="7772400" cy="1619250"/>
          </a:xfrm>
          <a:custGeom>
            <a:pathLst>
              <a:path w="816" h="170">
                <a:moveTo>
                  <a:pt x="0" y="0"/>
                </a:moveTo>
                <a:lnTo>
                  <a:pt x="6" y="0"/>
                </a:lnTo>
                <a:lnTo>
                  <a:pt x="6" y="170"/>
                </a:lnTo>
                <a:lnTo>
                  <a:pt x="0" y="170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4343400" y="1066800"/>
            <a:ext cx="7277100" cy="3429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Q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：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Vercel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部署前端成功，但接口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 404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4343400" y="1485900"/>
            <a:ext cx="7277100" cy="3333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A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：八成是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环境变量没配（后端地址）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，或者跨域没配。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4343400" y="2057400"/>
            <a:ext cx="7277100" cy="323850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4457700" y="2114550"/>
            <a:ext cx="704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D9534F"/>
                </a:solidFill>
                <a:latin typeface="Microsoft YaHei"/>
                <a:ea typeface="Microsoft YaHei"/>
              </a:rPr>
              <a:t>怎么查：检查云平台的环境变量与</a:t>
            </a:r>
            <a:r>
              <a:rPr lang="en-US" sz="1350" b="1">
                <a:solidFill>
                  <a:srgbClr val="D9534F"/>
                </a:solidFill>
                <a:latin typeface="Microsoft YaHei"/>
                <a:ea typeface="Microsoft YaHei"/>
              </a:rPr>
              <a:t> CORS </a:t>
            </a:r>
            <a:r>
              <a:rPr lang="zh-CN" sz="1350" b="1">
                <a:solidFill>
                  <a:srgbClr val="D9534F"/>
                </a:solidFill>
                <a:latin typeface="Microsoft YaHei"/>
                <a:ea typeface="Microsoft YaHei"/>
              </a:rPr>
              <a:t>配置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4152900" y="2619375"/>
            <a:ext cx="7715250" cy="1619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92" name=""/>
          <p:cNvSpPr/>
          <p:nvPr/>
        </p:nvSpPr>
        <p:spPr>
          <a:xfrm rot="0" flipH="0" flipV="0">
            <a:off x="4095750" y="2619375"/>
            <a:ext cx="7772400" cy="1619250"/>
          </a:xfrm>
          <a:custGeom>
            <a:pathLst>
              <a:path w="816" h="170">
                <a:moveTo>
                  <a:pt x="0" y="0"/>
                </a:moveTo>
                <a:lnTo>
                  <a:pt x="6" y="0"/>
                </a:lnTo>
                <a:lnTo>
                  <a:pt x="6" y="170"/>
                </a:lnTo>
                <a:lnTo>
                  <a:pt x="0" y="17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4343400" y="2771775"/>
            <a:ext cx="7277100" cy="3429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Q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：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Render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免费实例休眠，演示时打不开。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4343400" y="3190875"/>
            <a:ext cx="7277100" cy="3333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A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：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提前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 10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分钟访问一次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把它唤醒，这是免费层的常态。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4343400" y="3762375"/>
            <a:ext cx="7277100" cy="3238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4457700" y="3819525"/>
            <a:ext cx="704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怎么查：答辩前先预热，别等上台才第一次访问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4152900" y="4324350"/>
            <a:ext cx="7715250" cy="1619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4095750" y="4324350"/>
            <a:ext cx="7772400" cy="1619250"/>
          </a:xfrm>
          <a:custGeom>
            <a:pathLst>
              <a:path w="816" h="170">
                <a:moveTo>
                  <a:pt x="0" y="0"/>
                </a:moveTo>
                <a:lnTo>
                  <a:pt x="6" y="0"/>
                </a:lnTo>
                <a:lnTo>
                  <a:pt x="6" y="170"/>
                </a:lnTo>
                <a:lnTo>
                  <a:pt x="0" y="170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4343400" y="4476750"/>
            <a:ext cx="7277100" cy="3429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Q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：本地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 Docker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能跑，云上跑不起来。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4343400" y="4895850"/>
            <a:ext cx="7277100" cy="3333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A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：云上构建缺依赖、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数据库文件没持久化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、端口配置不同。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4343400" y="5467350"/>
            <a:ext cx="7277100" cy="32385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4457700" y="5524500"/>
            <a:ext cx="704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7860B"/>
                </a:solidFill>
                <a:latin typeface="Microsoft YaHei"/>
                <a:ea typeface="Microsoft YaHei"/>
              </a:rPr>
              <a:t>怎么查：让</a:t>
            </a:r>
            <a:r>
              <a:rPr lang="en-US" sz="1350" b="1">
                <a:solidFill>
                  <a:srgbClr val="B7860B"/>
                </a:solidFill>
                <a:latin typeface="Microsoft YaHei"/>
                <a:ea typeface="Microsoft YaHei"/>
              </a:rPr>
              <a:t> AI </a:t>
            </a:r>
            <a:r>
              <a:rPr lang="zh-CN" sz="1350" b="1">
                <a:solidFill>
                  <a:srgbClr val="B7860B"/>
                </a:solidFill>
                <a:latin typeface="Microsoft YaHei"/>
                <a:ea typeface="Microsoft YaHei"/>
              </a:rPr>
              <a:t>对比本地与云上的日志找差异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12 / 15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05" name="" descr="&lt;Slide&#10;  notes={`今天我要你们记住一句话：部署报错 90% 出在配置文件。&#10;&#10;Dockerfile 和 compose 文件都可以让 AI 生成，但你必须自己看懂。看不懂，报错的时候你连该改哪一行都不知道。&#10;&#10;所以正确的做法是：让 AI 生成之后，逐行问它，这行是干什么的。&#10;&#10;最常见的三类坑我先给你们：端口没映射、环境变量没传、数据库连不上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本课核心主张 · 配置文件的风险&lt;/Text&gt;&#10;    &lt;Text style={{ fontSize: 16, color: '#C9D9F2' }}&gt;医院信息系统实验 · 第 9 课&lt;/Text&gt;&#10;  &lt;/Box&gt;&#10;&#10;  &lt;Box style={{ width: '1280px', height: '552px', padding: '24px 40px 0px 40px' }}&gt;&#10;    &lt;Box style={{ height: '300px', background: '#0E3F8C', padding: '34px 44px', justifyContent: 'space-between' }}&gt;&#10;      &lt;Box style={{ flexDirection: 'row', alignItems: 'center', gap: 16 }}&gt;&#10;        &lt;Box style={{ width: 8, height: 30, background: '#FFC107' }} /&gt;&#10;        &lt;Text style={{ fontSize: 19, color: '#8FAED8', letterSpacing: 2 }}&gt;KEY MESSAGE OF THIS LESSON&lt;/Text&gt;&#10;      &lt;/Box&gt;&#10;&#10;      &lt;Text style={{ fontSize: 76, color: '#FFFFFF', fontWeight: 'bold', lineHeight: 1.18 }}&gt;&#10;        部署报错 90%&lt;br /&gt;出在配置文件。&#10;      &lt;/Text&gt;&#10;&#10;      &lt;Box style={{ flexDirection: 'row', alignItems: 'center', gap: 20 }}&gt;&#10;        &lt;Box style={{ width: 100, height: 5, background: '#FFC107' }} /&gt;&#10;        &lt;Text style={{ fontSize: 24, color: '#C9D9F2' }}&gt;配置可以让 AI 生成，但必须逐行看懂&lt;/Text&gt;&#10;      &lt;/Box&gt;&#10;    &lt;/Box&gt;&#10;&#10;    &lt;Box style={{ height: '18px' }} /&gt;&#10;&#10;    &lt;Box style={{ height: '210px', flexDirection: 'row', gap: 24 }}&gt;&#10;      &lt;Box style={{ flex: 1, background: '#F7F9FC', border: '1px solid #D6DCE5', borderTop: '4px solid #1E4FA8', padding: '22px 24px', gap: 12 }}&gt;&#10;        &lt;Box style={{ flexDirection: 'row', alignItems: 'center', gap: 12 }}&gt;&#10;          &lt;Box style={{ width: 38, height: 38, background: '#1E4FA8', alignItems: 'center', justifyContent: 'center' }}&gt;&#10;            &lt;Text style={{ fontSize: 20, color: '#FFFFFF', fontWeight: 'bold' }}&gt;?&lt;/Text&gt;&#10;          &lt;/Box&gt;&#10;          &lt;Text style={{ fontSize: 26, color: '#1A2230', fontWeight: 'bold' }}&gt;逐行问它&quot;这行是干什么的&quot;&lt;/Text&gt;&#10;        &lt;/Box&gt;&#10;        &lt;Text style={{ fontSize: 21, color: '#4A5568', lineHeight: 1.55 }}&gt;&#10;          让 AI 生成 Dockerfile 与 compose 之后，逐行追问每行的作用。你可以不手写，但不能看不懂——看不懂，报错时连改哪一行都不知道。&#10;        &lt;/Text&gt;&#10;      &lt;/Box&gt;&#10;&#10;      &lt;Box style={{ flex: 1, background: '#F7F9FC', border: '1px solid #D6DCE5', borderTop: '4px solid #D9534F', padding: '22px 24px', gap: 12 }}&gt;&#10;        &lt;Box style={{ flexDirection: 'row', alignItems: 'center', gap: 12 }}&gt;&#10;          &lt;Box style={{ width: 38, height: 38, background: '#D9534F', alignItems: 'center', justifyContent: 'center' }}&gt;&#10;            &lt;Text style={{ fontSize: 20, color: '#FFFFFF', fontWeight: 'bold' }}&gt;!&lt;/Text&gt;&#10;          &lt;/Box&gt;&#10;          &lt;Text style={{ fontSize: 26, color: '#1A2230', fontWeight: 'bold' }}&gt;三类高频坑按这个顺序排&lt;/Text&gt;&#10;        &lt;/Box&gt;&#10;        &lt;Text style={{ fontSize: 21, color: '#4A5568', lineHeight: 1.55 }}&gt;&#10;          &lt;span style={{ fontWeight: 'bold', color: '#D9534F' }}&gt;端口没映射&lt;/span&gt;、环境变量没传、数据库连不上。这三类占了绝大多数，遇到报错先按这个顺序排查。&#10;        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3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676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本课核心主张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配置文件的风险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9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381000" y="914400"/>
            <a:ext cx="11430000" cy="2857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800100" y="1238250"/>
            <a:ext cx="76200" cy="2857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028700" y="1276350"/>
            <a:ext cx="3228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150">
                <a:solidFill>
                  <a:srgbClr val="8FAED8"/>
                </a:solidFill>
                <a:latin typeface="Microsoft YaHei"/>
                <a:ea typeface="Microsoft YaHei"/>
              </a:rPr>
              <a:t>KEY MESSAGE OF THIS LESSON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800100" y="1524000"/>
            <a:ext cx="10591800" cy="205740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5700" b="1">
                <a:solidFill>
                  <a:srgbClr val="FFFFFF"/>
                </a:solidFill>
                <a:latin typeface="Microsoft YaHei"/>
                <a:ea typeface="Microsoft YaHei"/>
              </a:rPr>
              <a:t>部署报错</a:t>
            </a:r>
            <a:r>
              <a:rPr lang="en-US" sz="5700" b="1">
                <a:solidFill>
                  <a:srgbClr val="FFFFFF"/>
                </a:solidFill>
                <a:latin typeface="Microsoft YaHei"/>
                <a:ea typeface="Microsoft YaHei"/>
              </a:rPr>
              <a:t> 90%</a:t>
            </a:r>
            <a:endParaRPr/>
          </a:p>
          <a:p>
            <a:pPr>
              <a:lnSpc>
                <a:spcPct val="118000"/>
              </a:lnSpc>
            </a:pPr>
            <a:r>
              <a:rPr lang="zh-CN" sz="5700" b="1">
                <a:solidFill>
                  <a:srgbClr val="FFFFFF"/>
                </a:solidFill>
                <a:latin typeface="Microsoft YaHei"/>
                <a:ea typeface="Microsoft YaHei"/>
              </a:rPr>
              <a:t>出在配置文件。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800100" y="3695700"/>
            <a:ext cx="9525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943100" y="3581400"/>
            <a:ext cx="38004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C9D9F2"/>
                </a:solidFill>
                <a:latin typeface="Microsoft YaHei"/>
                <a:ea typeface="Microsoft YaHei"/>
              </a:rPr>
              <a:t>配置可以让</a:t>
            </a:r>
            <a:r>
              <a:rPr lang="en-US" sz="1800">
                <a:solidFill>
                  <a:srgbClr val="C9D9F2"/>
                </a:solidFill>
                <a:latin typeface="Microsoft YaHei"/>
                <a:ea typeface="Microsoft YaHei"/>
              </a:rPr>
              <a:t> AI </a:t>
            </a:r>
            <a:r>
              <a:rPr lang="zh-CN" sz="1800">
                <a:solidFill>
                  <a:srgbClr val="C9D9F2"/>
                </a:solidFill>
                <a:latin typeface="Microsoft YaHei"/>
                <a:ea typeface="Microsoft YaHei"/>
              </a:rPr>
              <a:t>生成，但必须逐行看懂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381000" y="3981450"/>
            <a:ext cx="5600700" cy="20574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17" name=""/>
          <p:cNvSpPr/>
          <p:nvPr/>
        </p:nvSpPr>
        <p:spPr>
          <a:xfrm rot="0" flipH="0" flipV="0">
            <a:off x="381000" y="3943350"/>
            <a:ext cx="5600700" cy="2095500"/>
          </a:xfrm>
          <a:custGeom>
            <a:pathLst>
              <a:path w="588" h="220">
                <a:moveTo>
                  <a:pt x="0" y="0"/>
                </a:moveTo>
                <a:lnTo>
                  <a:pt x="588" y="0"/>
                </a:lnTo>
                <a:lnTo>
                  <a:pt x="588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8" name=""/>
          <p:cNvSpPr/>
          <p:nvPr/>
        </p:nvSpPr>
        <p:spPr>
          <a:xfrm rot="0" flipH="0" flipV="0">
            <a:off x="609600" y="4191000"/>
            <a:ext cx="361950" cy="3619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742950" y="4257675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?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085850" y="4219575"/>
            <a:ext cx="2990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逐行问它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这行是干什么的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09600" y="4667250"/>
            <a:ext cx="5143500" cy="1123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让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生成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Dockerfile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与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compose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之后，逐行追问每行的作用。你可以不手写，但不能看不懂——看不懂，报错时连改哪一行都不知道。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6210300" y="3981450"/>
            <a:ext cx="5600700" cy="2000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23" name=""/>
          <p:cNvSpPr/>
          <p:nvPr/>
        </p:nvSpPr>
        <p:spPr>
          <a:xfrm rot="0" flipH="0" flipV="0">
            <a:off x="6210300" y="3943350"/>
            <a:ext cx="5600700" cy="2038350"/>
          </a:xfrm>
          <a:custGeom>
            <a:pathLst>
              <a:path w="588" h="214">
                <a:moveTo>
                  <a:pt x="0" y="0"/>
                </a:moveTo>
                <a:lnTo>
                  <a:pt x="588" y="0"/>
                </a:lnTo>
                <a:lnTo>
                  <a:pt x="588" y="4"/>
                </a:lnTo>
                <a:lnTo>
                  <a:pt x="0" y="4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124" name=""/>
          <p:cNvSpPr/>
          <p:nvPr/>
        </p:nvSpPr>
        <p:spPr>
          <a:xfrm rot="0" flipH="0" flipV="0">
            <a:off x="6438900" y="4191000"/>
            <a:ext cx="361950" cy="3619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591300" y="4257675"/>
            <a:ext cx="66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!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915150" y="4219575"/>
            <a:ext cx="2724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三类高频坑按这个顺序排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438900" y="4667250"/>
            <a:ext cx="5143500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端口没映射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、环境变量没传、数据库连不上。这三类占了绝大多数，遇到报错先按这个顺序排查。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13 / 15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30" name="" descr="&lt;Slide&#10;  notes={`作业两项。&#10;&#10;第一，提交公网可访问的地址。我会在课后点开验证，所以答辩前记得预热，别让免费实例睡着。&#10;&#10;第二，提交 docker-compose.yml 和 GitHub Actions 的配置，交你自己看得懂的那一版。&#10;&#10;下节课我们做数据规范——你们的系统要&quot;接上医院的规矩&quot;了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3 答疑与作业 · 作业布置&lt;/Text&gt;&#10;    &lt;Text style={{ fontSize: 16, color: '#C9D9F2' }}&gt;医院信息系统实验 · 第 9 课&lt;/Text&gt;&#10;  &lt;/Box&gt;&#10;&#10;  &lt;Box style={{ width: '1280px', height: '552px', padding: '24px 40px 0px 40px' }}&gt;&#10;    &lt;Box style={{ height: '48px', flexDirection: 'row', alignItems: 'center', gap: 14 }}&gt;&#10;      &lt;Box style={{ width: 6, height: 34, background: '#1E4FA8' }} /&gt;&#10;      &lt;Text style={{ fontSize: 36, color: '#1A2230', fontWeight: 'bold' }}&gt;本节课作业（两项）&lt;/Text&gt;&#10;      &lt;Text style={{ fontSize: 22, color: '#8B97A8' }}&gt;提交至课程群公告指定入口&lt;/Text&gt;&#10;    &lt;/Box&gt;&#10;&#10;    &lt;Box style={{ height: '14px' }} /&gt;&#10;&#10;    &lt;svg width={1200} height={132} viewBox='0 0 1200 132'&gt;&#10;      &lt;rect x='400' y='42' width='400' height='8' rx='4' fill='#E5E7EB' /&gt;&#10;      &lt;rect x='400' y='42' width='400' height='8' rx='4' fill='#1E4FA8' opacity='0.25' /&gt;&#10;      &lt;circle cx='400' cy='46' r='30' fill='#1E4FA8' /&gt;&#10;      &lt;text x='400' y='47' text-anchor='middle' dominant-baseline='central' font-size='24' font-weight='bold' fill='#FFFFFF'&gt;1&lt;/text&gt;&#10;      &lt;circle cx='800' cy='46' r='34' fill='#0E3F8C' /&gt;&#10;      &lt;text x='800' y='47' text-anchor='middle' dominant-baseline='central' font-size='26' font-weight='bold' fill='#FFFFFF'&gt;2&lt;/text&gt;&#10;      &lt;text x='400' y='106' text-anchor='middle' font-size='24' font-weight='bold' fill='#1A2230'&gt;公网可访问地址&lt;/text&gt;&#10;      &lt;text x='800' y='106' text-anchor='middle' font-size='24' font-weight='bold' fill='#0E3F8C'&gt;容器与流水线配置&lt;/text&gt;&#10;    &lt;/svg&gt;&#10;&#10;    &lt;Box style={{ height: '16px' }} /&gt;&#10;&#10;    &lt;Box style={{ height: '264px', flexDirection: 'row', gap: 24 }}&gt;&#10;      &lt;Box style={{ flex: 1, background: '#F7F9FC', border: '1px solid #D6DCE5', borderTop: '4px solid #1E4FA8', padding: '24px 28px', justifyContent: 'space-between' }}&gt;&#10;        &lt;Box style={{ gap: 12 }}&gt;&#10;          &lt;Text style={{ fontSize: 28, color: '#1A2230', fontWeight: 'bold' }}&gt;① 公网可访问地址&lt;/Text&gt;&#10;          &lt;Text style={{ fontSize: 22, color: '#4A5568', lineHeight: 1.55 }}&gt;&#10;            提交你的 &lt;span style={{ fontWeight: 'bold', color: '#1E4FA8' }}&gt;HTTPS 地址&lt;/span&gt;，我会在课后点开验证。免费实例会休眠，答辩前记得提前十分钟预热一次。&#10;          &lt;/Text&gt;&#10;        &lt;/Box&gt;&#10;        &lt;Box style={{ background: '#E8EFF8', padding: '10px 16px' }}&gt;&#10;          &lt;Text style={{ fontSize: 20, color: '#1E4FA8', fontWeight: 'bold' }}&gt;验收点：我用手机也能打开&lt;/Text&gt;&#10;        &lt;/Box&gt;&#10;      &lt;/Box&gt;&#10;&#10;      &lt;Box style={{ flex: 1, background: '#E8EFF8', border: '1px solid #3D7BD9', borderTop: '4px solid #0E3F8C', padding: '24px 28px', justifyContent: 'space-between' }}&gt;&#10;        &lt;Box style={{ gap: 12 }}&gt;&#10;          &lt;Text style={{ fontSize: 28, color: '#1A2230', fontWeight: 'bold' }}&gt;② 容器与流水线配置&lt;/Text&gt;&#10;          &lt;Text style={{ fontSize: 22, color: '#4A5568', lineHeight: 1.55 }}&gt;&#10;            提交 &lt;span style={{ fontWeight: 'bold', color: '#1A2230' }}&gt;docker-compose.yml&lt;/span&gt; 与 &lt;span style={{ fontWeight: 'bold', color: '#1A2230' }}&gt;GitHub Actions&lt;/span&gt; 配置，交你自己看得懂的那一版。&#10;          &lt;/Text&gt;&#10;        &lt;/Box&gt;&#10;        &lt;Box style={{ background: '#FFFFFF', padding: '10px 16px' }}&gt;&#10;          &lt;Text style={{ fontSize: 20, color: '#0E3F8C', fontWeight: 'bold' }}&gt;验收点：能说出关键行的作用&lt;/Text&gt;&#10;        &lt;/Box&gt;&#10;      &lt;/Box&gt;&#10;    &lt;/Box&gt;&#10;&#10;    &lt;Box style={{ height: '12px' }} /&gt;&#10;&#10;    &lt;Box style={{ height: '42px', background: '#1E4FA8', flexDirection: 'row', alignItems: 'center', padding: '0px 20px', gap: 12 }}&gt;&#10;      &lt;Box style={{ width: 6, height: 6, background: '#FFC107' }} /&gt;&#10;      &lt;Text style={{ fontSize: 21, color: '#FFFFFF', fontWeight: 'bold' }}&gt;下节课做数据规范 —— 系统要&quot;接上医院的规矩&quot;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4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2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209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答疑与作业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作业布置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9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381000" y="98107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571500" y="933450"/>
            <a:ext cx="30861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本节课作业（两项）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3790950" y="1019175"/>
            <a:ext cx="2514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提交至课程群公告指定入口</a:t>
            </a:r>
            <a:endParaRPr/>
          </a:p>
        </p:txBody>
      </p:sp>
      <p:pic>
        <p:nvPicPr>
          <p:cNvPr id="1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1504950"/>
            <a:ext cx="11430000" cy="1257300"/>
          </a:xfrm>
          <a:prstGeom prst="rect">
            <a:avLst/>
          </a:prstGeom>
          <a:ln/>
        </p:spPr>
      </p:pic>
      <p:sp>
        <p:nvSpPr>
          <p:cNvPr id="139" name=""/>
          <p:cNvSpPr/>
          <p:nvPr/>
        </p:nvSpPr>
        <p:spPr>
          <a:xfrm rot="0" flipH="0" flipV="0">
            <a:off x="381000" y="2952750"/>
            <a:ext cx="5600700" cy="25146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381000" y="2914650"/>
            <a:ext cx="5600700" cy="2552700"/>
          </a:xfrm>
          <a:custGeom>
            <a:pathLst>
              <a:path w="588" h="268">
                <a:moveTo>
                  <a:pt x="0" y="0"/>
                </a:moveTo>
                <a:lnTo>
                  <a:pt x="588" y="0"/>
                </a:lnTo>
                <a:lnTo>
                  <a:pt x="588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47700" y="3181350"/>
            <a:ext cx="50673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1A2230"/>
                </a:solidFill>
                <a:latin typeface="Microsoft YaHei"/>
                <a:ea typeface="Microsoft YaHei"/>
              </a:rPr>
              <a:t>① </a:t>
            </a: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公网可访问地址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47700" y="3619500"/>
            <a:ext cx="5067300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提交你的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HTTPS 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地址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，我会在课后点开验证。免费实例会休眠，答辩前记得提前十分钟预热一次。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47700" y="4781550"/>
            <a:ext cx="5067300" cy="4191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800100" y="4876800"/>
            <a:ext cx="476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验收点：我用手机也能打开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6210300" y="2952750"/>
            <a:ext cx="5600700" cy="25146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46" name=""/>
          <p:cNvSpPr/>
          <p:nvPr/>
        </p:nvSpPr>
        <p:spPr>
          <a:xfrm rot="0" flipH="0" flipV="0">
            <a:off x="6210300" y="2914650"/>
            <a:ext cx="5600700" cy="2552700"/>
          </a:xfrm>
          <a:custGeom>
            <a:pathLst>
              <a:path w="588" h="268">
                <a:moveTo>
                  <a:pt x="0" y="0"/>
                </a:moveTo>
                <a:lnTo>
                  <a:pt x="588" y="0"/>
                </a:lnTo>
                <a:lnTo>
                  <a:pt x="588" y="4"/>
                </a:lnTo>
                <a:lnTo>
                  <a:pt x="0" y="4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477000" y="3181350"/>
            <a:ext cx="50673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1A2230"/>
                </a:solidFill>
                <a:latin typeface="Microsoft YaHei"/>
                <a:ea typeface="Microsoft YaHei"/>
              </a:rPr>
              <a:t>② </a:t>
            </a: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容器与流水线配置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477000" y="3619500"/>
            <a:ext cx="5067300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提交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docker-compose.yml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与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GitHub Actions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配置，交你自己看得懂的那一版。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6477000" y="4781550"/>
            <a:ext cx="5067300" cy="4191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629400" y="4876800"/>
            <a:ext cx="476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验收点：能说出关键行的作用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381000" y="5543550"/>
            <a:ext cx="11430000" cy="4000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2" name=""/>
          <p:cNvSpPr/>
          <p:nvPr/>
        </p:nvSpPr>
        <p:spPr>
          <a:xfrm rot="0" flipH="0" flipV="0">
            <a:off x="571500" y="5715000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742950" y="5619750"/>
            <a:ext cx="436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下节课做数据规范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 —— 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系统要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接上医院的规矩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14 / 15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56" name="" descr="&lt;Slide&#10;  notes={`今天就到这里。&#10;&#10;今天做的事总结成一句话：让它跑到别人的电脑上。这是&quot;作业&quot;和&quot;系统&quot;的分界线。&#10;&#10;回去把公网地址稳住，别等到答辩那天才发现实例休眠打不开。&#10;&#10;下节课我们讲数据规范与集成，给你们的系统接上医院真正的数据规矩。下课。`}&#10;  style={{ width: '1280px', height: '720px', background: '#0E3F8C', padding: '0px', position: 'relative' }}&#10;&gt;&#10;  &lt;svg width={640} height={720} viewBox='0 0 640 720' style={{ position: 'absolute', top: 0, right: 0 }}&gt;&#10;    &lt;path d='M0 720 L640 720 L640 220 Z' fill='#1E4FA8' opacity='0.5' /&gt;&#10;    &lt;circle cx='470' cy='300' r='150' fill='#1E4FA8' opacity='0.40' /&gt;&#10;    &lt;circle cx='470' cy='300' r='92' fill='#1E4FA8' opacity='0.55' /&gt;&#10;    &lt;circle cx='470' cy='300' r='34' fill='#FFC107' opacity='0.60' /&gt;&#10;    &lt;path d='M340 250 A150 150 0 0 1 340 350' fill='none' stroke='#FFFFFF' strokeWidth='3' opacity='0.30' /&gt;&#10;    &lt;path d='M600 250 A150 150 0 0 0 600 350' fill='none' stroke='#FFFFFF' strokeWidth='3' opacity='0.30' /&gt;&#10;    &lt;rect x='336' y='520' width='250' height='10' rx='5' fill='#FFFFFF' opacity='0.15' /&gt;&#10;    &lt;rect x='336' y='552' width='180' height='10' rx='5' fill='#FFFFFF' opacity='0.12' /&gt;&#10;    &lt;rect x='336' y='584' width='290' height='10' rx='5' fill='#FFFFFF' opacity='0.15' /&gt;&#10;    &lt;rect x='336' y='616' width='210' height='10' rx='5' fill='#FFC107' opacity='0.35' /&gt;&#10;    &lt;circle cx='470' cy='300' r='8' fill='#FFFFFF' opacity='0.8' /&gt;&#10;  &lt;/svg&gt;&#10;&#10;  &lt;Box style={{ width: '1280px', height: '720px', padding: '76px 40px 64px 64px', justifyContent: 'space-between', position: 'relative', zIndex: 2 }}&gt;&#10;    &lt;Box style={{ gap: 16 }}&gt;&#10;      &lt;Box style={{ flexDirection: 'row', alignItems: 'center', gap: 14 }}&gt;&#10;        &lt;Box style={{ width: 6, height: 26, background: '#FFC107' }} /&gt;&#10;        &lt;Text style={{ fontSize: 20, color: '#C9D9F2' }}&gt;第 9 课 · 小结&lt;/Text&gt;&#10;      &lt;/Box&gt;&#10;      &lt;Text style={{ fontSize: 58, color: '#FFFFFF', fontWeight: 'bold', lineHeight: 1.25 }}&gt;让它跑到别人的电脑上&lt;/Text&gt;&#10;      &lt;Text style={{ fontSize: 24, color: '#C9D9F2', lineHeight: 1.5 }}&gt;从&quot;本地能跑&quot;到&quot;别人能用&quot;，跨过去，作业才变成系统。&lt;/Text&gt;&#10;    &lt;/Box&gt;&#10;&#10;    &lt;Box style={{ width: '560px', gap: 14 }}&gt;&#10;      &lt;Box style={{ height: 2, background: '#3D7BD9' }} /&gt;&#10;      &lt;Text style={{ fontSize: 26, color: '#C9D9F2', lineHeight: 1.5 }}&gt;下节课预告&lt;/Text&gt;&#10;      &lt;Text style={{ fontSize: 38, color: '#FFFFFF', fontWeight: 'bold', lineHeight: 1.3 }}&gt;第 10 课 数据规范与集成&lt;/Text&gt;&#10;      &lt;Text style={{ fontSize: 22, color: '#8FAED8', lineHeight: 1.5 }}&gt;数据规范 · CSV 药品导入 · 审计日志&lt;/Text&gt;&#10;    &lt;/Box&gt;&#10;&#10;    &lt;Box style={{ flexDirection: 'row', alignItems: 'center', gap: 20 }}&gt;&#10;      &lt;Text style={{ fontSize: 18, color: '#8FAED8' }}&gt;湖南中医药大学&lt;/Text&gt;&#10;      &lt;Box style={{ width: 1, height: 20, background: '#4A6FA8' }} /&gt;&#10;      &lt;Text style={{ fontSize: 18, color: '#8FAED8' }}&gt;医院信息系统实验&lt;/Text&gt;&#10;      &lt;Box style={{ width: 1, height: 20, background: '#4A6FA8' }} /&gt;&#10;      &lt;Text style={{ fontSize: 18, color: '#8FAED8' }}&gt;主讲教师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1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0" y="0"/>
            <a:ext cx="6096000" cy="6858000"/>
          </a:xfrm>
          <a:prstGeom prst="rect">
            <a:avLst/>
          </a:prstGeom>
          <a:ln/>
        </p:spPr>
      </p:pic>
      <p:sp>
        <p:nvSpPr>
          <p:cNvPr id="159" name=""/>
          <p:cNvSpPr/>
          <p:nvPr/>
        </p:nvSpPr>
        <p:spPr>
          <a:xfrm rot="0" flipH="0" flipV="0">
            <a:off x="609600" y="723900"/>
            <a:ext cx="57150" cy="2476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800100" y="733425"/>
            <a:ext cx="1152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9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09600" y="1123950"/>
            <a:ext cx="11201400" cy="8286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让它跑到别人的电脑上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09600" y="2105025"/>
            <a:ext cx="11201400" cy="4191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800">
                <a:solidFill>
                  <a:srgbClr val="C9D9F2"/>
                </a:solidFill>
                <a:latin typeface="Microsoft YaHei"/>
                <a:ea typeface="Microsoft YaHei"/>
              </a:rPr>
              <a:t>从</a:t>
            </a:r>
            <a:r>
              <a:rPr lang="en-US" sz="1800">
                <a:solidFill>
                  <a:srgbClr val="C9D9F2"/>
                </a:solidFill>
                <a:latin typeface="Microsoft YaHei"/>
                <a:ea typeface="Microsoft YaHei"/>
              </a:rPr>
              <a:t>"</a:t>
            </a:r>
            <a:r>
              <a:rPr lang="zh-CN" sz="1800">
                <a:solidFill>
                  <a:srgbClr val="C9D9F2"/>
                </a:solidFill>
                <a:latin typeface="Microsoft YaHei"/>
                <a:ea typeface="Microsoft YaHei"/>
              </a:rPr>
              <a:t>本地能跑</a:t>
            </a:r>
            <a:r>
              <a:rPr lang="en-US" sz="1800">
                <a:solidFill>
                  <a:srgbClr val="C9D9F2"/>
                </a:solidFill>
                <a:latin typeface="Microsoft YaHei"/>
                <a:ea typeface="Microsoft YaHei"/>
              </a:rPr>
              <a:t>"</a:t>
            </a:r>
            <a:r>
              <a:rPr lang="zh-CN" sz="1800">
                <a:solidFill>
                  <a:srgbClr val="C9D9F2"/>
                </a:solidFill>
                <a:latin typeface="Microsoft YaHei"/>
                <a:ea typeface="Microsoft YaHei"/>
              </a:rPr>
              <a:t>到</a:t>
            </a:r>
            <a:r>
              <a:rPr lang="en-US" sz="1800">
                <a:solidFill>
                  <a:srgbClr val="C9D9F2"/>
                </a:solidFill>
                <a:latin typeface="Microsoft YaHei"/>
                <a:ea typeface="Microsoft YaHei"/>
              </a:rPr>
              <a:t>"</a:t>
            </a:r>
            <a:r>
              <a:rPr lang="zh-CN" sz="1800">
                <a:solidFill>
                  <a:srgbClr val="C9D9F2"/>
                </a:solidFill>
                <a:latin typeface="Microsoft YaHei"/>
                <a:ea typeface="Microsoft YaHei"/>
              </a:rPr>
              <a:t>别人能用</a:t>
            </a:r>
            <a:r>
              <a:rPr lang="en-US" sz="1800">
                <a:solidFill>
                  <a:srgbClr val="C9D9F2"/>
                </a:solidFill>
                <a:latin typeface="Microsoft YaHei"/>
                <a:ea typeface="Microsoft YaHei"/>
              </a:rPr>
              <a:t>"</a:t>
            </a:r>
            <a:r>
              <a:rPr lang="zh-CN" sz="1800">
                <a:solidFill>
                  <a:srgbClr val="C9D9F2"/>
                </a:solidFill>
                <a:latin typeface="Microsoft YaHei"/>
                <a:ea typeface="Microsoft YaHei"/>
              </a:rPr>
              <a:t>，跨过去，作业才变成系统。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609600" y="3371850"/>
            <a:ext cx="5334000" cy="190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09600" y="3524250"/>
            <a:ext cx="53340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C9D9F2"/>
                </a:solidFill>
                <a:latin typeface="Microsoft YaHei"/>
                <a:ea typeface="Microsoft YaHei"/>
              </a:rPr>
              <a:t>下节课预告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09600" y="4105275"/>
            <a:ext cx="5334000" cy="571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> 10 </a:t>
            </a: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课</a:t>
            </a: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数据规范与集成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09600" y="4810125"/>
            <a:ext cx="5334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8FAED8"/>
                </a:solidFill>
                <a:latin typeface="Microsoft YaHei"/>
                <a:ea typeface="Microsoft YaHei"/>
              </a:rPr>
              <a:t>数据规范</a:t>
            </a:r>
            <a:r>
              <a:rPr lang="en-US" sz="1650">
                <a:solidFill>
                  <a:srgbClr val="8FAED8"/>
                </a:solidFill>
                <a:latin typeface="Microsoft YaHei"/>
                <a:ea typeface="Microsoft YaHei"/>
              </a:rPr>
              <a:t> · CSV </a:t>
            </a:r>
            <a:r>
              <a:rPr lang="zh-CN" sz="1650">
                <a:solidFill>
                  <a:srgbClr val="8FAED8"/>
                </a:solidFill>
                <a:latin typeface="Microsoft YaHei"/>
                <a:ea typeface="Microsoft YaHei"/>
              </a:rPr>
              <a:t>药品导入</a:t>
            </a:r>
            <a:r>
              <a:rPr lang="en-US" sz="1650">
                <a:solidFill>
                  <a:srgbClr val="8FAED8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8FAED8"/>
                </a:solidFill>
                <a:latin typeface="Microsoft YaHei"/>
                <a:ea typeface="Microsoft YaHei"/>
              </a:rPr>
              <a:t>审计日志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09600" y="603885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湖南中医药大学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2000250" y="60483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2200275" y="6038850"/>
            <a:ext cx="137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3762375" y="60483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3962400" y="60388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主讲教师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2026-09-07T00:29:15Z</dcterms:created>
  <dcterms:modified xsi:type="dcterms:W3CDTF">2026-09-07T00:29:15Z</dcterms:modified>
</cp:coreProperties>
</file>
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前六周我们把系统做“能用”了，这周开始做“敢用”。今天讲安全。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先讲一个真实案例。前几年，某地一家医院的就诊系统被爆出漏洞：任何人都能通过修改接口参数，看到其他患者的姓名、身份证号、诊断记录。后果是什么？行政处罚、系统下线整改、医院信誉受损，最惨的是患者信息已经泄露，无法挽回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医院系统里跑的是老百姓最敏感的健康信息，所以这门课把安全放在“生产级”的第一位。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今天这节课分三段走。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第一段讲安全基线：认证就是证明你是你，授权就是明确你能干什么，最后我给你们一份清单，对着查 AI 写的代码里常见的四类漏洞。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第二段我当着你们的面做两个演示：一是给后端加登录和角色权限，二是让 AI 审查自己的代码，看它能查出什么。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第三段你们自己动手：接入认证、跑安全审查、验证越权。有问题现场问，最后布置作业。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今天讲三件事，第一件先说认证和授权这两块地基。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医院系统里跑的是什么？是老百姓最敏感的数据，健康信息。所以这门课把安全放在生产级的第一位，不是加分项，是及格线。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这一段你们要记住两句话：登录的本质是证明你是你，权限的本质是你能干什么。剩下的技术细节，都是这两句话的实现方式。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今天讲三件事。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第一件，认证，也就是证明你是你。登录的本质就是这个，密码是最常见的方式，但密码绝不能明文存数据库。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第二件，授权，也就是你能干什么。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第三件，漏洞自查。我给你们一份清单，对照着查 AI 写的代码：SQL 注入、越权访问、敏感信息硬编码、输入不校验，这四大常见病。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这三件事做完，你的系统才算从能用走到敢用。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先说认证，也就是登录。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登录的本质是证明你是你，密码是最常见的方式。但记住一条铁律：密码绝不能明文存数据库。明文存密码等于把所有人的家门钥匙挂在大门口。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正确做法是存哈希，而且是加盐哈希。bcrypt 这类算法自带盐和慢哈希，能防撞库。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最后一句最关键：让 AI 实现的时候，你们要在提示词里写明“密码使用 bcrypt 哈希存储”，它默认不会主动这么干。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登录之后就是权限。我们的系统有四种角色：管理员、医生、收费员、药师。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规矩是三条：收费员不能开药，药师不能改价格，医生不能看收费流水。这就是 RBAC，基于角色的访问控制。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实现上很清晰：登录后发一个令牌，叫 JWT，里面带角色信息；每个接口都校验角色，没权限就返回 403。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测试方法更简单：用收费员账号去调管理接口，被拦住了，就对了。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概念讲完了，现在动手。这一段我做两个演示。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第一个演示：一条提示词给后端加上认证与授权。注意我的用法——先让它给方案，方案确认了我才让它实现。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第二个演示：让 AI 当一次资深安全审计员，扫描它自己写的代码，输出一张漏洞表。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你们重点看最后一栏：AI 审查完，你们要人工复核。它可能漏报，也可能误报，那句“人工复核结论”，是你们自己的活。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先看第一个演示。我把提示词发给 OpenCode，你们注意看它的写法。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第一句就点明范围：为 @backend 添加认证与授权，并且告诉它用户表里已经有 role 字段，四个角色值是什么。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然后三件事说清楚：登录接口要用 bcrypt 校验密码并签发带角色的 JWT；鉴权要做成依赖注入式，管理员接口只有 admin 能访问；再给一个 /me 接口返回当前用户信息。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最后四个字最关键：先给方案。方案确认了我才让它动手实现。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第二个演示，让 AI 审查它自己写的代码。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提示词是这么写的：请你以资深安全审计员的身份审查本项目后端代码，重点看 @backend/app，检查 SQL 注入、认证绕过、越权、明文密码、敏感信息硬编码、输入校验缺失、CORS 配置，输出一张表格：漏洞描述、涉及文件、风险等级、修复建议。最后一句是：只报告真实存在的问题。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看它输出的漏洞清单。注意，AI 审查完你们要人工复核——它可能漏报，也可能误报。审查报告里“人工复核结论”这一栏，是你们自己的活。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现在轮到你们，三件事。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第一，接入登录、JWT 和 RBAC，四种角色的权限要分明。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第二，跑一遍安全审查，修复至少两个真实问题，注意是真实问题，不是 AI 凑数的。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第三，验证越权：用收费员账号去访问管理接口，必须返回 403，被拦住了才是对的。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做完的组做加分项：给患者身份证号做脱敏显示，列表页只显示后四位。有问题举手，我过来看。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最后一段，把你们最常问的问题一次答掉，然后布置作业。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先说一个比喻你们记住：安全审查报告是病历，测试是体检。病历记录你已经查出的问题，体检是你主动去找还没发现的问题。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今天你们交的是病历，下节课我们做体检。这两个东西合起来，才叫一个敢上线的系统。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你们问得最多的有三个问题，我一起答。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第一，JWT 和 session 有什么区别。一句话：JWT 是无状态的令牌，服务器不存，验签就行；Session 是有状态的，服务器要存会话。小项目用哪个都行，我们课程用 JWT，因为前后端分离更顺手。让 AI 解释给你们听，你们要能听懂。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第二，AI 生成的密码哈希算法不安全怎么办。提示词里明确写“使用 bcrypt”，或者审查时发现 md5、sha256，直接让它换。这是安全审查的典型发现项。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第三，CORS 报错是什么。这是浏览器的安全机制：前端域名 A 不允许随便访问后端域名 B。配置允许的前端域名就行，别图省事配星号，否则所有域名都能调你的接口。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请记住今天这句话：AI 是工具，你是签字人。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AI 把漏洞清单给你，不代表安全问题就解决了。它可能漏报，也可能误报，逐条复核是你的活，不是它的。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更重要的一层是责任。系统上线以后出了事，签字的是你，不是 AI。所以你不必会手写每一行代码，但你必须看得懂它在干什么、哪里可能出问题。看懂，是你签字的前提。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作业两项，都在课程群公告里。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第一，认证 RBAC 完成，加上安全审查报告。报告要表格形式，两栏内容：AI 输出的问题，加上你们人工复核的结论。只有 AI 输出没有复核结论的，我打回。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第二，全项目自查敏感信息——搜代码和提交历史里有没有密钥、身份证明文，写 100 字自查结论。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下节课讲测试。安全审查报告是你们的病历，测试是体检，两个都要有。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今天就到这里。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回去把认证和角色权限补完，把安全审查报告交上来。记住，审查报告里那一栏人工复核结论，是你们自己写的，不要原样抄 AI 的输出。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前六周我们把系统做“能用”了，从今天开始做“敢用”。下节课讲测试——安全审查报告是病历，测试是体检，一个都不能少。下课。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2" Type="http://schemas.openxmlformats.org/officeDocument/2006/relationships/image" Target="media/image7.svg"/><Relationship Id="rId3" Type="http://schemas.openxmlformats.org/officeDocument/2006/relationships/image" Target="media/image8.sv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&#10;  notes={`前六周我们把系统做“能用”了，这周开始做“敢用”。今天讲安全。&#10;&#10;我先讲一个真实案例。前几年，某地一家医院的就诊系统被爆出漏洞：任何人都能通过修改接口参数，看到其他患者的姓名、身份证号、诊断记录。后果是什么？行政处罚、系统下线整改、医院信誉受损，最惨的是患者信息已经泄露，无法挽回。&#10;&#10;医院系统里跑的是老百姓最敏感的健康信息，所以这门课把安全放在“生产级”的第一位。`}&#10;  style={{ width: '1280px', height: '720px', background: '#0E3F8C', padding: '0px', position: 'relative' }}&#10;&gt;&#10;  &lt;svg width={560} height={720} viewBox='0 0 560 720' style={{ position: 'absolute', top: 0, right: 0 }}&gt;&#10;    &lt;rect x='0' y='0' width='560' height='720' fill='#0E3F8C' /&gt;&#10;    &lt;path d='M120 0 L560 0 L560 720 L300 720 Z' fill='#1E4FA8' opacity='0.55' /&gt;&#10;    &lt;path d='M420 150 L500 190 L500 320 L420 360 Z' fill='#FFFFFF' opacity='0.13' /&gt;&#10;    &lt;rect x='430' y='210' width='60' height='8' rx='4' fill='#FFFFFF' opacity='0.16' /&gt;&#10;    &lt;rect x='430' y='240' width='44' height='8' rx='4' fill='#FFC107' opacity='0.5' /&gt;&#10;    &lt;rect x='430' y='270' width='70' height='8' rx='4' fill='#FFFFFF' opacity='0.13' /&gt;&#10;    &lt;circle cx='470' cy='470' r='110' fill='#1E4FA8' opacity='0.5' /&gt;&#10;    &lt;path d='M470 400 a70 70 0 0 1 70 70 h-30 a40 40 0 0 0 -40 -40 Z' fill='#FFC107' opacity='0.55' /&gt;&#10;    &lt;path d='M470 400 a70 70 0 0 0 -70 70 h30 a40 40 0 0 1 40 -40 Z' fill='#FFFFFF' opacity='0.18' /&gt;&#10;    &lt;rect x='330' y='600' width='240' height='8' rx='4' fill='#FFFFFF' opacity='0.15' /&gt;&#10;    &lt;rect x='330' y='630' width='170' height='8' rx='4' fill='#FFFFFF' opacity='0.12' /&gt;&#10;  &lt;/svg&gt;&#10;&#10;  &lt;Box style={{ width: '1280px', height: '720px', padding: '64px 40px 56px 64px', justifyContent: 'space-between', position: 'relative', zIndex: 2 }}&gt;&#10;    &lt;Box style={{ flexDirection: 'row', alignItems: 'center', gap: 16 }}&gt;&#10;      &lt;Box style={{ width: 6, height: 26, background: '#FFC107' }} /&gt;&#10;      &lt;Text style={{ fontSize: 20, color: '#C9D9F2', fontWeight: 'bold' }}&gt;医院信息系统实验 · AI 智能体与 Vibe Coding 开发实践&lt;/Text&gt;&#10;    &lt;/Box&gt;&#10;&#10;    &lt;Box style={{ gap: 22 }}&gt;&#10;      &lt;Box style={{ flexDirection: 'row', alignItems: 'center', gap: 14 }}&gt;&#10;        &lt;Box style={{ background: '#FFC107', padding: '6px 16px', borderRadius: 4 }}&gt;&#10;          &lt;Text style={{ fontSize: 22, color: '#0E3F8C', fontWeight: 'bold' }}&gt;第 7 课&lt;/Text&gt;&#10;        &lt;/Box&gt;&#10;        &lt;Text style={{ fontSize: 22, color: '#9FBEE6' }}&gt;Authentication · RBAC · Security&lt;/Text&gt;&#10;      &lt;/Box&gt;&#10;      &lt;Text style={{ fontSize: 62, color: '#FFFFFF', fontWeight: 'bold', lineHeight: 1.2 }}&gt;认证、角色权限与安全&lt;/Text&gt;&#10;      &lt;Text style={{ fontSize: 30, color: '#C9D9F2', lineHeight: 1.4 }}&gt;第 7 课 · 从“能用”到“敢用”&lt;/Text&gt;&#10;      &lt;Box style={{ width: 96, height: 5, background: '#FFC107' }} /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0" y="0"/>
            <a:ext cx="5334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09600" y="6096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19150" y="619125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· AI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智能体与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Vibe Coding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开发实践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2295525"/>
            <a:ext cx="981075" cy="371475"/>
          </a:xfrm>
          <a:prstGeom prst="roundRect">
            <a:avLst>
              <a:gd name="adj" fmla="val 10256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676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7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724025" y="2352675"/>
            <a:ext cx="31908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FBEE6"/>
                </a:solidFill>
                <a:latin typeface="Microsoft YaHei"/>
                <a:ea typeface="Microsoft YaHei"/>
              </a:rPr>
              <a:t>Authentication · RBAC · Security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876550"/>
            <a:ext cx="11201400" cy="8572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认证、角色权限与安全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112014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从“能用”到“敢用”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638675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000250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200275" y="61150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762375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962400" y="6115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9" name="" descr="&lt;Slide&#10;  notes={`今天这节课分三段走。&#10;&#10;第一段讲安全基线：认证就是证明你是你，授权就是明确你能干什么，最后我给你们一份清单，对着查 AI 写的代码里常见的四类漏洞。&#10;&#10;第二段我当着你们的面做两个演示：一是给后端加登录和角色权限，二是让 AI 审查自己的代码，看它能查出什么。&#10;&#10;第三段你们自己动手：接入认证、跑安全审查、验证越权。有问题现场问，最后布置作业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节课路线图&lt;/Text&gt;&#10;    &lt;Text style={{ fontSize: 16, color: '#C9D9F2' }}&gt;医院信息系统实验 · 第 7 课&lt;/Text&gt;&#10;  &lt;/Box&gt;&#10;&#10;  &lt;Box style={{ width: '1280px', height: '552px', flexDirection: 'row', padding: '24px 40px 0px 40px', gap: 30 }}&gt;&#10;    &lt;Box style={{ width: '380px', height: '528px', background: '#0E3F8C', padding: '36px 32px', justifyContent: 'space-between' }}&gt;&#10;      &lt;Box style={{ gap: 10 }}&gt;&#10;        &lt;Text style={{ fontSize: 76, color: '#FFFFFF', fontWeight: 'bold', lineHeight: 1.1 }}&gt;目录&lt;/Text&gt;&#10;        &lt;Text style={{ fontSize: 18, color: '#7FA3D6', letterSpacing: 2 }}&gt;CONTENTS&lt;/Text&gt;&#10;      &lt;/Box&gt;&#10;      &lt;Box style={{ width: 64, height: 5, background: '#FFC107' }} /&gt;&#10;      &lt;Box style={{ gap: 12 }}&gt;&#10;        &lt;Text style={{ fontSize: 20, color: '#C9D9F2', lineHeight: 1.6 }}&gt;90 分钟&lt;/Text&gt;&#10;        &lt;Text style={{ fontSize: 20, color: '#C9D9F2', lineHeight: 1.6 }}&gt;案例 15 · 讲授 20 · 演示 10&lt;/Text&gt;&#10;        &lt;Text style={{ fontSize: 20, color: '#C9D9F2', lineHeight: 1.6 }}&gt;实操 35 · 小结 10&lt;/Text&gt;&#10;      &lt;/Box&gt;&#10;    &lt;/Box&gt;&#10;&#10;    &lt;Box style={{ width: '790px', height: '528px', gap: 18 }}&gt;&#10;      &lt;Box style={{ height: '164px', background: '#F7F9FC', border: '1px solid #D6DCE5', borderLeft: '6px solid #1E4FA8', padding: '22px 26px', gap: 8 }}&gt;&#10;        &lt;Box style={{ flexDirection: 'row', alignItems: 'center', gap: 14 }}&gt;&#10;          &lt;Box style={{ width: 40, height: 40, background: '#1E4FA8', alignItems: 'center', justifyContent: 'center' }}&gt;&#10;            &lt;Text style={{ fontSize: 20, color: '#FFFFFF', fontWeight: 'bold' }}&gt;01&lt;/Text&gt;&#10;          &lt;/Box&gt;&#10;          &lt;Text style={{ fontSize: 28, color: '#1A2230', fontWeight: 'bold' }}&gt;安全基线 · 认证与授权&lt;/Text&gt;&#10;        &lt;/Box&gt;&#10;        &lt;Text style={{ fontSize: 22, color: '#4A5568', lineHeight: 1.45 }}&gt;登录的本质是证明你是你，权限的本质是你能干什么；再对照清单查 AI 代码的四大常见病。&lt;/Text&gt;&#10;      &lt;/Box&gt;&#10;&#10;      &lt;Box style={{ height: '164px', background: '#F7F9FC', border: '1px solid #D6DCE5', borderLeft: '6px solid #3D7BD9', padding: '22px 26px', gap: 8 }}&gt;&#10;        &lt;Box style={{ flexDirection: 'row', alignItems: 'center', gap: 14 }}&gt;&#10;          &lt;Box style={{ width: 40, height: 40, background: '#3D7BD9', alignItems: 'center', justifyContent: 'center' }}&gt;&#10;            &lt;Text style={{ fontSize: 20, color: '#FFFFFF', fontWeight: 'bold' }}&gt;02&lt;/Text&gt;&#10;          &lt;/Box&gt;&#10;          &lt;Text style={{ fontSize: 28, color: '#1A2230', fontWeight: 'bold' }}&gt;实战演示 · 加认证与 AI 审查&lt;/Text&gt;&#10;        &lt;/Box&gt;&#10;        &lt;Text style={{ fontSize: 22, color: '#4A5568', lineHeight: 1.45 }}&gt;一条提示词给后端装上登录与角色权限，再让 AI 当一次安全审计员，扫描自己的代码。&lt;/Text&gt;&#10;      &lt;/Box&gt;&#10;&#10;      &lt;Box style={{ height: '164px', background: '#F7F9FC', border: '1px solid #D6DCE5', borderLeft: '6px solid #0E3F8C', padding: '22px 26px', gap: 8 }}&gt;&#10;        &lt;Box style={{ flexDirection: 'row', alignItems: 'center', gap: 14 }}&gt;&#10;          &lt;Box style={{ width: 40, height: 40, background: '#0E3F8C', alignItems: 'center', justifyContent: 'center' }}&gt;&#10;            &lt;Text style={{ fontSize: 20, color: '#FFFFFF', fontWeight: 'bold' }}&gt;03&lt;/Text&gt;&#10;          &lt;/Box&gt;&#10;          &lt;Text style={{ fontSize: 28, color: '#1A2230', fontWeight: 'bold' }}&gt;答疑与作业&lt;/Text&gt;&#10;        &lt;/Box&gt;&#10;        &lt;Text style={{ fontSize: 22, color: '#4A5568', lineHeight: 1.45 }}&gt;现场回答 JWT、哈希算法、CORS 三类疑问，布置安全审查报告与敏感信息自查两项作业。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本节课路线图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381000" y="914400"/>
            <a:ext cx="36195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125730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85800" y="2314575"/>
            <a:ext cx="300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7FA3D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685800" y="3371850"/>
            <a:ext cx="6096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85800" y="4257675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90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85800" y="4743450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案例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15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讲授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20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演示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10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85800" y="5229225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实操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35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小结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10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4343400" y="9144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4286250" y="9144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4591050" y="11239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667250" y="12001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105400" y="1152525"/>
            <a:ext cx="26765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安全基线</a:t>
            </a:r>
            <a:r>
              <a:rPr lang="en-US" sz="21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认证与授权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591050" y="158115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登录的本质是证明你是你，权限的本质是你能干什么；再对照清单查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代码的四大常见病。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4343400" y="264795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4286250" y="264795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4591050" y="2857500"/>
            <a:ext cx="381000" cy="381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4667250" y="29337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105400" y="2886075"/>
            <a:ext cx="34004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实战演示</a:t>
            </a:r>
            <a:r>
              <a:rPr lang="en-US" sz="210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加认证与</a:t>
            </a:r>
            <a:r>
              <a:rPr lang="en-US" sz="2100" b="1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审查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4591050" y="331470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一条提示词给后端装上登录与角色权限，再让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当一次安全审计员，扫描自己的代码。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343400" y="43815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4286250" y="43815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4591050" y="4591050"/>
            <a:ext cx="38100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667250" y="46672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105400" y="461962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答疑与作业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591050" y="504825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现场回答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JWT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、哈希算法、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CORS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三类疑问，布置安全审查报告与敏感信息自查两项作业。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91" name="" descr="&lt;Slide&#10;  notes={`今天讲三件事，第一件先说认证和授权这两块地基。&#10;&#10;医院系统里跑的是什么？是老百姓最敏感的数据，健康信息。所以这门课把安全放在生产级的第一位，不是加分项，是及格线。&#10;&#10;这一段你们要记住两句话：登录的本质是证明你是你，权限的本质是你能干什么。剩下的技术细节，都是这两句话的实现方式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1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SECURITY BASELINE&lt;/Text&gt;&#10;        &lt;Text style={{ fontSize: 56, color: '#1A2230', fontWeight: 'bold', lineHeight: 1.25 }}&gt;安全基线&lt;/Text&gt;&#10;        &lt;Text style={{ fontSize: 26, color: '#4A5568', lineHeight: 1.5 }}&gt;登录的本质是证明你是你，权限的本质是你能干什么。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认证 · 密码绝不能明文存，用 bcrypt 加盐哈希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授权 · 四种角色各司其职，没权限就返回 403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自查 · AI 代码的四大常见病，逐条对照着查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SECURITY BASELINE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安全基线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登录的本质是证明你是你，权限的本质是你能干什么。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45053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认证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密码绝不能明文存，用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bcrypt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加盐哈希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43624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授权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四种角色各司其职，没权限就返回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403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41910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自查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代码的四大常见病，逐条对照着查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05" name="" descr="&lt;Slide&#10;  notes={`今天讲三件事。&#10;&#10;第一件，认证，也就是证明你是你。登录的本质就是这个，密码是最常见的方式，但密码绝不能明文存数据库。&#10;&#10;第二件，授权，也就是你能干什么。&#10;&#10;第三件，漏洞自查。我给你们一份清单，对照着查 AI 写的代码：SQL 注入、越权访问、敏感信息硬编码、输入不校验，这四大常见病。&#10;&#10;这三件事做完，你的系统才算从能用走到敢用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安全基线 · 今日三件事&lt;/Text&gt;&#10;    &lt;Text style={{ fontSize: 16, color: '#C9D9F2' }}&gt;医院信息系统实验 · 第 7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今日三件事&lt;/Text&gt;&#10;      &lt;Text style={{ fontSize: 22, color: '#8B97A8' }}&gt;Authenticate · Authorize · Audit&lt;/Text&gt;&#10;    &lt;/Box&gt;&#10;&#10;    &lt;Box style={{ height: '14px' }} /&gt;&#10;&#10;    &lt;svg width={1200} height={190} viewBox='0 0 1200 190'&gt;&#10;      &lt;line x1='150' y1='96' x2='1050' y2='96' stroke='#D6DCE5' strokeWidth='3' /&gt;&#10;      &lt;line x1='150' y1='96' x2='600' y2='96' stroke='#3D7BD9' strokeWidth='3' /&gt;&#10;      &lt;line x1='600' y1='96' x2='1050' y2='96' stroke='#1E4FA8' strokeWidth='3' /&gt;&#10;      &lt;circle cx='150' cy='96' r='26' fill='#FFFFFF' stroke='#3D7BD9' strokeWidth='4' /&gt;&#10;      &lt;circle cx='600' cy='96' r='26' fill='#FFFFFF' stroke='#1E4FA8' strokeWidth='4' /&gt;&#10;      &lt;circle cx='1050' cy='96' r='30' fill='#1E4FA8' /&gt;&#10;      &lt;text x='150' y='96' text-anchor='middle' dominant-baseline='central' font-size='22' font-weight='bold' fill='#3D7BD9'&gt;Ⅰ&lt;/text&gt;&#10;      &lt;text x='600' y='96' text-anchor='middle' dominant-baseline='central' font-size='22' font-weight='bold' fill='#1E4FA8'&gt;Ⅱ&lt;/text&gt;&#10;      &lt;text x='1050' y='96' text-anchor='middle' dominant-baseline='central' font-size='24' font-weight='bold' fill='#FFFFFF'&gt;Ⅲ&lt;/text&gt;&#10;      &lt;text x='150' y='48' text-anchor='middle' font-size='30' font-weight='bold' fill='#1A2230'&gt;认证&lt;/text&gt;&#10;      &lt;text x='600' y='48' text-anchor='middle' font-size='30' font-weight='bold' fill='#1A2230'&gt;授权&lt;/text&gt;&#10;      &lt;text x='1050' y='48' text-anchor='middle' font-size='30' font-weight='bold' fill='#0E3F8C'&gt;漏洞自查&lt;/text&gt;&#10;      &lt;text x='150' y='152' text-anchor='middle' font-size='20' fill='#8B97A8'&gt;你是谁&lt;/text&gt;&#10;      &lt;text x='600' y='152' text-anchor='middle' font-size='20' fill='#8B97A8'&gt;你能干什么&lt;/text&gt;&#10;      &lt;text x='1050' y='152' text-anchor='middle' font-size='20' fill='#1E4FA8'&gt;AI 代码四大常见病&lt;/text&gt;&#10;    &lt;/svg&gt;&#10;&#10;    &lt;Box style={{ height: '18px' }} /&gt;&#10;&#10;    &lt;Box style={{ height: '190px', flexDirection: 'row', gap: 24 }}&gt;&#10;      &lt;Box style={{ flex: 1, background: '#F7F9FC', border: '1px solid #D6DCE5', borderTop: '4px solid #3D7BD9', padding: '18px 20px', gap: 8 }}&gt;&#10;        &lt;Text style={{ fontSize: 26, color: '#1A2230', fontWeight: 'bold' }}&gt;证明你是你&lt;/Text&gt;&#10;        &lt;Text style={{ fontSize: 21, color: '#4A5568', lineHeight: 1.45 }}&gt;密码是最常见的方式，但绝不能明文存数据库——明文存密码等于把钥匙挂在大门口。&lt;/Text&gt;&#10;      &lt;/Box&gt;&#10;      &lt;Box style={{ flex: 1, background: '#F7F9FC', border: '1px solid #D6DCE5', borderTop: '4px solid #1E4FA8', padding: '18px 20px', gap: 8 }}&gt;&#10;        &lt;Text style={{ fontSize: 26, color: '#1A2230', fontWeight: 'bold' }}&gt;明确你能干什么&lt;/Text&gt;&#10;        &lt;Text style={{ fontSize: 21, color: '#4A5568', lineHeight: 1.45 }}&gt;四种角色各司其职，登录后发 JWT 带角色信息，每个接口校验，没权限返回 403。&lt;/Text&gt;&#10;      &lt;/Box&gt;&#10;      &lt;Box style={{ flex: 1, background: '#E8EFF8', border: '1px solid #3D7BD9', borderTop: '4px solid #0E3F8C', padding: '18px 20px', gap: 8 }}&gt;&#10;        &lt;Text style={{ fontSize: 26, color: '#1A2230', fontWeight: 'bold' }}&gt;对照清单自查&lt;/Text&gt;&#10;        &lt;Text style={{ fontSize: 21, color: '#4A5568', lineHeight: 1.45 }}&gt;SQL 注入、越权访问、敏感信息硬编码、输入不校验，四大常见病逐条查。&lt;/Text&gt;&#10;      &lt;/Box&gt;&#10;    &lt;/Box&gt;&#10;&#10;    &lt;Box style={{ height: '12px' }} /&gt;&#10;&#10;    &lt;Box style={{ height: '40px', background: '#1E4FA8', flexDirection: 'row', alignItems: 'center', padding: '0px 20px', gap: 12 }}&gt;&#10;      &lt;Box style={{ width: 6, height: 6, background: '#FFC107' }} /&gt;&#10;      &lt;Text style={{ fontSize: 21, color: '#FFFFFF' }}&gt;医院系统跑的是最敏感的健康信息，安全是生产级的第一位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安全基线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今日三件事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1714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今日三件事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2419350" y="1019175"/>
            <a:ext cx="315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Authenticate · Authorize · Audit</a:t>
            </a:r>
            <a:endParaRPr/>
          </a:p>
        </p:txBody>
      </p:sp>
      <p:pic>
        <p:nvPicPr>
          <p:cNvPr id="2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809750"/>
          </a:xfrm>
          <a:prstGeom prst="rect">
            <a:avLst/>
          </a:prstGeom>
          <a:ln/>
        </p:spPr>
      </p:pic>
      <p:sp>
        <p:nvSpPr>
          <p:cNvPr id="214" name=""/>
          <p:cNvSpPr/>
          <p:nvPr/>
        </p:nvSpPr>
        <p:spPr>
          <a:xfrm rot="0" flipH="0" flipV="0">
            <a:off x="381000" y="3524250"/>
            <a:ext cx="3657600" cy="18097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5" name=""/>
          <p:cNvSpPr/>
          <p:nvPr/>
        </p:nvSpPr>
        <p:spPr>
          <a:xfrm rot="0" flipH="0" flipV="0">
            <a:off x="381000" y="3486150"/>
            <a:ext cx="3657600" cy="1847850"/>
          </a:xfrm>
          <a:custGeom>
            <a:pathLst>
              <a:path w="384" h="19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715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证明你是你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71500" y="4076700"/>
            <a:ext cx="32766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密码是最常见的方式，但绝不能明文存数据库——明文存密码等于把钥匙挂在大门口。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4267200" y="3524250"/>
            <a:ext cx="3657600" cy="18097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4267200" y="3486150"/>
            <a:ext cx="3657600" cy="1847850"/>
          </a:xfrm>
          <a:custGeom>
            <a:pathLst>
              <a:path w="384" h="19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44577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明确你能干什么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4457700" y="4076700"/>
            <a:ext cx="32766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四种角色各司其职，登录后发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JWT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带角色信息，每个接口校验，没权限返回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403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153400" y="3524250"/>
            <a:ext cx="3657600" cy="18097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8153400" y="3486150"/>
            <a:ext cx="3657600" cy="1847850"/>
          </a:xfrm>
          <a:custGeom>
            <a:pathLst>
              <a:path w="384" h="19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3439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对照清单自查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343900" y="4076700"/>
            <a:ext cx="32766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SQL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注入、越权访问、敏感信息硬编码、输入不校验，四大常见病逐条查。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381000" y="5410200"/>
            <a:ext cx="11430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571500" y="55721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42950" y="5476875"/>
            <a:ext cx="5200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医院系统跑的是最敏感的健康信息，安全是生产级的第一位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31" name="" descr="&lt;Slide&#10;  notes={`先说认证，也就是登录。&#10;&#10;登录的本质是证明你是你，密码是最常见的方式。但记住一条铁律：密码绝不能明文存数据库。明文存密码等于把所有人的家门钥匙挂在大门口。&#10;&#10;正确做法是存哈希，而且是加盐哈希。bcrypt 这类算法自带盐和慢哈希，能防撞库。&#10;&#10;最后一句最关键：让 AI 实现的时候，你们要在提示词里写明“密码使用 bcrypt 哈希存储”，它默认不会主动这么干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安全基线 · 四种角色&lt;/Text&gt;&#10;    &lt;Text style={{ fontSize: 16, color: '#C9D9F2' }}&gt;医院信息系统实验 · 第 7 课&lt;/Text&gt;&#10;  &lt;/Box&gt;&#10;&#10;  &lt;Box style={{ width: '1280px', height: '552px', flexDirection: 'row', padding: '24px 40px 0px 40px', gap: 30 }}&gt;&#10;    &lt;Box style={{ width: '760px', height: '528px', background: '#F7F9FC', border: '1px solid #D6DCE5', padding: '28px 30px', justifyContent: 'space-between' }}&gt;&#10;      &lt;Box style={{ gap: 18 }}&gt;&#10;        &lt;Box style={{ flexDirection: 'row', alignItems: 'center', gap: 14 }}&gt;&#10;          &lt;Box style={{ width: 44, height: 44, background: '#1E4FA8', alignItems: 'center', justifyContent: 'center' }}&gt;&#10;            &lt;Text style={{ fontSize: 22, color: '#FFFFFF', fontWeight: 'bold' }}&gt;A&lt;/Text&gt;&#10;          &lt;/Box&gt;&#10;          &lt;Text style={{ fontSize: 32, color: '#1A2230', fontWeight: 'bold' }}&gt;认证——密码绝不能明文存&lt;/Text&gt;&#10;        &lt;/Box&gt;&#10;        &lt;Text style={{ fontSize: 24, color: '#1A2230', lineHeight: 1.6 }}&gt;&#10;          登录的本质是&lt;span style={{ fontWeight: 'bold', color: '#1E4FA8' }}&gt;证明你是你&lt;/span&gt;，密码是最常见的方式，但存储方式决定了系统是“能用”还是“敢用”。&#10;        &lt;/Text&gt;&#10;      &lt;/Box&gt;&#10;&#10;      &lt;Box style={{ gap: 14 }}&gt;&#10;        &lt;Box style={{ flexDirection: 'row', alignItems: 'flex-start', gap: 16 }}&gt;&#10;          &lt;Box style={{ width: 34, height: 34, background: '#D9534F', alignItems: 'center', justifyContent: 'center' }}&gt;&#10;            &lt;Text style={{ fontSize: 18, color: '#FFFFFF', fontWeight: 'bold' }}&gt;1&lt;/Text&gt;&#10;          &lt;/Box&gt;&#10;          &lt;Text style={{ fontSize: 23, color: '#1A2230', lineHeight: 1.5 }}&gt;&#10;            明文存密码，等于&lt;span style={{ fontWeight: 'bold', color: '#D9534F' }}&gt;把所有人的家门钥匙挂在大门口&lt;/span&gt;，数据库一丢，全部账户失守。&#10;          &lt;/Text&gt;&#10;        &lt;/Box&gt;&#10;        &lt;Box style={{ flexDirection: 'row', alignItems: 'flex-start', gap: 16 }}&gt;&#10;          &lt;Box style={{ width: 34, height: 34, background: '#1E4FA8', alignItems: 'center', justifyContent: 'center' }}&gt;&#10;            &lt;Text style={{ fontSize: 18, color: '#FFFFFF', fontWeight: 'bold' }}&gt;2&lt;/Text&gt;&#10;          &lt;/Box&gt;&#10;          &lt;Text style={{ fontSize: 23, color: '#1A2230', lineHeight: 1.5 }}&gt;&#10;            正确做法是&lt;span style={{ fontWeight: 'bold', color: '#1E4FA8' }}&gt;加盐哈希&lt;/span&gt;：bcrypt 这类算法自带盐和慢哈希，能防撞库。&#10;          &lt;/Text&gt;&#10;        &lt;/Box&gt;&#10;        &lt;Box style={{ flexDirection: 'row', alignItems: 'flex-start', gap: 16 }}&gt;&#10;          &lt;Box style={{ width: 34, height: 34, background: '#FFC107', alignItems: 'center', justifyContent: 'center' }}&gt;&#10;            &lt;Text style={{ fontSize: 18, color: '#0E3F8C', fontWeight: 'bold' }}&gt;3&lt;/Text&gt;&#10;          &lt;/Box&gt;&#10;          &lt;Text style={{ fontSize: 23, color: '#1A2230', lineHeight: 1.5 }}&gt;&#10;            提示词里&lt;span style={{ fontWeight: 'bold', color: '#1A2230' }}&gt;要写明“密码使用 bcrypt 哈希存储”&lt;/span&gt;——AI 默认不会主动这么干。&#10;          &lt;/Text&gt;&#10;        &lt;/Box&gt;&#10;      &lt;/Box&gt;&#10;&#10;      &lt;Box style={{ background: '#FFFFFF', border: '1px solid #D6DCE5', borderLeft: '5px solid #3D7BD9', padding: '18px 22px' }}&gt;&#10;        &lt;Text style={{ fontSize: 22, color: '#4A5568', lineHeight: 1.5 }}&gt;存哈希不是可选项，是及格线。让 AI 做的事，你得先在提示词里说清楚。&lt;/Text&gt;&#10;      &lt;/Box&gt;&#10;    &lt;/Box&gt;&#10;&#10;    &lt;Box style={{ width: '410px', height: '528px', background: '#E8EFF8', border: '1px solid #3D7BD9', padding: '28px 24px', justifyContent: 'space-between' }}&gt;&#10;      &lt;Box style={{ gap: 12 }}&gt;&#10;        &lt;Text style={{ fontSize: 17, color: '#3D7BD9', letterSpacing: 2 }}&gt;ROLES IN OUR SYSTEM&lt;/Text&gt;&#10;        &lt;Text style={{ fontSize: 34, color: '#1A2230', fontWeight: 'bold', lineHeight: 1.2 }}&gt;四种角色&lt;/Text&gt;&#10;        &lt;Box style={{ width: 80, height: 5, background: '#1E4FA8' }} /&gt;&#10;      &lt;/Box&gt;&#10;&#10;      &lt;Box style={{ gap: 10 }}&gt;&#10;        &lt;Box style={{ background: '#FFFFFF', border: '1px solid #D6DCE5', borderLeft: '5px solid #0E3F8C', padding: '14px 16px', flexDirection: 'row', alignItems: 'center', gap: 12 }}&gt;&#10;          &lt;Text style={{ fontSize: 20, color: '#1E4FA8', fontWeight: 'bold' }}&gt;admin&lt;/Text&gt;&#10;          &lt;Text style={{ fontSize: 22, color: '#1A2230', fontWeight: 'bold' }}&gt;管理员&lt;/Text&gt;&#10;        &lt;/Box&gt;&#10;        &lt;Box style={{ background: '#FFFFFF', border: '1px solid #D6DCE5', borderLeft: '5px solid #1E4FA8', padding: '14px 16px', flexDirection: 'row', alignItems: 'center', gap: 12 }}&gt;&#10;          &lt;Text style={{ fontSize: 20, color: '#1E4FA8', fontWeight: 'bold' }}&gt;doctor&lt;/Text&gt;&#10;          &lt;Text style={{ fontSize: 22, color: '#1A2230', fontWeight: 'bold' }}&gt;医生&lt;/Text&gt;&#10;        &lt;/Box&gt;&#10;        &lt;Box style={{ background: '#FFFFFF', border: '1px solid #D6DCE5', borderLeft: '5px solid #3D7BD9', padding: '14px 16px', flexDirection: 'row', alignItems: 'center', gap: 12 }}&gt;&#10;          &lt;Text style={{ fontSize: 20, color: '#1E4FA8', fontWeight: 'bold' }}&gt;cashier&lt;/Text&gt;&#10;          &lt;Text style={{ fontSize: 22, color: '#1A2230', fontWeight: 'bold' }}&gt;收费员&lt;/Text&gt;&#10;        &lt;/Box&gt;&#10;        &lt;Box style={{ background: '#FFFFFF', border: '1px solid #D6DCE5', borderLeft: '5px solid #FFC107', padding: '14px 16px', flexDirection: 'row', alignItems: 'center', gap: 12 }}&gt;&#10;          &lt;Text style={{ fontSize: 20, color: '#1E4FA8', fontWeight: 'bold' }}&gt;pharmacist&lt;/Text&gt;&#10;          &lt;Text style={{ fontSize: 22, color: '#1A2230', fontWeight: 'bold' }}&gt;药师&lt;/Text&gt;&#10;        &lt;/Box&gt;&#10;      &lt;/Box&gt;&#10;&#10;      &lt;Text style={{ fontSize: 20, color: '#4A5568', lineHeight: 1.5 }}&gt;用户表里已经有一个 role 字段，权限就从这里分。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019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安全基线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四种角色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381000" y="914400"/>
            <a:ext cx="7239000" cy="5029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66750" y="1181100"/>
            <a:ext cx="4191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00100" y="1266825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219200" y="1209675"/>
            <a:ext cx="37147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认证——密码绝不能明文存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66750" y="1771650"/>
            <a:ext cx="66675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登录的本质是</a:t>
            </a:r>
            <a:r>
              <a:rPr lang="zh-CN" sz="1800" b="1">
                <a:solidFill>
                  <a:srgbClr val="1E4FA8"/>
                </a:solidFill>
                <a:latin typeface="Microsoft YaHei"/>
                <a:ea typeface="Microsoft YaHei"/>
              </a:rPr>
              <a:t>证明你是你</a:t>
            </a:r>
            <a:r>
              <a:rPr lang="zh-CN" sz="1800">
                <a:solidFill>
                  <a:srgbClr val="1A2230"/>
                </a:solidFill>
                <a:latin typeface="Microsoft YaHei"/>
                <a:ea typeface="Microsoft YaHei"/>
              </a:rPr>
              <a:t>，密码是最常见的方式，但存储方式决定了系统是“能用”还是“敢用”。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66750" y="2657475"/>
            <a:ext cx="323850" cy="3238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771525" y="27146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123950" y="2657475"/>
            <a:ext cx="62103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明文存密码，等于</a:t>
            </a:r>
            <a:r>
              <a:rPr lang="zh-CN" sz="1725" b="1">
                <a:solidFill>
                  <a:srgbClr val="D9534F"/>
                </a:solidFill>
                <a:latin typeface="Microsoft YaHei"/>
                <a:ea typeface="Microsoft YaHei"/>
              </a:rPr>
              <a:t>把所有人的家门钥匙挂在大门口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，数据库一丢，全部账户失守。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66750" y="358140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71525" y="36385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23950" y="3581400"/>
            <a:ext cx="62103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正确做法是</a:t>
            </a:r>
            <a:r>
              <a:rPr lang="zh-CN" sz="1725" b="1">
                <a:solidFill>
                  <a:srgbClr val="1E4FA8"/>
                </a:solidFill>
                <a:latin typeface="Microsoft YaHei"/>
                <a:ea typeface="Microsoft YaHei"/>
              </a:rPr>
              <a:t>加盐哈希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bcrypt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这类算法自带盐和慢哈希，能防撞库。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66750" y="4114800"/>
            <a:ext cx="3238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771525" y="41719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123950" y="4114800"/>
            <a:ext cx="621030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提示词里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要写明“密码使用</a:t>
            </a:r>
            <a:r>
              <a:rPr lang="en-US" sz="1725" b="1">
                <a:solidFill>
                  <a:srgbClr val="1A2230"/>
                </a:solidFill>
                <a:latin typeface="Microsoft YaHei"/>
                <a:ea typeface="Microsoft YaHei"/>
              </a:rPr>
              <a:t> bcrypt </a:t>
            </a:r>
            <a:r>
              <a:rPr lang="zh-CN" sz="1725" b="1">
                <a:solidFill>
                  <a:srgbClr val="1A2230"/>
                </a:solidFill>
                <a:latin typeface="Microsoft YaHei"/>
                <a:ea typeface="Microsoft YaHei"/>
              </a:rPr>
              <a:t>哈希存储”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——AI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默认不会主动这么干。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714375" y="4905375"/>
            <a:ext cx="6667500" cy="1104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666750" y="4905375"/>
            <a:ext cx="6715125" cy="1104900"/>
          </a:xfrm>
          <a:custGeom>
            <a:pathLst>
              <a:path w="705" h="116">
                <a:moveTo>
                  <a:pt x="0" y="0"/>
                </a:moveTo>
                <a:lnTo>
                  <a:pt x="5" y="0"/>
                </a:lnTo>
                <a:lnTo>
                  <a:pt x="5" y="116"/>
                </a:lnTo>
                <a:lnTo>
                  <a:pt x="0" y="11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923925" y="5076825"/>
            <a:ext cx="6200775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存哈希不是可选项，是及格线。让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做的事，你得先在提示词里说清楚。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7905750" y="914400"/>
            <a:ext cx="390525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134350" y="1181100"/>
            <a:ext cx="3448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ROLES IN OUR SYSTEM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134350" y="1495425"/>
            <a:ext cx="34480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A2230"/>
                </a:solidFill>
                <a:latin typeface="Microsoft YaHei"/>
                <a:ea typeface="Microsoft YaHei"/>
              </a:rPr>
              <a:t>四种角色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8134350" y="2076450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8181975" y="2371725"/>
            <a:ext cx="34480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8134350" y="2371725"/>
            <a:ext cx="3495675" cy="523875"/>
          </a:xfrm>
          <a:custGeom>
            <a:pathLst>
              <a:path w="367" h="55">
                <a:moveTo>
                  <a:pt x="0" y="0"/>
                </a:moveTo>
                <a:lnTo>
                  <a:pt x="5" y="0"/>
                </a:lnTo>
                <a:lnTo>
                  <a:pt x="5" y="55"/>
                </a:lnTo>
                <a:lnTo>
                  <a:pt x="0" y="55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334375" y="2524125"/>
            <a:ext cx="609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admin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058275" y="2505075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管理员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8181975" y="2990850"/>
            <a:ext cx="34480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2" name=""/>
          <p:cNvSpPr/>
          <p:nvPr/>
        </p:nvSpPr>
        <p:spPr>
          <a:xfrm rot="0" flipH="0" flipV="0">
            <a:off x="8134350" y="2990850"/>
            <a:ext cx="3495675" cy="523875"/>
          </a:xfrm>
          <a:custGeom>
            <a:pathLst>
              <a:path w="367" h="55">
                <a:moveTo>
                  <a:pt x="0" y="0"/>
                </a:moveTo>
                <a:lnTo>
                  <a:pt x="5" y="0"/>
                </a:lnTo>
                <a:lnTo>
                  <a:pt x="5" y="55"/>
                </a:lnTo>
                <a:lnTo>
                  <a:pt x="0" y="55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334375" y="3143250"/>
            <a:ext cx="638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doctor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086850" y="31242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医生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8181975" y="3609975"/>
            <a:ext cx="34480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8134350" y="3609975"/>
            <a:ext cx="3495675" cy="523875"/>
          </a:xfrm>
          <a:custGeom>
            <a:pathLst>
              <a:path w="367" h="55">
                <a:moveTo>
                  <a:pt x="0" y="0"/>
                </a:moveTo>
                <a:lnTo>
                  <a:pt x="5" y="0"/>
                </a:lnTo>
                <a:lnTo>
                  <a:pt x="5" y="55"/>
                </a:lnTo>
                <a:lnTo>
                  <a:pt x="0" y="55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8334375" y="3762375"/>
            <a:ext cx="67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cashier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124950" y="3743325"/>
            <a:ext cx="628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收费员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8181975" y="4229100"/>
            <a:ext cx="3448050" cy="5238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8134350" y="4229100"/>
            <a:ext cx="3495675" cy="523875"/>
          </a:xfrm>
          <a:custGeom>
            <a:pathLst>
              <a:path w="367" h="55">
                <a:moveTo>
                  <a:pt x="0" y="0"/>
                </a:moveTo>
                <a:lnTo>
                  <a:pt x="5" y="0"/>
                </a:lnTo>
                <a:lnTo>
                  <a:pt x="5" y="55"/>
                </a:lnTo>
                <a:lnTo>
                  <a:pt x="0" y="55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334375" y="4381500"/>
            <a:ext cx="106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pharmacist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9515475" y="4362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A2230"/>
                </a:solidFill>
                <a:latin typeface="Microsoft YaHei"/>
                <a:ea typeface="Microsoft YaHei"/>
              </a:rPr>
              <a:t>药师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8134350" y="4991100"/>
            <a:ext cx="34480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用户表里已经有一个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role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字段，权限就从这里分。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76" name="" descr="&lt;Slide&#10;  notes={`登录之后就是权限。我们的系统有四种角色：管理员、医生、收费员、药师。&#10;&#10;规矩是三条：收费员不能开药，药师不能改价格，医生不能看收费流水。这就是 RBAC，基于角色的访问控制。&#10;&#10;实现上很清晰：登录后发一个令牌，叫 JWT，里面带角色信息；每个接口都校验角色，没权限就返回 403。&#10;&#10;测试方法更简单：用收费员账号去调管理接口，被拦住了，就对了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安全基线 · RBAC 三条规矩&lt;/Text&gt;&#10;    &lt;Text style={{ fontSize: 16, color: '#C9D9F2' }}&gt;医院信息系统实验 · 第 7 课&lt;/Text&gt;&#10;  &lt;/Box&gt;&#10;&#10;  &lt;Box style={{ width: '1280px', height: '552px', padding: '24px 40px 0px 40px' }}&gt;&#10;    &lt;Box style={{ height: '470px', flexDirection: 'row', gap: 24 }}&gt;&#10;      &lt;Box style={{ flex: 1, background: '#FFFFFF', border: '1px solid #D6DCE5', borderTop: '6px solid #D9534F', padding: '24px 22px', justifyContent: 'space-between' }}&gt;&#10;        &lt;Box style={{ gap: 12 }}&gt;&#10;          &lt;Text style={{ fontSize: 48, color: '#D9534F', fontWeight: 'bold', lineHeight: 1 }}&gt;01&lt;/Text&gt;&#10;          &lt;svg width={64} height={64} viewBox='0 0 64 64'&gt;&#10;            &lt;rect x='6' y='24' width='52' height='26' rx='13' fill='#FDECEA' stroke='#D9534F' strokeWidth='3' /&gt;&#10;            &lt;path d='M32 24 L6 24 L38 24 Z' fill='#FDECEA' /&gt;&#10;            &lt;line x1='32' y1='24' x2='32' y2='50' stroke='#D9534F' strokeWidth='3' /&gt;&#10;            &lt;line x1='6' y1='60' x2='58' y2='8' stroke='#D9534F' strokeWidth='4' strokeLinecap='round' /&gt;&#10;          &lt;/svg&gt;&#10;          &lt;Text style={{ fontSize: 27, color: '#1A2230', fontWeight: 'bold', lineHeight: 1.3 }}&gt;收费员不能开药&lt;/Text&gt;&#10;          &lt;Text style={{ fontSize: 21, color: '#4A5568', lineHeight: 1.5 }}&gt;&#10;            开药是医生的职责。收费员的账号去调开药接口，&lt;span style={{ fontWeight: 'bold', color: '#D9534F' }}&gt;必须被拦住&lt;/span&gt;，能开成功就是越权。&#10;          &lt;/Text&gt;&#10;        &lt;/Box&gt;&#10;        &lt;Box style={{ background: '#FDECEA', padding: '10px 14px' }}&gt;&#10;          &lt;Text style={{ fontSize: 20, color: '#D9534F', fontWeight: 'bold' }}&gt;→ 换个账号实测一次&lt;/Text&gt;&#10;        &lt;/Box&gt;&#10;      &lt;/Box&gt;&#10;&#10;      &lt;Box style={{ flex: 1, background: '#FFFFFF', border: '1px solid #D6DCE5', borderTop: '6px solid #FFC107', padding: '24px 22px', justifyContent: 'space-between' }}&gt;&#10;        &lt;Box style={{ gap: 12 }}&gt;&#10;          &lt;Text style={{ fontSize: 48, color: '#FFC107', fontWeight: 'bold', lineHeight: 1 }}&gt;02&lt;/Text&gt;&#10;          &lt;svg width={64} height={64} viewBox='0 0 64 64'&gt;&#10;            &lt;path d='M10 12 L40 12 L54 26 L54 52 L10 52 Z' fill='#FFF8E1' stroke='#FFC107' strokeWidth='3' /&gt;&#10;            &lt;path d='M40 12 L40 26 L54 26' fill='none' stroke='#FFC107' strokeWidth='3' /&gt;&#10;            &lt;rect x='18' y='34' width='28' height='5' fill='#FFC107' /&gt;&#10;            &lt;rect x='18' y='43' width='18' height='5' fill='#FFC107' /&gt;&#10;            &lt;line x1='6' y1='58' x2='58' y2='6' stroke='#D9534F' strokeWidth='4' strokeLinecap='round' /&gt;&#10;          &lt;/svg&gt;&#10;          &lt;Text style={{ fontSize: 27, color: '#1A2230', fontWeight: 'bold', lineHeight: 1.3 }}&gt;药师不能改价格&lt;/Text&gt;&#10;          &lt;Text style={{ fontSize: 21, color: '#4A5568', lineHeight: 1.5 }}&gt;&#10;            药师负责审方发药，&lt;span style={{ fontWeight: 'bold', color: '#1A2230' }}&gt;价格不归他管&lt;/span&gt;。改价格的接口对药师账号同样必须拒绝。&#10;          &lt;/Text&gt;&#10;        &lt;/Box&gt;&#10;        &lt;Box style={{ background: '#FFF8E1', padding: '10px 14px' }}&gt;&#10;          &lt;Text style={{ fontSize: 20, color: '#B7860B', fontWeight: 'bold' }}&gt;→ 角色即职责边界&lt;/Text&gt;&#10;        &lt;/Box&gt;&#10;      &lt;/Box&gt;&#10;&#10;      &lt;Box style={{ flex: 1, background: '#FFFFFF', border: '1px solid #D6DCE5', borderTop: '6px solid #1E4FA8', padding: '24px 22px', justifyContent: 'space-between' }}&gt;&#10;        &lt;Box style={{ gap: 12 }}&gt;&#10;          &lt;Text style={{ fontSize: 48, color: '#1E4FA8', fontWeight: 'bold', lineHeight: 1 }}&gt;03&lt;/Text&gt;&#10;          &lt;svg width={64} height={64} viewBox='0 0 64 64'&gt;&#10;            &lt;path d='M32 12 C18 20 10 30 10 38 a22 22 0 0 0 44 0 C54 30 46 20 32 12 Z' fill='#E8EFF8' stroke='#1E4FA8' strokeWidth='3' /&gt;&#10;            &lt;circle cx='32' cy='38' r='8' fill='#1E4FA8' /&gt;&#10;            &lt;line x1='6' y1='58' x2='58' y2='6' stroke='#D9534F' strokeWidth='4' strokeLinecap='round' /&gt;&#10;          &lt;/svg&gt;&#10;          &lt;Text style={{ fontSize: 27, color: '#1A2230', fontWeight: 'bold', lineHeight: 1.3 }}&gt;医生不能看收费流水&lt;/Text&gt;&#10;          &lt;Text style={{ fontSize: 21, color: '#4A5568', lineHeight: 1.5 }}&gt;&#10;            收费流水&lt;span style={{ fontWeight: 'bold', color: '#1E4FA8' }}&gt;对医生不可见&lt;/span&gt;。换个账号试，能查到不该看的东西，就是越权访问。&#10;          &lt;/Text&gt;&#10;        &lt;/Box&gt;&#10;        &lt;Box style={{ background: '#E8EFF8', padding: '10px 14px' }}&gt;&#10;          &lt;Text style={{ fontSize: 20, color: '#1E4FA8', fontWeight: 'bold' }}&gt;→ 没权限就返回 403&lt;/Text&gt;&#10;        &lt;/Box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登录后发 JWT，里面带角色信息；每个接口校验角色，没权限就返回 403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609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安全基线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RBAC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三条规矩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3810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3810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5905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9534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pic>
        <p:nvPicPr>
          <p:cNvPr id="2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866900"/>
            <a:ext cx="609600" cy="609600"/>
          </a:xfrm>
          <a:prstGeom prst="rect">
            <a:avLst/>
          </a:prstGeom>
          <a:ln/>
        </p:spPr>
      </p:pic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5905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收费员不能开药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905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开药是医生的职责。收费员的账号去调开药接口，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必须被拦住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，能开成功就是越权。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590550" y="4743450"/>
            <a:ext cx="3238500" cy="41910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239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换个账号实测一次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42672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42672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4767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C10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pic>
        <p:nvPicPr>
          <p:cNvPr id="2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76750" y="1866900"/>
            <a:ext cx="609600" cy="609600"/>
          </a:xfrm>
          <a:prstGeom prst="rect">
            <a:avLst/>
          </a:prstGeom>
          <a:ln/>
        </p:spPr>
      </p:pic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4767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药师不能改价格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4767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药师负责审方发药，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价格不归他管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。改价格的接口对药师账号同样必须拒绝。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4476750" y="4743450"/>
            <a:ext cx="3238500" cy="41910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6101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B7860B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B7860B"/>
                </a:solidFill>
                <a:latin typeface="Microsoft YaHei"/>
                <a:ea typeface="Microsoft YaHei"/>
              </a:rPr>
              <a:t>角色即职责边界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8153400" y="971550"/>
            <a:ext cx="3657600" cy="44767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8153400" y="914400"/>
            <a:ext cx="3657600" cy="4533900"/>
          </a:xfrm>
          <a:custGeom>
            <a:pathLst>
              <a:path w="384" h="47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3629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pic>
        <p:nvPicPr>
          <p:cNvPr id="3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62950" y="1866900"/>
            <a:ext cx="609600" cy="609600"/>
          </a:xfrm>
          <a:prstGeom prst="rect">
            <a:avLst/>
          </a:prstGeom>
          <a:ln/>
        </p:spPr>
      </p:pic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3629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医生不能看收费流水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629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收费流水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对医生不可见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。换个账号试，能查到不该看的东西，就是越权访问。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8362950" y="4743450"/>
            <a:ext cx="32385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496300" y="48387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→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没权限就返回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403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381000" y="55054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571500" y="56959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742950" y="5600700"/>
            <a:ext cx="6838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登录后发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JWT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，里面带角色信息；每个接口校验角色，没权限就返回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403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10" name="" descr="&lt;Slide&#10;  notes={`概念讲完了，现在动手。这一段我做两个演示。&#10;&#10;第一个演示：一条提示词给后端加上认证与授权。注意我的用法——先让它给方案，方案确认了我才让它实现。&#10;&#10;第二个演示：让 AI 当一次资深安全审计员，扫描它自己写的代码，输出一张漏洞表。&#10;&#10;你们重点看最后一栏：AI 审查完，你们要人工复核。它可能漏报，也可能误报，那句“人工复核结论”，是你们自己的活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2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LIVE DEMO&lt;/Text&gt;&#10;        &lt;Text style={{ fontSize: 56, color: '#1A2230', fontWeight: 'bold', lineHeight: 1.25 }}&gt;实战演示&lt;/Text&gt;&#10;        &lt;Text style={{ fontSize: 26, color: '#4A5568', lineHeight: 1.5 }}&gt;先要方案再实现；AI 审查完必须人工复核。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演示一 · 加登录、JWT 与依赖注入式鉴权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演示二 · AI 当安全审计员，扫描后端代码出漏洞表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人工复核 · 漏报与误报，都只能由你来判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LIVE DEMO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实战演示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先要方案再实现；</a:t>
            </a: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审查完必须人工复核。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18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39814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演示一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加登录、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JWT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与依赖注入式鉴权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48482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演示二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当安全审计员，扫描后端代码出漏洞表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39147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人工复核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漏报与误报，都只能由你来判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24" name="" descr="&lt;Slide&#10;  notes={`先看第一个演示。我把提示词发给 OpenCode，你们注意看它的写法。&#10;&#10;第一句就点明范围：为 @backend 添加认证与授权，并且告诉它用户表里已经有 role 字段，四个角色值是什么。&#10;&#10;然后三件事说清楚：登录接口要用 bcrypt 校验密码并签发带角色的 JWT；鉴权要做成依赖注入式，管理员接口只有 admin 能访问；再给一个 /me 接口返回当前用户信息。&#10;&#10;最后四个字最关键：先给方案。方案确认了我才让它动手实现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实战演示 · 演示一：加认证与授权&lt;/Text&gt;&#10;    &lt;Text style={{ fontSize: 16, color: '#C9D9F2' }}&gt;医院信息系统实验 · 第 7 课&lt;/Text&gt;&#10;  &lt;/Box&gt;&#10;&#10;  &lt;Box style={{ width: '1280px', height: '552px', flexDirection: 'row', padding: '24px 40px 0px 40px', gap: 30 }}&gt;&#10;    &lt;Box style={{ width: '360px', height: '528px', background: '#0E3F8C', padding: '30px 28px', justifyContent: 'space-between' }}&gt;&#10;      &lt;Box style={{ gap: 14 }}&gt;&#10;        &lt;Text style={{ fontSize: 17, color: '#7FA3D6', letterSpacing: 2 }}&gt;DEMO 01&lt;/Text&gt;&#10;        &lt;Text style={{ fontSize: 44, color: '#FFFFFF', fontWeight: 'bold', lineHeight: 1.2 }}&gt;加认证&lt;br /&gt;与授权&lt;/Text&gt;&#10;        &lt;Box style={{ width: 80, height: 5, background: '#FFC107' }} /&gt;&#10;      &lt;/Box&gt;&#10;      &lt;Text style={{ fontSize: 22, color: '#C9D9F2', lineHeight: 1.6 }}&gt;&#10;        先给方案，方案确认后再让它实现。提示词里要把范围和角色值都写清楚。&#10;      &lt;/Text&gt;&#10;      &lt;Box style={{ gap: 8 }}&gt;&#10;        &lt;Box style={{ height: 1, background: '#3D7BD9' }} /&gt;&#10;        &lt;Text style={{ fontSize: 20, color: '#8FAED8' }}&gt;验证工具：curl / 接口测试&lt;/Text&gt;&#10;      &lt;/Box&gt;&#10;    &lt;/Box&gt;&#10;&#10;    &lt;Box style={{ width: '810px', height: '528px' }}&gt;&#10;      &lt;Box style={{ height: '250px', background: '#F7F9FC', border: '1px solid #D6DCE5', padding: '14px 16px' }}&gt;&#10;        &lt;CodeBlock&#10;          code={`为 @backend 添加认证与授权：&#10;用户表已有 role 字段（admin/doctor/cashier/pharmacist）。&#10;实现：&#10;1) 登录接口，密码 bcrypt 哈希校验，签发 JWT（含角色）；&#10;2) 依赖注入式鉴权，管理员接口仅 admin 可访问；&#10;3) 提供 /me 接口返回当前用户信息。&#10;先给方案。`}&#10;          language='text'&#10;          width={778}&#10;          fontSize={14}&#10;          theme='github-light'&#10;          background='#FFFFFF'&#10;        /&gt;&#10;      &lt;/Box&gt;&#10;&#10;      &lt;Box style={{ height: '16px' }} /&gt;&#10;&#10;      &lt;Box style={{ height: '262px', gap: 8, justifyContent: 'space-between' }}&gt;&#10;        &lt;Box style={{ height: '58px', background: '#F7F9FC', border: '1px solid #D6DCE5', borderLeft: '5px solid #1E4FA8', flexDirection: 'row', alignItems: 'center', padding: '0px 16px', gap: 14 }}&gt;&#10;          &lt;Text style={{ fontSize: 24, color: '#1E4FA8', fontWeight: 'bold' }}&gt;1&lt;/Text&gt;&#10;          &lt;Text style={{ fontSize: 21, color: '#1A2230', lineHeight: 1.4 }}&gt;curl 登录接口，拿到 token&lt;/Text&gt;&#10;        &lt;/Box&gt;&#10;        &lt;Box style={{ height: '58px', background: '#F7F9FC', border: '1px solid #D6DCE5', borderLeft: '5px solid #1E4FA8', flexDirection: 'row', alignItems: 'center', padding: '0px 16px', gap: 14 }}&gt;&#10;          &lt;Text style={{ fontSize: 24, color: '#1E4FA8', fontWeight: 'bold' }}&gt;2&lt;/Text&gt;&#10;          &lt;Text style={{ fontSize: 21, color: '#1A2230', lineHeight: 1.4 }}&gt;带上 token 访问，正常返回数据&lt;/Text&gt;&#10;        &lt;/Box&gt;&#10;        &lt;Box style={{ height: '58px', background: '#F7F9FC', border: '1px solid #D6DCE5', borderLeft: '5px solid #D9534F', flexDirection: 'row', alignItems: 'center', padding: '0px 16px', gap: 14 }}&gt;&#10;          &lt;Text style={{ fontSize: 24, color: '#D9534F', fontWeight: 'bold' }}&gt;3&lt;/Text&gt;&#10;          &lt;Text style={{ fontSize: 21, color: '#1A2230', lineHeight: 1.4 }}&gt;不带 token 访问，被拦在门外&lt;/Text&gt;&#10;        &lt;/Box&gt;&#10;        &lt;Box style={{ height: '58px', background: '#E8EFF8', border: '1px solid #3D7BD9', borderLeft: '5px solid #FFC107', flexDirection: 'row', alignItems: 'center', padding: '0px 16px', gap: 14 }}&gt;&#10;          &lt;Text style={{ fontSize: 24, color: '#B7860B', fontWeight: 'bold' }}&gt;4&lt;/Text&gt;&#10;          &lt;Text style={{ fontSize: 21, color: '#1A2230', lineHeight: 1.4 }}&gt;用低权限 token 访问管理接口，必须被拦住&lt;/Text&gt;&#10;        &lt;/Box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16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实战演示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演示一：加认证与授权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47700" y="1200150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7FA3D6"/>
                </a:solidFill>
                <a:latin typeface="Microsoft YaHei"/>
                <a:ea typeface="Microsoft YaHei"/>
              </a:rPr>
              <a:t>DEMO 01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47700" y="1533525"/>
            <a:ext cx="2895600" cy="1209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加认证</a:t>
            </a:r>
            <a:endParaRPr/>
          </a:p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与授权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647700" y="287655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47700" y="3533775"/>
            <a:ext cx="28956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先给方案，方案确认后再让它实现。提示词里要把范围和角色值都写清楚。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647700" y="5343525"/>
            <a:ext cx="28956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47700" y="542925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验证工具：</a:t>
            </a:r>
            <a:r>
              <a:rPr lang="en-US" sz="1500">
                <a:solidFill>
                  <a:srgbClr val="8FAED8"/>
                </a:solidFill>
                <a:latin typeface="Microsoft YaHei"/>
                <a:ea typeface="Microsoft YaHei"/>
              </a:rPr>
              <a:t>curl / </a:t>
            </a: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接口测试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4095750" y="914400"/>
            <a:ext cx="7715250" cy="238125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4143375" y="3448050"/>
            <a:ext cx="771525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4095750" y="3448050"/>
            <a:ext cx="7762875" cy="552450"/>
          </a:xfrm>
          <a:custGeom>
            <a:pathLst>
              <a:path w="815" h="58">
                <a:moveTo>
                  <a:pt x="0" y="0"/>
                </a:moveTo>
                <a:lnTo>
                  <a:pt x="5" y="0"/>
                </a:lnTo>
                <a:lnTo>
                  <a:pt x="5" y="58"/>
                </a:lnTo>
                <a:lnTo>
                  <a:pt x="0" y="5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295775" y="359092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572000" y="3552825"/>
            <a:ext cx="24193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curl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登录接口，拿到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token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143375" y="4095750"/>
            <a:ext cx="771525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4095750" y="4095750"/>
            <a:ext cx="7762875" cy="552450"/>
          </a:xfrm>
          <a:custGeom>
            <a:pathLst>
              <a:path w="815" h="58">
                <a:moveTo>
                  <a:pt x="0" y="0"/>
                </a:moveTo>
                <a:lnTo>
                  <a:pt x="5" y="0"/>
                </a:lnTo>
                <a:lnTo>
                  <a:pt x="5" y="58"/>
                </a:lnTo>
                <a:lnTo>
                  <a:pt x="0" y="58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295775" y="423862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E4FA8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572000" y="4200525"/>
            <a:ext cx="2867025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带上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token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访问，正常返回数据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143375" y="4743450"/>
            <a:ext cx="7715250" cy="5524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4095750" y="4743450"/>
            <a:ext cx="7762875" cy="552450"/>
          </a:xfrm>
          <a:custGeom>
            <a:pathLst>
              <a:path w="815" h="58">
                <a:moveTo>
                  <a:pt x="0" y="0"/>
                </a:moveTo>
                <a:lnTo>
                  <a:pt x="5" y="0"/>
                </a:lnTo>
                <a:lnTo>
                  <a:pt x="5" y="58"/>
                </a:lnTo>
                <a:lnTo>
                  <a:pt x="0" y="58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295775" y="488632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534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572000" y="4848225"/>
            <a:ext cx="26670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不带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token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访问，被拦在门外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4143375" y="5391150"/>
            <a:ext cx="7715250" cy="5524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50" name=""/>
          <p:cNvSpPr/>
          <p:nvPr/>
        </p:nvSpPr>
        <p:spPr>
          <a:xfrm rot="0" flipH="0" flipV="0">
            <a:off x="4095750" y="5391150"/>
            <a:ext cx="7762875" cy="552450"/>
          </a:xfrm>
          <a:custGeom>
            <a:pathLst>
              <a:path w="815" h="58">
                <a:moveTo>
                  <a:pt x="0" y="0"/>
                </a:moveTo>
                <a:lnTo>
                  <a:pt x="5" y="0"/>
                </a:lnTo>
                <a:lnTo>
                  <a:pt x="5" y="58"/>
                </a:lnTo>
                <a:lnTo>
                  <a:pt x="0" y="58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295775" y="5534025"/>
            <a:ext cx="142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B7860B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572000" y="5495925"/>
            <a:ext cx="38671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用低权限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token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访问管理接口，必须被拦住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4248150" y="1047750"/>
            <a:ext cx="7410450" cy="1838325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6" name=""/>
          <p:cNvSpPr txBox="1"/>
          <p:nvPr/>
        </p:nvSpPr>
        <p:spPr>
          <a:xfrm rot="0" flipH="0" flipV="0">
            <a:off x="4400550" y="1181100"/>
            <a:ext cx="710565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为 @backend 添加认证与授权：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用户表已有 role 字段（admin/doctor/cashier/pharmacist）。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实现：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1) 登录接口，密码 bcrypt 哈希校验，签发 JWT（含角色）；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2) 依赖注入式鉴权，管理员接口仅 admin 可访问；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3) 提供 /me 接口返回当前用户信息。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先给方案。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57" name="" descr="&lt;Slide&#10;  notes={`第二个演示，让 AI 审查它自己写的代码。&#10;&#10;提示词是这么写的：请你以资深安全审计员的身份审查本项目后端代码，重点看 @backend/app，检查 SQL 注入、认证绕过、越权、明文密码、敏感信息硬编码、输入校验缺失、CORS 配置，输出一张表格：漏洞描述、涉及文件、风险等级、修复建议。最后一句是：只报告真实存在的问题。&#10;&#10;看它输出的漏洞清单。注意，AI 审查完你们要人工复核——它可能漏报，也可能误报。审查报告里“人工复核结论”这一栏，是你们自己的活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实战演示 · 演示二：AI 安全审查&lt;/Text&gt;&#10;    &lt;Text style={{ fontSize: 16, color: '#C9D9F2' }}&gt;医院信息系统实验 · 第 7 课&lt;/Text&gt;&#10;  &lt;/Box&gt;&#10;&#10;  &lt;Box style={{ width: '1280px', height: '552px', padding: '24px 40px 0px 40px' }}&gt;&#10;    &lt;svg width={1200} height={310} viewBox='0 0 1200 310'&gt;&#10;      &lt;rect x='0' y='70' width='250' height='150' rx='10' fill='#F7F9FC' stroke='#D6DCE5' strokeWidth='2' /&gt;&#10;      &lt;rect x='0' y='70' width='250' height='6' rx='3' fill='#3D7BD9' /&gt;&#10;      &lt;text x='125' y='116' text-anchor='middle' font-size='28' font-weight='bold' fill='#1A2230'&gt;安全审查提示词&lt;/text&gt;&#10;      &lt;text x='125' y='152' text-anchor='middle' font-size='20' fill='#4A5568'&gt;资深安全审计员身份&lt;/text&gt;&#10;      &lt;text x='125' y='182' text-anchor='middle' font-size='19' fill='#8B97A8'&gt;指定范围与检查项&lt;/text&gt;&#10;      &lt;text x='125' y='206' text-anchor='middle' font-size='19' fill='#1E4FA8'&gt;只报告真实存在的问题&lt;/text&gt;&#10;&#10;      &lt;path d='M266 145 L286 145' stroke='#1E4FA8' strokeWidth='3' /&gt;&#10;      &lt;path d='M280 138 L290 145 L280 152 Z' fill='#1E4FA8' /&gt;&#10;&#10;      &lt;rect x='290' y='70' width='250' height='150' rx='10' fill='#1E4FA8' /&gt;&#10;      &lt;text x='415' y='112' text-anchor='middle' font-size='28' font-weight='bold' fill='#FFFFFF'&gt;AI 扫描代码&lt;/text&gt;&#10;      &lt;text x='415' y='146' text-anchor='middle' font-size='22' fill='#C9D9F2'&gt;@backend/app&lt;/text&gt;&#10;      &lt;rect x='316' y='162' width='80' height='24' rx='12' fill='#3D7BD9' /&gt;&#10;      &lt;text x='356' y='179' text-anchor='middle' font-size='15' fill='#FFFFFF'&gt;SQL 注入&lt;/text&gt;&#10;      &lt;rect x='402' y='162' width='80' height='24' rx='12' fill='#3D7BD9' /&gt;&#10;      &lt;text x='442' y='179' text-anchor='middle' font-size='15' fill='#FFFFFF'&gt;越权访问&lt;/text&gt;&#10;      &lt;rect x='488' y='162' width='38' height='24' rx='12' fill='#FFC107' /&gt;&#10;      &lt;text x='507' y='179' text-anchor='middle' font-size='15' fill='#0E3F8C'&gt;CORS&lt;/text&gt;&#10;&#10;      &lt;path d='M556 145 L576 145' stroke='#1E4FA8' strokeWidth='3' /&gt;&#10;      &lt;path d='M570 138 L580 145 L570 152 Z' fill='#1E4FA8' /&gt;&#10;&#10;      &lt;rect x='580' y='70' width='360' height='150' rx='10' fill='#FFFFFF' stroke='#D6DCE5' strokeWidth='2' /&gt;&#10;      &lt;text x='760' y='100' text-anchor='middle' font-size='24' font-weight='bold' fill='#1A2230'&gt;输出表格&lt;/text&gt;&#10;      &lt;line x1='596' y1='114' x2='924' y2='114' stroke='#D6DCE5' strokeWidth='2' /&gt;&#10;      &lt;text x='678' y='130' text-anchor='middle' font-size='16' font-weight='bold' fill='#1E4FA8'&gt;漏洞描述&lt;/text&gt;&#10;      &lt;text x='760' y='130' text-anchor='middle' font-size='16' font-weight='bold' fill='#1E4FA8'&gt;涉及文件&lt;/text&gt;&#10;      &lt;text x='842' y='130' text-anchor='middle' font-size='16' font-weight='bold' fill='#1E4FA8'&gt;风险等级&lt;/text&gt;&#10;      &lt;text x='902' y='130' text-anchor='middle' font-size='16' font-weight='bold' fill='#1E4FA8'&gt;修复建议&lt;/text&gt;&#10;      &lt;line x1='596' y1='138' x2='924' y2='138' stroke='#D6DCE5' strokeWidth='1' /&gt;&#10;      &lt;rect x='604' y='146' width='140' height='10' rx='5' fill='#E8EFF8' /&gt;&#10;      &lt;rect x='752' y='146' width='60' height='10' rx='5' fill='#E8EFF8' /&gt;&#10;      &lt;rect x='820' y='146' width='44' height='10' rx='5' fill='#FDECEA' /&gt;&#10;      &lt;rect x='872' y='146' width='44' height='10' rx='5' fill='#E8EFF8' /&gt;&#10;      &lt;line x1='596' y1='164' x2='924' y2='164' stroke='#D6DCE5' strokeWidth='1' /&gt;&#10;      &lt;rect x='604' y='172' width='120' height='10' rx='5' fill='#E8EFF8' /&gt;&#10;      &lt;rect x='752' y='172' width='72' height='10' rx='5' fill='#E8EFF8' /&gt;&#10;      &lt;rect x='820' y='172' width='44' height='10' rx='5' fill='#FFF8E1' /&gt;&#10;      &lt;rect x='872' y='172' width='44' height='10' rx='5' fill='#E8EFF8' /&gt;&#10;      &lt;line x1='596' y1='190' x2='924' y2='190' stroke='#D6DCE5' strokeWidth='1' /&gt;&#10;&#10;      &lt;path d='M956 145 L976 145' stroke='#1E4FA8' strokeWidth='3' /&gt;&#10;      &lt;path d='M970 138 L980 145 L970 152 Z' fill='#1E4FA8' /&gt;&#10;&#10;      &lt;rect x='980' y='70' width='220' height='150' rx='10' fill='#FFF8E1' stroke='#FFC107' strokeWidth='3' /&gt;&#10;      &lt;text x='1090' y='112' text-anchor='middle' font-size='28' font-weight='bold' fill='#1A2230'&gt;人工复核结论&lt;/text&gt;&#10;      &lt;text x='1090' y='152' text-anchor='middle' font-size='20' fill='#4A5568'&gt;漏报要补&lt;/text&gt;&#10;      &lt;text x='1090' y='182' text-anchor='middle' font-size='20' fill='#4A5568'&gt;误报要划掉&lt;/text&gt;&#10;      &lt;text x='1090' y='206' text-anchor='middle' font-size='19' font-weight='bold' fill='#B7860B'&gt;这一栏是你的活&lt;/text&gt;&#10;&#10;      &lt;path d='M125 268 L1090 268' stroke='#D6DCE5' strokeWidth='2' strokeDasharray='6 5' /&gt;&#10;      &lt;rect x='470' y='252' width='260' height='32' rx='4' fill='#1E4FA8' /&gt;&#10;      &lt;text x='600' y='274' text-anchor='middle' font-size='19' font-weight='bold' fill='#FFFFFF'&gt;审查报告 = AI 输出 + 你的结论&lt;/text&gt;&#10;    &lt;/svg&gt;&#10;&#10;    &lt;Box style={{ height: '18px' }} /&gt;&#10;&#10;    &lt;Box style={{ height: '200px', flexDirection: 'row', gap: 24 }}&gt;&#10;      &lt;Box style={{ flex: 1, background: '#F7F9FC', border: '1px solid #D6DCE5', borderLeft: '6px solid #1E4FA8', padding: '20px 24px', gap: 12 }}&gt;&#10;        &lt;Text style={{ fontSize: 26, color: '#1A2230', fontWeight: 'bold' }}&gt;只报告真实存在的问题&lt;/Text&gt;&#10;        &lt;Text style={{ fontSize: 21, color: '#4A5568', lineHeight: 1.55 }}&gt;&#10;          提示词里就要写明这一句，避免它&lt;span style={{ fontWeight: 'bold', color: '#1E4FA8' }}&gt;为了凑数编造漏洞&lt;/span&gt;。&#10;        &lt;/Text&gt;&#10;      &lt;/Box&gt;&#10;      &lt;Box style={{ flex: 1, background: '#F7F9FC', border: '1px solid #D6DCE5', borderLeft: '6px solid #D9534F', padding: '20px 24px', gap: 12 }}&gt;&#10;        &lt;Text style={{ fontSize: 26, color: '#1A2230', fontWeight: 'bold' }}&gt;它可能漏报&lt;/Text&gt;&#10;        &lt;Text style={{ fontSize: 21, color: '#4A5568', lineHeight: 1.55 }}&gt;&#10;          它没扫到的地方&lt;span style={{ fontWeight: 'bold', color: '#D9534F' }}&gt;不等于没问题&lt;/span&gt;，清单之外你还得自己再查一遍。&#10;        &lt;/Text&gt;&#10;      &lt;/Box&gt;&#10;      &lt;Box style={{ flex: 1, background: '#F7F9FC', border: '1px solid #D6DCE5', borderLeft: '6px solid #FFC107', padding: '20px 24px', gap: 12 }}&gt;&#10;        &lt;Text style={{ fontSize: 26, color: '#1A2230', fontWeight: 'bold' }}&gt;它可能误报&lt;/Text&gt;&#10;        &lt;Text style={{ fontSize: 21, color: '#4A5568', lineHeight: 1.55 }}&gt;&#10;          它报警的地方也&lt;span style={{ fontWeight: 'bold', color: '#1A2230' }}&gt;不一定真有问题&lt;/span&gt;，逐条验证后再决定改不改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实战演示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演示二：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安全审查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pic>
        <p:nvPicPr>
          <p:cNvPr id="3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914400"/>
            <a:ext cx="11430000" cy="2952750"/>
          </a:xfrm>
          <a:prstGeom prst="rect">
            <a:avLst/>
          </a:prstGeom>
          <a:ln/>
        </p:spPr>
      </p:pic>
      <p:sp>
        <p:nvSpPr>
          <p:cNvPr id="363" name=""/>
          <p:cNvSpPr/>
          <p:nvPr/>
        </p:nvSpPr>
        <p:spPr>
          <a:xfrm rot="0" flipH="0" flipV="0">
            <a:off x="438150" y="4038600"/>
            <a:ext cx="3657600" cy="1905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64" name=""/>
          <p:cNvSpPr/>
          <p:nvPr/>
        </p:nvSpPr>
        <p:spPr>
          <a:xfrm rot="0" flipH="0" flipV="0">
            <a:off x="381000" y="4038600"/>
            <a:ext cx="3714750" cy="1905000"/>
          </a:xfrm>
          <a:custGeom>
            <a:pathLst>
              <a:path w="390" h="200">
                <a:moveTo>
                  <a:pt x="0" y="0"/>
                </a:moveTo>
                <a:lnTo>
                  <a:pt x="6" y="0"/>
                </a:lnTo>
                <a:lnTo>
                  <a:pt x="6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66750" y="422910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只报告真实存在的问题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66750" y="4648200"/>
            <a:ext cx="31432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提示词里就要写明这一句，避免它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为了凑数编造漏洞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67" name=""/>
          <p:cNvSpPr/>
          <p:nvPr/>
        </p:nvSpPr>
        <p:spPr>
          <a:xfrm rot="0" flipH="0" flipV="0">
            <a:off x="4324350" y="4038600"/>
            <a:ext cx="3657600" cy="1905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4267200" y="4038600"/>
            <a:ext cx="3714750" cy="1905000"/>
          </a:xfrm>
          <a:custGeom>
            <a:pathLst>
              <a:path w="390" h="200">
                <a:moveTo>
                  <a:pt x="0" y="0"/>
                </a:moveTo>
                <a:lnTo>
                  <a:pt x="6" y="0"/>
                </a:lnTo>
                <a:lnTo>
                  <a:pt x="6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4552950" y="422910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它可能漏报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4552950" y="4648200"/>
            <a:ext cx="31432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它没扫到的地方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不等于没问题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，清单之外你还得自己再查一遍。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8210550" y="4038600"/>
            <a:ext cx="3657600" cy="1905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8153400" y="4038600"/>
            <a:ext cx="3714750" cy="1905000"/>
          </a:xfrm>
          <a:custGeom>
            <a:pathLst>
              <a:path w="390" h="200">
                <a:moveTo>
                  <a:pt x="0" y="0"/>
                </a:moveTo>
                <a:lnTo>
                  <a:pt x="6" y="0"/>
                </a:lnTo>
                <a:lnTo>
                  <a:pt x="6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439150" y="4229100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它可能误报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439150" y="4648200"/>
            <a:ext cx="31432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它报警的地方也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不一定真有问题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，逐条验证后再决定改不改。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" name="" descr="&lt;Slide&#10;  notes={`现在轮到你们，三件事。&#10;&#10;第一，接入登录、JWT 和 RBAC，四种角色的权限要分明。&#10;&#10;第二，跑一遍安全审查，修复至少两个真实问题，注意是真实问题，不是 AI 凑数的。&#10;&#10;第三，验证越权：用收费员账号去访问管理接口，必须返回 403，被拦住了才是对的。&#10;&#10;做完的组做加分项：给患者身份证号做脱敏显示，列表页只显示后四位。有问题举手，我过来看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实战演示 · 学生实操三步&lt;/Text&gt;&#10;    &lt;Text style={{ fontSize: 16, color: '#C9D9F2' }}&gt;医院信息系统实验 · 第 7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学生实操三步&lt;/Text&gt;&#10;      &lt;Text style={{ fontSize: 22, color: '#8B97A8' }}&gt;建议用时 35 分钟 · 做完举手示意&lt;/Text&gt;&#10;    &lt;/Box&gt;&#10;&#10;    &lt;Box style={{ height: '14px' }} /&gt;&#10;&#10;    &lt;svg width={1200} height={140} viewBox='0 0 1200 140'&gt;&#10;      &lt;rect x='60' y='46' width='940' height='8' rx='4' fill='#E5E7EB' /&gt;&#10;      &lt;rect x='60' y='46' width='940' height='8' rx='4' fill='#1E4FA8' opacity='0.25' /&gt;&#10;      &lt;circle cx='100' cy='50' r='30' fill='#1E4FA8' /&gt;&#10;      &lt;text x='100' y='51' text-anchor='middle' dominant-baseline='central' font-size='24' font-weight='bold' fill='#FFFFFF'&gt;1&lt;/text&gt;&#10;      &lt;circle cx='530' cy='50' r='30' fill='#1E4FA8' /&gt;&#10;      &lt;text x='530' y='51' text-anchor='middle' dominant-baseline='central' font-size='24' font-weight='bold' fill='#FFFFFF'&gt;2&lt;/text&gt;&#10;      &lt;circle cx='960' cy='50' r='34' fill='#0E3F8C' /&gt;&#10;      &lt;text x='960' y='51' text-anchor='middle' dominant-baseline='central' font-size='26' font-weight='bold' fill='#FFFFFF'&gt;3&lt;/text&gt;&#10;      &lt;text x='100' y='112' text-anchor='middle' font-size='24' font-weight='bold' fill='#1A2230'&gt;接入认证&lt;/text&gt;&#10;      &lt;text x='530' y='112' text-anchor='middle' font-size='24' font-weight='bold' fill='#1A2230'&gt;修复漏洞&lt;/text&gt;&#10;      &lt;text x='960' y='112' text-anchor='middle' font-size='24' font-weight='bold' fill='#0E3F8C'&gt;验证越权&lt;/text&gt;&#10;    &lt;/svg&gt;&#10;&#10;    &lt;Box style={{ height: '16px' }} /&gt;&#10;&#10;    &lt;Box style={{ height: '238px', flexDirection: 'row', gap: 24 }}&gt;&#10;      &lt;Box style={{ flex: 1, background: '#F7F9FC', border: '1px solid #D6DCE5', borderTop: '4px solid #1E4FA8', padding: '20px 22px', gap: 10 }}&gt;&#10;        &lt;Text style={{ fontSize: 26, color: '#1A2230', fontWeight: 'bold' }}&gt;① 接入登录与权限&lt;/Text&gt;&#10;        &lt;Text style={{ fontSize: 21, color: '#4A5568', lineHeight: 1.5 }}&gt;&#10;          加上&lt;span style={{ color: '#1E4FA8', fontWeight: 'bold' }}&gt;登录、JWT 与 RBAC&lt;/span&gt;，四种角色权限分明，一个接口都不放过。&#10;        &lt;/Text&gt;&#10;        &lt;Box style={{ background: '#E8EFF8', padding: '8px 12px' }}&gt;&#10;          &lt;Text style={{ fontSize: 19, color: '#1E4FA8' }}&gt;验收点：四种角色各司其职&lt;/Text&gt;&#10;        &lt;/Box&gt;&#10;      &lt;/Box&gt;&#10;      &lt;Box style={{ flex: 1, background: '#F7F9FC', border: '1px solid #D6DCE5', borderTop: '4px solid #1E4FA8', padding: '20px 22px', gap: 10 }}&gt;&#10;        &lt;Text style={{ fontSize: 26, color: '#1A2230', fontWeight: 'bold' }}&gt;② 修复真实问题&lt;/Text&gt;&#10;        &lt;Text style={{ fontSize: 21, color: '#4A5568', lineHeight: 1.5 }}&gt;&#10;          跑一遍安全审查，&lt;span style={{ fontWeight: 'bold', color: '#1A2230' }}&gt;修复至少两个真实问题&lt;/span&gt;，别把误报当成果。&#10;        &lt;/Text&gt;&#10;        &lt;Box style={{ background: '#E8EFF8', padding: '8px 12px' }}&gt;&#10;          &lt;Text style={{ fontSize: 19, color: '#1E4FA8' }}&gt;验收点：≥ 2 个真实漏洞已改&lt;/Text&gt;&#10;        &lt;/Box&gt;&#10;      &lt;/Box&gt;&#10;      &lt;Box style={{ flex: 1, background: '#E8EFF8', border: '1px solid #3D7BD9', borderTop: '4px solid #0E3F8C', padding: '20px 22px', gap: 10 }}&gt;&#10;        &lt;Text style={{ fontSize: 26, color: '#1A2230', fontWeight: 'bold' }}&gt;③ 验证越权&lt;/Text&gt;&#10;        &lt;Text style={{ fontSize: 21, color: '#4A5568', lineHeight: 1.5 }}&gt;&#10;          用&lt;span style={{ fontWeight: 'bold', color: '#1A2230' }}&gt;收费员账号访问管理接口，必须 403&lt;/span&gt;，被拦住才是对的。&#10;        &lt;/Text&gt;&#10;        &lt;Box style={{ background: '#FFFFFF', padding: '8px 12px' }}&gt;&#10;          &lt;Text style={{ fontSize: 19, color: '#0E3F8C', fontWeight: 'bold' }}&gt;这一步是今天的下课铃&lt;/Text&gt;&#10;        &lt;/Box&gt;&#10;      &lt;/Box&gt;&#10;    &lt;/Box&gt;&#10;&#10;    &lt;Box style={{ height: '12px' }} /&gt;&#10;&#10;    &lt;Box style={{ height: '40px', background: '#1E4FA8', flexDirection: 'row', alignItems: 'center', padding: '0px 20px', gap: 12 }}&gt;&#10;      &lt;Box style={{ width: 6, height: 6, background: '#FFC107' }} /&gt;&#10;      &lt;Text style={{ fontSize: 21, color: '#FFFFFF' }}&gt;加分项：给患者身份证号做脱敏显示，列表页只显示后四位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实战演示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学生实操三步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学生实操三步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762250" y="1019175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建议用时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35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分钟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做完举手示意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33350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381000" y="3028950"/>
            <a:ext cx="3657600" cy="22669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81000" y="2990850"/>
            <a:ext cx="3657600" cy="2305050"/>
          </a:xfrm>
          <a:custGeom>
            <a:pathLst>
              <a:path w="384" h="242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90550" y="32194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接入登录与权限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90550" y="361950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加上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登录、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JWT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与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RBAC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，四种角色权限分明，一个接口都不放过。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90550" y="4438650"/>
            <a:ext cx="32385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04850" y="4514850"/>
            <a:ext cx="300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验收点：四种角色各司其职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267200" y="3028950"/>
            <a:ext cx="3657600" cy="22669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4267200" y="2990850"/>
            <a:ext cx="3657600" cy="2305050"/>
          </a:xfrm>
          <a:custGeom>
            <a:pathLst>
              <a:path w="384" h="242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476750" y="32194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修复真实问题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476750" y="361950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跑一遍安全审查，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修复至少两个真实问题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，别把误报当成果。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476750" y="4438650"/>
            <a:ext cx="32385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591050" y="4514850"/>
            <a:ext cx="300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验收点：≥</a:t>
            </a:r>
            <a:r>
              <a:rPr lang="en-US" sz="1425">
                <a:solidFill>
                  <a:srgbClr val="1E4FA8"/>
                </a:solidFill>
                <a:latin typeface="Microsoft YaHei"/>
                <a:ea typeface="Microsoft YaHei"/>
              </a:rPr>
              <a:t> 2 </a:t>
            </a: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个真实漏洞已改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8153400" y="3028950"/>
            <a:ext cx="3657600" cy="2266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8153400" y="2990850"/>
            <a:ext cx="3657600" cy="2305050"/>
          </a:xfrm>
          <a:custGeom>
            <a:pathLst>
              <a:path w="384" h="242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8362950" y="3219450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验证越权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362950" y="361950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用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收费员账号访问管理接口，必须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403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，被拦住才是对的。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8362950" y="4438650"/>
            <a:ext cx="32385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477250" y="4514850"/>
            <a:ext cx="3009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这一步是今天的下课铃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381000" y="5372100"/>
            <a:ext cx="11430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571500" y="55340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42950" y="5438775"/>
            <a:ext cx="5200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加分项：给患者身份证号做脱敏显示，列表页只显示后四位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9" name="" descr="&lt;Slide&#10;  notes={`最后一段，把你们最常问的问题一次答掉，然后布置作业。&#10;&#10;先说一个比喻你们记住：安全审查报告是病历，测试是体检。病历记录你已经查出的问题，体检是你主动去找还没发现的问题。&#10;&#10;今天你们交的是病历，下节课我们做体检。这两个东西合起来，才叫一个敢上线的系统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3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Q &amp;amp; A · HOMEWORK&lt;/Text&gt;&#10;        &lt;Text style={{ fontSize: 56, color: '#1A2230', fontWeight: 'bold', lineHeight: 1.25 }}&gt;答疑与作业&lt;/Text&gt;&#10;        &lt;Text style={{ fontSize: 26, color: '#4A5568', lineHeight: 1.5 }}&gt;安全审查报告是病历，测试是体检。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三个高频问题：JWT、哈希算法、CORS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作业一 · 认证 RBAC 完成 + 安全审查报告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作业二 · 全项目自查敏感信息，写 100 字结论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Q &amp; A · HOMEWORK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答疑与作业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安全审查报告是病历，测试是体检。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38862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三个高频问题：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JWT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、哈希算法、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CORS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40386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作业一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认证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RBAC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完成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安全审查报告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44291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作业二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全项目自查敏感信息，写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100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字结论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3" name="" descr="&lt;Slide&#10;  notes={`你们问得最多的有三个问题，我一起答。&#10;&#10;第一，JWT 和 session 有什么区别。一句话：JWT 是无状态的令牌，服务器不存，验签就行；Session 是有状态的，服务器要存会话。小项目用哪个都行，我们课程用 JWT，因为前后端分离更顺手。让 AI 解释给你们听，你们要能听懂。&#10;&#10;第二，AI 生成的密码哈希算法不安全怎么办。提示词里明确写“使用 bcrypt”，或者审查时发现 md5、sha256，直接让它换。这是安全审查的典型发现项。&#10;&#10;第三，CORS 报错是什么。这是浏览器的安全机制：前端域名 A 不允许随便访问后端域名 B。配置允许的前端域名就行，别图省事配星号，否则所有域名都能调你的接口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答疑与作业 · 常见问题应答&lt;/Text&gt;&#10;    &lt;Text style={{ fontSize: 16, color: '#C9D9F2' }}&gt;医院信息系统实验 · 第 7 课&lt;/Text&gt;&#10;  &lt;/Box&gt;&#10;&#10;  &lt;Box style={{ width: '1280px', height: '552px', flexDirection: 'row', padding: '24px 40px 0px 40px', gap: 30 }}&gt;&#10;    &lt;Box style={{ width: '360px', height: '528px', background: '#E8EFF8', border: '1px solid #D6DCE5', padding: '28px 26px', justifyContent: 'space-between' }}&gt;&#10;      &lt;Box style={{ gap: 14 }}&gt;&#10;        &lt;Text style={{ fontSize: 17, color: '#3D7BD9', letterSpacing: 2 }}&gt;FAQ&lt;/Text&gt;&#10;        &lt;Text style={{ fontSize: 42, color: '#1A2230', fontWeight: 'bold', lineHeight: 1.2 }}&gt;常见问题&lt;br /&gt;应答&lt;/Text&gt;&#10;        &lt;Box style={{ width: 80, height: 5, background: '#1E4FA8' }} /&gt;&#10;      &lt;/Box&gt;&#10;&#10;      &lt;Box style={{ gap: 12 }}&gt;&#10;        &lt;Box style={{ background: '#FFFFFF', padding: '10px 16px', borderRadius: 20, alignItems: 'center' }}&gt;&#10;          &lt;Text style={{ fontSize: 20, color: '#1E4FA8', fontWeight: 'bold' }}&gt;JWT 与 Session&lt;/Text&gt;&#10;        &lt;/Box&gt;&#10;        &lt;Box style={{ background: '#FFFFFF', padding: '10px 16px', borderRadius: 20, alignItems: 'center' }}&gt;&#10;          &lt;Text style={{ fontSize: 20, color: '#1E4FA8', fontWeight: 'bold' }}&gt;哈希算法不安全&lt;/Text&gt;&#10;        &lt;/Box&gt;&#10;        &lt;Box style={{ background: '#FFFFFF', padding: '10px 16px', borderRadius: 20, alignItems: 'center' }}&gt;&#10;          &lt;Text style={{ fontSize: 20, color: '#1E4FA8', fontWeight: 'bold' }}&gt;CORS 报错&lt;/Text&gt;&#10;        &lt;/Box&gt;&#10;      &lt;/Box&gt;&#10;&#10;      &lt;Text style={{ fontSize: 20, color: '#4A5568', lineHeight: 1.5 }}&gt;&#10;        这三个问题背后是同一件事：AI 给的答案，你要能听懂再接受。&#10;      &lt;/Text&gt;&#10;    &lt;/Box&gt;&#10;&#10;    &lt;Box style={{ width: '810px', height: '528px', gap: 9 }}&gt;&#10;      &lt;Box style={{ height: '170px', background: '#F7F9FC', border: '1px solid #D6DCE5', borderLeft: '6px solid #1E4FA8', padding: '18px 22px', justifyContent: 'space-between' }}&gt;&#10;        &lt;Text style={{ fontSize: 24, color: '#1A2230', fontWeight: 'bold', lineHeight: 1.4 }}&gt;&#10;          Q：JWT 和 session 有什么区别？&#10;        &lt;/Text&gt;&#10;        &lt;Text style={{ fontSize: 21, color: '#4A5568', lineHeight: 1.5 }}&gt;&#10;          A：&lt;span style={{ color: '#1E4FA8', fontWeight: 'bold' }}&gt;JWT 是无状态令牌，服务器不存，验签即可；Session 有状态，服务器存会话。&lt;/span&gt;小项目用哪个都行，我们用 JWT 是因为前后端分离更顺手。让 AI 解释，你们要能听懂。&#10;        &lt;/Text&gt;&#10;      &lt;/Box&gt;&#10;&#10;      &lt;Box style={{ height: '170px', background: '#F7F9FC', border: '1px solid #D6DCE5', borderLeft: '6px solid #D9534F', padding: '18px 22px', justifyContent: 'space-between' }}&gt;&#10;        &lt;Text style={{ fontSize: 24, color: '#1A2230', fontWeight: 'bold', lineHeight: 1.4 }}&gt;&#10;          Q：AI 生成的密码哈希算法不安全怎么办？&#10;        &lt;/Text&gt;&#10;        &lt;Text style={{ fontSize: 21, color: '#4A5568', lineHeight: 1.5 }}&gt;&#10;          A：提示词里明确写&lt;span style={{ color: '#D9534F', fontWeight: 'bold' }}&gt;“使用 bcrypt”&lt;/span&gt;；审查时发现 md5、sha256 直接让它换。这是安全审查的典型发现项。&#10;        &lt;/Text&gt;&#10;      &lt;/Box&gt;&#10;&#10;      &lt;Box style={{ height: '170px', background: '#F7F9FC', border: '1px solid #D6DCE5', borderLeft: '6px solid #FFC107', padding: '18px 22px', justifyContent: 'space-between' }}&gt;&#10;        &lt;Text style={{ fontSize: 24, color: '#1A2230', fontWeight: 'bold', lineHeight: 1.4 }}&gt;&#10;          Q：CORS 报错是什么？&#10;        &lt;/Text&gt;&#10;        &lt;Text style={{ fontSize: 21, color: '#4A5568', lineHeight: 1.5 }}&gt;&#10;          A：浏览器的安全机制，前端域名 A 不允许随便访问后端域名 B。配置允许的前端域名即可，&lt;span style={{ color: '#1A2230', fontWeight: 'bold' }}&gt;别图省事配 *，否则所有域名都能调你的接口&lt;/span&gt;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答疑与作业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常见问题应答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28650" y="1181100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FAQ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28650" y="1514475"/>
            <a:ext cx="2933700" cy="1152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常见问题</a:t>
            </a:r>
            <a:endParaRPr/>
          </a:p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应答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28650" y="2800350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628650" y="31813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371600" y="3276600"/>
            <a:ext cx="1447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JWT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与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 Session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28650" y="37147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428750" y="38100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哈希算法不安全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28650" y="42481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609725" y="434340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CORS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报错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628650" y="4991100"/>
            <a:ext cx="2933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这三个问题背后是同一件事：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给的答案，你要能听懂再接受。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4152900" y="91440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4095750" y="91440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362450" y="108585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JWT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和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session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有什么区别？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362450" y="1476375"/>
            <a:ext cx="72390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JWT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是无状态令牌，服务器不存，验签即可；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Session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有状态，服务器存会话。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小项目用哪个都行，我们用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JWT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是因为前后端分离更顺手。让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解释，你们要能听懂。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4152900" y="2619375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4095750" y="2619375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362450" y="2790825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生成的密码哈希算法不安全怎么办？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362450" y="3343275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：提示词里明确写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“使用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 bcrypt”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；审查时发现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md5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sha256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直接让它换。这是安全审查的典型发现项。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4152900" y="432435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4095750" y="432435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362450" y="449580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CORS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报错是什么？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362450" y="5048250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：浏览器的安全机制，前端域名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不允许随便访问后端域名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B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。配置允许的前端域名即可，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别图省事配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*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，否则所有域名都能调你的接口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3" name="" descr="&lt;Slide&#10;  notes={`请记住今天这句话：AI 是工具，你是签字人。&#10;&#10;AI 把漏洞清单给你，不代表安全问题就解决了。它可能漏报，也可能误报，逐条复核是你的活，不是它的。&#10;&#10;更重要的一层是责任。系统上线以后出了事，签字的是你，不是 AI。所以你不必会手写每一行代码，但你必须看得懂它在干什么、哪里可能出问题。看懂，是你签字的前提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课核心主张 · 谁为安全负责&lt;/Text&gt;&#10;    &lt;Text style={{ fontSize: 16, color: '#C9D9F2' }}&gt;医院信息系统实验 · 第 7 课&lt;/Text&gt;&#10;  &lt;/Box&gt;&#10;&#10;  &lt;Box style={{ width: '1280px', height: '552px', padding: '24px 40px 0px 40px' }}&gt;&#10;    &lt;Box style={{ height: '300px', background: '#0E3F8C', padding: '34px 44px', justifyContent: 'space-between' }}&gt;&#10;      &lt;Box style={{ flexDirection: 'row', alignItems: 'center', gap: 16 }}&gt;&#10;        &lt;Box style={{ width: 8, height: 30, background: '#FFC107' }} /&gt;&#10;        &lt;Text style={{ fontSize: 19, color: '#8FAED8', letterSpacing: 2 }}&gt;KEY MESSAGE OF THIS LESSON&lt;/Text&gt;&#10;      &lt;/Box&gt;&#10;&#10;      &lt;Text style={{ fontSize: 76, color: '#FFFFFF', fontWeight: 'bold', lineHeight: 1.18 }}&gt;&#10;        AI 是工具&lt;br /&gt;你是签字人&#10;      &lt;/Text&gt;&#10;&#10;      &lt;Box style={{ flexDirection: 'row', alignItems: 'center', gap: 20 }}&gt;&#10;        &lt;Box style={{ width: 100, height: 5, background: '#FFC107' }} /&gt;&#10;        &lt;Text style={{ fontSize: 24, color: '#C9D9F2' }}&gt;审查报告里那一栏“人工复核结论”，只能由你写&lt;/Text&gt;&#10;      &lt;/Box&gt;&#10;    &lt;/Box&gt;&#10;&#10;    &lt;Box style={{ height: '18px' }} /&gt;&#10;&#10;    &lt;Box style={{ height: '210px', flexDirection: 'row', gap: 24 }}&gt;&#10;      &lt;Box style={{ flex: 1, background: '#F7F9FC', border: '1px solid #D6DCE5', borderTop: '4px solid #1E4FA8', padding: '20px 22px', gap: 10 }}&gt;&#10;        &lt;Box style={{ flexDirection: 'row', alignItems: 'center', gap: 10 }}&gt;&#10;          &lt;Box style={{ width: 34, height: 34, background: '#1E4FA8', alignItems: 'center', justifyContent: 'center' }}&gt;&#10;            &lt;Text style={{ fontSize: 18, color: '#FFFFFF', fontWeight: 'bold' }}&gt;1&lt;/Text&gt;&#10;          &lt;/Box&gt;&#10;          &lt;Text style={{ fontSize: 26, color: '#1A2230', fontWeight: 'bold' }}&gt;漏报误报都要你复核&lt;/Text&gt;&#10;        &lt;/Box&gt;&#10;        &lt;Text style={{ fontSize: 21, color: '#4A5568', lineHeight: 1.5 }}&gt;&#10;          AI 给的清单不是结论。扫不到的地方不等于没问题，报警的地方也不一定真有问题——逐条验证后再下笔。&#10;        &lt;/Text&gt;&#10;      &lt;/Box&gt;&#10;      &lt;Box style={{ flex: 1, background: '#F7F9FC', border: '1px solid #D6DCE5', borderTop: '4px solid #D9534F', padding: '20px 22px', gap: 10 }}&gt;&#10;        &lt;Box style={{ flexDirection: 'row', alignItems: 'center', gap: 10 }}&gt;&#10;          &lt;Box style={{ width: 34, height: 34, background: '#D9534F', alignItems: 'center', justifyContent: 'center' }}&gt;&#10;            &lt;Text style={{ fontSize: 18, color: '#FFFFFF', fontWeight: 'bold' }}&gt;2&lt;/Text&gt;&#10;          &lt;/Box&gt;&#10;          &lt;Text style={{ fontSize: 26, color: '#1A2230', fontWeight: 'bold' }}&gt;出事了是你的责任&lt;/Text&gt;&#10;        &lt;/Box&gt;&#10;        &lt;Text style={{ fontSize: 21, color: '#4A5568', lineHeight: 1.5 }}&gt;&#10;          签字的是你，不是 AI。你不必手写每一行代码，但必须&lt;span style={{ fontWeight: 'bold', color: '#D9534F' }}&gt;看得懂它在干什么&lt;/span&gt;——这是签字的前提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486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本课核心主张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谁为安全负责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81000" y="914400"/>
            <a:ext cx="11430000" cy="2857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800100" y="1238250"/>
            <a:ext cx="76200" cy="2857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28700" y="1276350"/>
            <a:ext cx="3228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150">
                <a:solidFill>
                  <a:srgbClr val="8FAED8"/>
                </a:solidFill>
                <a:latin typeface="Microsoft YaHei"/>
                <a:ea typeface="Microsoft YaHei"/>
              </a:rPr>
              <a:t>KEY MESSAGE OF THIS LESSON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00100" y="1524000"/>
            <a:ext cx="10591800" cy="2057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en-US" sz="570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是工具</a:t>
            </a:r>
            <a:endParaRPr/>
          </a:p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你是签字人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800100" y="3695700"/>
            <a:ext cx="9525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943100" y="3581400"/>
            <a:ext cx="5029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审查报告里那一栏“人工复核结论”，只能由你写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81000" y="39814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381000" y="3943350"/>
            <a:ext cx="5600700" cy="2038350"/>
          </a:xfrm>
          <a:custGeom>
            <a:pathLst>
              <a:path w="588" h="21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590550" y="417195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95325" y="4229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009650" y="4181475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漏报误报都要你复核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90550" y="4591050"/>
            <a:ext cx="5181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给的清单不是结论。扫不到的地方不等于没问题，报警的地方也不一定真有问题——逐条验证后再下笔。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210300" y="39814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6210300" y="3943350"/>
            <a:ext cx="5600700" cy="2038350"/>
          </a:xfrm>
          <a:custGeom>
            <a:pathLst>
              <a:path w="588" h="21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6419850" y="4171950"/>
            <a:ext cx="323850" cy="3238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524625" y="4229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838950" y="4181475"/>
            <a:ext cx="1981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出事了是你的责任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419850" y="4591050"/>
            <a:ext cx="5181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签字的是你，不是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。你不必手写每一行代码，但必须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看得懂它在干什么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——这是签字的前提。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8" name="" descr="&lt;Slide&#10;  notes={`作业两项，都在课程群公告里。&#10;&#10;第一，认证 RBAC 完成，加上安全审查报告。报告要表格形式，两栏内容：AI 输出的问题，加上你们人工复核的结论。只有 AI 输出没有复核结论的，我打回。&#10;&#10;第二，全项目自查敏感信息——搜代码和提交历史里有没有密钥、身份证明文，写 100 字自查结论。&#10;&#10;下节课讲测试。安全审查报告是你们的病历，测试是体检，两个都要有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答疑与作业 · 作业布置&lt;/Text&gt;&#10;    &lt;Text style={{ fontSize: 16, color: '#C9D9F2' }}&gt;医院信息系统实验 · 第 7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本节课作业（两项）&lt;/Text&gt;&#10;      &lt;Text style={{ fontSize: 22, color: '#8B97A8' }}&gt;提交至课程群公告指定入口&lt;/Text&gt;&#10;    &lt;/Box&gt;&#10;&#10;    &lt;Box style={{ height: '14px' }} /&gt;&#10;&#10;    &lt;svg width={1200} height={130} viewBox='0 0 1200 130'&gt;&#10;      &lt;rect x='60' y='42' width='940' height='8' rx='4' fill='#E5E7EB' /&gt;&#10;      &lt;rect x='60' y='42' width='940' height='8' rx='4' fill='#1E4FA8' opacity='0.25' /&gt;&#10;      &lt;line x1='60' y1='46' x2='530' y2='46' stroke='#1E4FA8' strokeWidth='8' /&gt;&#10;      &lt;circle cx='100' cy='46' r='30' fill='#1E4FA8' /&gt;&#10;      &lt;text x='100' y='47' text-anchor='middle' dominant-baseline='central' font-size='24' font-weight='bold' fill='#FFFFFF'&gt;1&lt;/text&gt;&#10;      &lt;circle cx='960' cy='46' r='34' fill='#0E3F8C' /&gt;&#10;      &lt;text x='960' y='47' text-anchor='middle' dominant-baseline='central' font-size='26' font-weight='bold' fill='#FFFFFF'&gt;2&lt;/text&gt;&#10;      &lt;text x='100' y='106' text-anchor='middle' font-size='24' font-weight='bold' fill='#1A2230'&gt;审查报告&lt;/text&gt;&#10;      &lt;text x='960' y='106' text-anchor='middle' font-size='24' font-weight='bold' fill='#0E3F8C'&gt;敏感信息自查&lt;/text&gt;&#10;    &lt;/svg&gt;&#10;&#10;    &lt;Box style={{ height: '16px' }} /&gt;&#10;&#10;    &lt;Box style={{ height: '262px', flexDirection: 'row', gap: 24 }}&gt;&#10;      &lt;Box style={{ flex: 1, background: '#F7F9FC', border: '1px solid #D6DCE5', borderTop: '4px solid #1E4FA8', padding: '20px 22px', gap: 10 }}&gt;&#10;        &lt;Text style={{ fontSize: 26, color: '#1A2230', fontWeight: 'bold' }}&gt;① 认证 RBAC + 审查报告&lt;/Text&gt;&#10;        &lt;Text style={{ fontSize: 21, color: '#4A5568', lineHeight: 1.5 }}&gt;&#10;          报告用&lt;span style={{ fontWeight: 'bold', color: '#1E4FA8' }}&gt;表格形式&lt;/span&gt;提交：一栏是 AI 输出的问题，一栏是你们&lt;span style={{ fontWeight: 'bold', color: '#1E4FA8' }}&gt;人工复核的结论&lt;/span&gt;。&#10;        &lt;/Text&gt;&#10;        &lt;Box style={{ background: '#E8EFF8', padding: '8px 12px' }}&gt;&#10;          &lt;Text style={{ fontSize: 19, color: '#1E4FA8' }}&gt;验收点：没有复核结论的，我打回&lt;/Text&gt;&#10;        &lt;/Box&gt;&#10;      &lt;/Box&gt;&#10;      &lt;Box style={{ flex: 1, background: '#E8EFF8', border: '1px solid #3D7BD9', borderTop: '4px solid #0E3F8C', padding: '20px 22px', gap: 10 }}&gt;&#10;        &lt;Text style={{ fontSize: 26, color: '#1A2230', fontWeight: 'bold' }}&gt;② 全项目自查敏感信息&lt;/Text&gt;&#10;        &lt;Text style={{ fontSize: 21, color: '#4A5568', lineHeight: 1.5 }}&gt;&#10;          搜&lt;span style={{ fontWeight: 'bold', color: '#1A2230' }}&gt;代码和提交历史&lt;/span&gt;里有没有密钥、身份证明文，写 100 字自查结论。&#10;        &lt;/Text&gt;&#10;        &lt;Box style={{ background: '#FFFFFF', padding: '8px 12px' }}&gt;&#10;          &lt;Text style={{ fontSize: 19, color: '#0E3F8C', fontWeight: 'bold' }}&gt;验收点：查过历史提交，不只是当前代码&lt;/Text&gt;&#10;        &lt;/Box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下节课讲测试：安全审查报告是病历，测试是体检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答疑与作业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作业布置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本节课作业（两项）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790950" y="1019175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提交至课程群公告指定入口</a:t>
            </a:r>
            <a:endParaRPr/>
          </a:p>
        </p:txBody>
      </p:sp>
      <p:pic>
        <p:nvPicPr>
          <p:cNvPr id="12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238250"/>
          </a:xfrm>
          <a:prstGeom prst="rect">
            <a:avLst/>
          </a:prstGeom>
          <a:ln/>
        </p:spPr>
      </p:pic>
      <p:sp>
        <p:nvSpPr>
          <p:cNvPr id="127" name=""/>
          <p:cNvSpPr/>
          <p:nvPr/>
        </p:nvSpPr>
        <p:spPr>
          <a:xfrm rot="0" flipH="0" flipV="0">
            <a:off x="381000" y="2933700"/>
            <a:ext cx="5600700" cy="24955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381000" y="2895600"/>
            <a:ext cx="5600700" cy="2533650"/>
          </a:xfrm>
          <a:custGeom>
            <a:pathLst>
              <a:path w="588" h="266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90550" y="3124200"/>
            <a:ext cx="5181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认证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RBAC +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审查报告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90550" y="3524250"/>
            <a:ext cx="5181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报告用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表格形式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提交：一栏是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输出的问题，一栏是你们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人工复核的结论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90550" y="4343400"/>
            <a:ext cx="5181600" cy="3714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04850" y="4419600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验收点：没有复核结论的，我打回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210300" y="2933700"/>
            <a:ext cx="5600700" cy="24955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6210300" y="2895600"/>
            <a:ext cx="5600700" cy="2533650"/>
          </a:xfrm>
          <a:custGeom>
            <a:pathLst>
              <a:path w="588" h="266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419850" y="3124200"/>
            <a:ext cx="5181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全项目自查敏感信息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419850" y="3524250"/>
            <a:ext cx="5181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搜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代码和提交历史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里有没有密钥、身份证明文，写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100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字自查结论。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419850" y="4343400"/>
            <a:ext cx="5181600" cy="371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534150" y="4419600"/>
            <a:ext cx="4953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3F8C"/>
                </a:solidFill>
                <a:latin typeface="Microsoft YaHei"/>
                <a:ea typeface="Microsoft YaHei"/>
              </a:rPr>
              <a:t>验收点：查过历史提交，不只是当前代码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81000" y="55054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571500" y="56959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42950" y="5600700"/>
            <a:ext cx="4610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下节课讲测试：安全审查报告是病历，测试是体检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4" name="" descr="&lt;Slide&#10;  notes={`今天就到这里。&#10;&#10;回去把认证和角色权限补完，把安全审查报告交上来。记住，审查报告里那一栏人工复核结论，是你们自己写的，不要原样抄 AI 的输出。&#10;&#10;前六周我们把系统做“能用”了，从今天开始做“敢用”。下节课讲测试——安全审查报告是病历，测试是体检，一个都不能少。下课。`}&#10;  style={{ width: '1280px', height: '720px', background: '#0E3F8C', padding: '0px', position: 'relative' }}&#10;&gt;&#10;  &lt;svg width={640} height={720} viewBox='0 0 640 720' style={{ position: 'absolute', top: 0, right: 0 }}&gt;&#10;    &lt;path d='M0 720 L640 720 L640 220 Z' fill='#1E4FA8' opacity='0.5' /&gt;&#10;    &lt;circle cx='520' cy='180' r='130' fill='#1E4FA8' opacity='0.45' /&gt;&#10;    &lt;circle cx='520' cy='180' r='70' fill='#FFC107' opacity='0.35' /&gt;&#10;    &lt;path d='M520 130 a58 58 0 0 1 58 58 h-26 a32 32 0 0 0 -32 -32 Z' fill='#FFFFFF' opacity='0.35' /&gt;&#10;    &lt;path d='M520 130 a58 58 0 0 0 -58 58 h26 a32 32 0 0 1 32 -32 Z' fill='#FFFFFF' opacity='0.2' /&gt;&#10;    &lt;rect x='330' y='560' width='240' height='8' rx='4' fill='#FFFFFF' opacity='0.15' /&gt;&#10;    &lt;rect x='330' y='590' width='170' height='8' rx='4' fill='#FFFFFF' opacity='0.12' /&gt;&#10;    &lt;rect x='330' y='620' width='280' height='8' rx='4' fill='#FFFFFF' opacity='0.15' /&gt;&#10;  &lt;/svg&gt;&#10;&#10;  &lt;Box style={{ width: '1280px', height: '720px', padding: '76px 40px 64px 64px', justifyContent: 'space-between', position: 'relative', zIndex: 2 }}&gt;&#10;    &lt;Box style={{ gap: 16 }}&gt;&#10;      &lt;Box style={{ flexDirection: 'row', alignItems: 'center', gap: 14 }}&gt;&#10;        &lt;Box style={{ width: 6, height: 26, background: '#FFC107' }} /&gt;&#10;        &lt;Text style={{ fontSize: 20, color: '#C9D9F2' }}&gt;第 7 课 · 小结&lt;/Text&gt;&#10;      &lt;/Box&gt;&#10;      &lt;Text style={{ fontSize: 58, color: '#FFFFFF', fontWeight: 'bold', lineHeight: 1.25 }}&gt;从能用，到敢用&lt;/Text&gt;&#10;    &lt;/Box&gt;&#10;&#10;    &lt;Box style={{ width: '520px', gap: 14 }}&gt;&#10;      &lt;Box style={{ height: 2, background: '#3D7BD9' }} /&gt;&#10;      &lt;Text style={{ fontSize: 26, color: '#C9D9F2', lineHeight: 1.5 }}&gt;下节课预告&lt;/Text&gt;&#10;      &lt;Text style={{ fontSize: 38, color: '#FFFFFF', fontWeight: 'bold', lineHeight: 1.3 }}&gt;第 8 课 测试与代码质量&lt;/Text&gt;&#10;      &lt;Text style={{ fontSize: 22, color: '#8FAED8', lineHeight: 1.5 }}&gt;审查报告是病历 · 测试是体检&lt;/Text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0" y="0"/>
            <a:ext cx="6096000" cy="6858000"/>
          </a:xfrm>
          <a:prstGeom prst="rect">
            <a:avLst/>
          </a:prstGeom>
          <a:ln/>
        </p:spPr>
      </p:pic>
      <p:sp>
        <p:nvSpPr>
          <p:cNvPr id="147" name=""/>
          <p:cNvSpPr/>
          <p:nvPr/>
        </p:nvSpPr>
        <p:spPr>
          <a:xfrm rot="0" flipH="0" flipV="0">
            <a:off x="609600" y="7239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00100" y="733425"/>
            <a:ext cx="115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7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1123950"/>
            <a:ext cx="11201400" cy="8286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从能用，到敢用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09600" y="3086100"/>
            <a:ext cx="4953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3238500"/>
            <a:ext cx="4953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C9D9F2"/>
                </a:solidFill>
                <a:latin typeface="Microsoft YaHei"/>
                <a:ea typeface="Microsoft YaHei"/>
              </a:rPr>
              <a:t>下节课预告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09600" y="3819525"/>
            <a:ext cx="4953000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8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测试与代码质量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4524375"/>
            <a:ext cx="4953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审查报告是病历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测试是体检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2000250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2200275" y="60388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3762375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3962400" y="60388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2026-09-07T00:23:47Z</dcterms:created>
  <dcterms:modified xsi:type="dcterms:W3CDTF">2026-09-07T00:23:47Z</dcterms:modified>
</cp:coreProperties>
</file>
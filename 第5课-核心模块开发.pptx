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tableStyles" Target="tableStyles.xml"/><Relationship Id="rId19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上节课立项完成，各组都拿到了自己的《功能点清单》和项目骨架。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从今天起连续三周，我们进入&amp;quot;硬核开发期&amp;quot;：这周开发你们选题的主线功能，下周做业务闭环，再下周做安全。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今天除了把主线功能做出来，我还要教你们这门课最重要的一招：对话式迭代。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今天这节课 90 分钟，分六段走。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先花十分钟回顾上节课的立项成果，然后我用五分钟讲切小步原则。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接着我用二十五分钟完整演示一遍主线功能的开发过程，再用五分钟讲报错三件套。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剩下四十分钟全部给你们分组实操，最后五分钟我做点评、布置作业。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很多同学用 AI 的姿势是：一个超长提示词甩过去，等着收成品。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结果往往是一坨跑不起来的代码，然后心态崩了。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记住这句话：一次只让 AI 做一件可验证的事。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大需求切成小步，每步都是生成、验证、提交，这是 vibe coding 唯一的正确姿势。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什么叫&amp;quot;一次只做一件可验证的事&amp;quot;？我举个例子。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你要做挂号，不要上来就说&amp;quot;给我做个挂号系统&amp;quot;。你应该先说&amp;quot;建排班号源表&amp;quot;，跑一下看看对不对，再往下走。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每一步都要过三关：能不能验证、坏了能不能回滚、提交信息说不说得清。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有一关过不了，就说明这一步切得还不够小。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为什么长提示词必然失败？因为需求越大，AI 需要同时满足的约束就越多，出错概率是指数上升的。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更要命的是，一旦出错，你根本定位不到是哪一步出了问题。三百行代码里找一个 bug，和三十行里找一个 bug，完全不是一个工作量。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所以判断一步切得好不好，就看三条：这一步能验证吗？做坏了能回滚吗？提交信息说得清做了什么吗？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开发中一定会遇到报错。你们用 AI 的方式决定效率，报错时记住&amp;quot;三件套&amp;quot;。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第一，贴报错原文。完整贴，不要截图，AI 读不了图，除非你在 IDE 里；也不要只说一句&amp;quot;它报错了&amp;quot;。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第二，用 @ 引用相关文件。比如&amp;quot;报错在 @backend/app/routers/registration.py&amp;quot;，让 AI 直接看代码。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第三，描述期望行为。比如&amp;quot;我希望挂号成功后号源减一，但现在没减&amp;quot;。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把这三样给 AI，它定位问题的速度会快十倍。反过来，只丢一句&amp;quot;有 bug&amp;quot;，它只能瞎猜。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我演示 A 路线挂号分系统的开发过程，分三步，你们注意看每一步之间的&amp;quot;验证动作&amp;quot;。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B 路线组对照着看：把&amp;quot;排班号源&amp;quot;换成&amp;quot;床位与入出转登记&amp;quot;，把&amp;quot;挂号单&amp;quot;换成&amp;quot;住院登记单&amp;quot;，事务逻辑完全一样。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三步走完，你们手上就有一个能真正跑通的主线功能。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第一步，排班与号源 API。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我的提示词是：为 @backend 添加排班号源模块，医生排班表包括医生、日期、时段、总号源数，提供查询某科室某日各医生剩余号源的 API，先给方案。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注意最后四个字&amp;quot;先给方案&amp;quot;。AI 出方案，我确认，它才动手写代码。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写完用 curl 调接口，看返回的 JSON 对不对，确认没问题再提交：feat 排班号源查询 API。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第二步，挂号 API，这是核心事务。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提示词是：新增挂号 API，患者选医生和时段，事务内完成两件事——扣减号源、生成挂号单含排队号；号源不足返回 409 错误，注意并发安全。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注意我主动提了&amp;quot;事务&amp;quot;&amp;quot;并发&amp;quot;这两个词，这是业务规则，AI 不会自己想到。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第三步是前端接入：选择科室、联动医生、显示剩余号源、点击挂号、展示排队号，最后在浏览器里完整点一遍。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现在各组开工。目标是按你们的《功能点清单》完成前 3 个功能点。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A 路线是号源列表、创建挂号、挂号记录；B 路线是床位查询、入院登记、在院列表。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按三步走，每步验证加提交。做完的组继续做第 4 个功能点。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我巡场时会随机问三个问题，答不上来的组要补课：你的号源扣减在哪一行？事务怎么用的？排队号怎么生成的？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这节课的最后一段，我把两件事一次说清：实操要做到什么程度，以及课后要交什么。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作业有两项，一项是代码，一项是文字。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文字那项每周都会有一篇，期末装订成册，是你们答辩的重要素材，别把它当成额外负担。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你们问得最多的有三个问题，我一起答。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第一，&amp;quot;AI 写的事务不对，怎么让它改？&amp;quot;用三件套：贴代码路径、描述问题、期望行为。比如&amp;quot;@文件，挂号接口没用事务，号源扣减和挂号单创建要原子操作，请用数据库事务改写&amp;quot;。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第二，&amp;quot;排班数据从哪来？&amp;quot;演示数据让 AI 生成脚本，给每个医生未来 7 天生成排班。注意用脚本生成，不要手敲。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第三，&amp;quot;我们组进度快，接下来干嘛？&amp;quot;扩展功能：取消挂号释放号源、号源不足时的友好提示、挂号单打印页面。做完继续预习第 6 课的药房业务。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请记住今天这句话：一次只让 AI 做一件可验证的事。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可验证，是拆分的最小单位。切到什么粒度算够？切到你验证得出来为止。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验证通过了才提交；没验证就提交，等于把问题攒到后面一起爆。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哪怕最后一步出了问题，我们回滚的代价也只是这一步。这就是小步迭代的价值。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作业两项。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第一，按功能点清单完成主线功能并提交，至少 3 个功能点。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第二，写 300 字《本组最难 bug 与 AI 修复实录》，写清四件事：bug 是什么、你怎么给 AI 描述、AI 怎么修的、你从中学到什么。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这个作业每周都有一篇，期末装订成你们的《AI 协作开发日志》，是答辩的重要素材。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otes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sz="1400" dirty="0">
                <a:solidFill>
                  <a:srgbClr val="1A2230"/>
                </a:solidFill>
              </a:rPr>
              <a:t>今天就到这里。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主线功能通了，你们的系统就有了骨架。下周我们把业务闭环打通，让数据真正跑起来。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下节课是第 6 课，药房与收费模块开发，走一条完整的链：处方、划价、收费、扣库存、发药。</a:t>
            </a:r>
          </a:p>
          <a:p>
            <a:r>
              <a:rPr lang="zh-CN" sz="1400" dirty="0">
                <a:solidFill>
                  <a:srgbClr val="1A2230"/>
                </a:solidFill>
              </a:rPr>
              <a:t>回去先把今天的 3 个功能点提交上去，别拖。下课。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2" Type="http://schemas.openxmlformats.org/officeDocument/2006/relationships/image" Target="media/image7.svg"/><Relationship Id="rId3" Type="http://schemas.openxmlformats.org/officeDocument/2006/relationships/image" Target="media/image8.sv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15.xml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" name="" descr="&lt;Slide&#10;  notes={`上节课立项完成，各组都拿到了自己的《功能点清单》和项目骨架。&#10;&#10;从今天起连续三周，我们进入&quot;硬核开发期&quot;：这周开发你们选题的主线功能，下周做业务闭环，再下周做安全。&#10;&#10;今天除了把主线功能做出来，我还要教你们这门课最重要的一招：对话式迭代。`}&#10;  style={{ width: '1280px', height: '720px', background: '#0E3F8C', padding: '0px', position: 'relative' }}&#10;&gt;&#10;  &lt;svg width={560} height={720} viewBox='0 0 560 720' style={{ position: 'absolute', top: 0, right: 0 }}&gt;&#10;    &lt;rect x='0' y='0' width='560' height='720' fill='#0E3F8C' /&gt;&#10;    &lt;path d='M120 0 L560 0 L560 720 L300 720 Z' fill='#1E4FA8' opacity='0.55' /&gt;&#10;&#10;    &lt;circle cx='380' cy='380' r='150' fill='none' stroke='#3D7BD9' strokeWidth='3' strokeDasharray='10 8' /&gt;&#10;    &lt;polygon points='0,-9 16,7 -16,7' fill='#FFC107' transform='translate(450 259) rotate(30)' /&gt;&#10;    &lt;polygon points='0,-9 16,7 -16,7' fill='#FFC107' transform='translate(450 501) rotate(150)' /&gt;&#10;    &lt;polygon points='0,-9 16,7 -16,7' fill='#FFC107' transform='translate(240 380) rotate(-90)' /&gt;&#10;&#10;    &lt;rect x='305' y='208' width='150' height='64' rx='8' fill='#FFFFFF' opacity='0.16' /&gt;&#10;    &lt;text x='380' y='248' text-anchor='middle' font-size='28' font-weight='bold' fill='#FFFFFF'&gt;生成&lt;/text&gt;&#10;&#10;    &lt;rect x='426' y='418' width='150' height='64' rx='8' fill='#FFFFFF' opacity='0.16' /&gt;&#10;    &lt;text x='501' y='458' text-anchor='middle' font-size='28' font-weight='bold' fill='#FFFFFF'&gt;验证&lt;/text&gt;&#10;&#10;    &lt;rect x='184' y='418' width='150' height='64' rx='8' fill='#FFC107' opacity='0.9' /&gt;&#10;    &lt;text x='259' y='458' text-anchor='middle' font-size='28' font-weight='bold' fill='#0E3F8C'&gt;提交&lt;/text&gt;&#10;&#10;    &lt;rect x='80' y='600' width='220' height='8' rx='4' fill='#FFFFFF' opacity='0.14' /&gt;&#10;    &lt;rect x='80' y='628' width='150' height='8' rx='4' fill='#FFFFFF' opacity='0.11' /&gt;&#10;    &lt;rect x='80' y='656' width='250' height='8' rx='4' fill='#FFFFFF' opacity='0.14' /&gt;&#10;  &lt;/svg&gt;&#10;&#10;  &lt;Box style={{ width: '1280px', height: '720px', padding: '64px 40px 56px 64px', justifyContent: 'space-between', position: 'relative', zIndex: 2 }}&gt;&#10;    &lt;Box style={{ flexDirection: 'row', alignItems: 'center', gap: 16 }}&gt;&#10;      &lt;Box style={{ width: 6, height: 26, background: '#FFC107' }} /&gt;&#10;      &lt;Text style={{ fontSize: 20, color: '#C9D9F2', fontWeight: 'bold' }}&gt;医院信息系统实验 · AI 智能体与 Vibe Coding 开发实践&lt;/Text&gt;&#10;    &lt;/Box&gt;&#10;&#10;    &lt;Box style={{ gap: 22 }}&gt;&#10;      &lt;Box style={{ flexDirection: 'row', alignItems: 'center', gap: 14 }}&gt;&#10;        &lt;Box style={{ background: '#FFC107', padding: '6px 16px', borderRadius: 4 }}&gt;&#10;          &lt;Text style={{ fontSize: 22, color: '#0E3F8C', fontWeight: 'bold' }}&gt;第 5 课&lt;/Text&gt;&#10;        &lt;/Box&gt;&#10;        &lt;Text style={{ fontSize: 22, color: '#9FBEE6' }}&gt;Core Module Development&lt;/Text&gt;&#10;      &lt;/Box&gt;&#10;      &lt;Text style={{ fontSize: 62, color: '#FFFFFF', fontWeight: 'bold', lineHeight: 1.2 }}&gt;核心模块开发&lt;/Text&gt;&#10;      &lt;Text style={{ fontSize: 30, color: '#C9D9F2', lineHeight: 1.4 }}&gt;对话式迭代实战 · 按选题路线推进&lt;/Text&gt;&#10;      &lt;Box style={{ width: 96, height: 5, background: '#FFC107' }} /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主讲教师&lt;/Text&gt;&#10;      &lt;Box style={{ width: 1, height: 20, background: '#4A6FA8' }} /&gt;&#10;      &lt;Text style={{ fontSize: 18, color: '#8FAED8' }}&gt;2026 年秋季学期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0" y="0"/>
            <a:ext cx="5334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609600" y="6096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819150" y="619125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· AI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智能体与</a:t>
            </a:r>
            <a:r>
              <a:rPr lang="en-US" sz="1500" b="1">
                <a:solidFill>
                  <a:srgbClr val="C9D9F2"/>
                </a:solidFill>
                <a:latin typeface="Microsoft YaHei"/>
                <a:ea typeface="Microsoft YaHei"/>
              </a:rPr>
              <a:t> Vibe Coding </a:t>
            </a:r>
            <a:r>
              <a:rPr lang="zh-CN" sz="1500" b="1">
                <a:solidFill>
                  <a:srgbClr val="C9D9F2"/>
                </a:solidFill>
                <a:latin typeface="Microsoft YaHei"/>
                <a:ea typeface="Microsoft YaHei"/>
              </a:rPr>
              <a:t>开发实践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609600" y="2295525"/>
            <a:ext cx="981075" cy="371475"/>
          </a:xfrm>
          <a:prstGeom prst="roundRect">
            <a:avLst>
              <a:gd name="adj" fmla="val 10256"/>
            </a:avLst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2352675"/>
            <a:ext cx="676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第</a:t>
            </a:r>
            <a:r>
              <a:rPr lang="en-US" sz="1650" b="1">
                <a:solidFill>
                  <a:srgbClr val="0E3F8C"/>
                </a:solidFill>
                <a:latin typeface="Microsoft YaHei"/>
                <a:ea typeface="Microsoft YaHei"/>
              </a:rPr>
              <a:t> 5 </a:t>
            </a:r>
            <a:r>
              <a:rPr lang="zh-CN" sz="1650" b="1">
                <a:solidFill>
                  <a:srgbClr val="0E3F8C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724025" y="2352675"/>
            <a:ext cx="2724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9FBEE6"/>
                </a:solidFill>
                <a:latin typeface="Microsoft YaHei"/>
                <a:ea typeface="Microsoft YaHei"/>
              </a:rPr>
              <a:t>Core Module Development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2876550"/>
            <a:ext cx="11201400" cy="8572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650" b="1">
                <a:solidFill>
                  <a:srgbClr val="FFFFFF"/>
                </a:solidFill>
                <a:latin typeface="Microsoft YaHei"/>
                <a:ea typeface="Microsoft YaHei"/>
              </a:rPr>
              <a:t>核心模块开发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3943350"/>
            <a:ext cx="11201400" cy="4857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对话式迭代实战</a:t>
            </a:r>
            <a:r>
              <a:rPr lang="en-US" sz="225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2250">
                <a:solidFill>
                  <a:srgbClr val="C9D9F2"/>
                </a:solidFill>
                <a:latin typeface="Microsoft YaHei"/>
                <a:ea typeface="Microsoft YaHei"/>
              </a:rPr>
              <a:t>按选题路线推进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09600" y="4638675"/>
            <a:ext cx="9144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61150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2000250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200275" y="6115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主讲教师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076575" y="61245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276600" y="611505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AED8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年秋季学期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6" name="" descr="&lt;Slide&#10;  notes={`今天这节课 90 分钟，分六段走。&#10;&#10;先花十分钟回顾上节课的立项成果，然后我用五分钟讲切小步原则。&#10;&#10;接着我用二十五分钟完整演示一遍主线功能的开发过程，再用五分钟讲报错三件套。&#10;&#10;剩下四十分钟全部给你们分组实操，最后五分钟我做点评、布置作业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节课路线图&lt;/Text&gt;&#10;    &lt;Text style={{ fontSize: 16, color: '#C9D9F2' }}&gt;医院信息系统实验 · 第 5 课&lt;/Text&gt;&#10;  &lt;/Box&gt;&#10;&#10;  &lt;Box style={{ width: '1280px', height: '552px', flexDirection: 'row', padding: '24px 40px 0px 40px', gap: 30 }}&gt;&#10;    &lt;Box style={{ width: '380px', height: '528px', background: '#0E3F8C', padding: '36px 32px', justifyContent: 'space-between' }}&gt;&#10;      &lt;Box style={{ gap: 10 }}&gt;&#10;        &lt;Text style={{ fontSize: 76, color: '#FFFFFF', fontWeight: 'bold', lineHeight: 1.1 }}&gt;目录&lt;/Text&gt;&#10;        &lt;Text style={{ fontSize: 18, color: '#7FA3D6', letterSpacing: 2 }}&gt;CONTENTS&lt;/Text&gt;&#10;      &lt;/Box&gt;&#10;      &lt;Box style={{ width: 64, height: 5, background: '#FFC107' }} /&gt;&#10;      &lt;Box style={{ gap: 10 }}&gt;&#10;        &lt;Text style={{ fontSize: 22, color: '#FFFFFF', fontWeight: 'bold', lineHeight: 1.6 }}&gt;90 分钟&lt;/Text&gt;&#10;        &lt;Text style={{ fontSize: 19, color: '#C9D9F2', lineHeight: 1.7 }}&gt;回顾 10 · 切小步 5 · 演示 25&lt;/Text&gt;&#10;        &lt;Text style={{ fontSize: 19, color: '#C9D9F2', lineHeight: 1.7 }}&gt;技巧 5 · 实操 40 · 点评 5&lt;/Text&gt;&#10;      &lt;/Box&gt;&#10;    &lt;/Box&gt;&#10;&#10;    &lt;Box style={{ width: '790px', height: '528px', gap: 18 }}&gt;&#10;      &lt;Box style={{ height: '164px', background: '#F7F9FC', border: '1px solid #D6DCE5', borderLeft: '6px solid #1E4FA8', padding: '22px 26px', gap: 8 }}&gt;&#10;        &lt;Box style={{ flexDirection: 'row', alignItems: 'center', gap: 14 }}&gt;&#10;          &lt;Box style={{ width: 40, height: 40, background: '#1E4FA8', alignItems: 'center', justifyContent: 'center' }}&gt;&#10;            &lt;Text style={{ fontSize: 20, color: '#FFFFFF', fontWeight: 'bold' }}&gt;01&lt;/Text&gt;&#10;          &lt;/Box&gt;&#10;          &lt;Text style={{ fontSize: 28, color: '#1A2230', fontWeight: 'bold' }}&gt;切小步原则&lt;/Text&gt;&#10;        &lt;/Box&gt;&#10;        &lt;Text style={{ fontSize: 22, color: '#4A5568', lineHeight: 1.45 }}&gt;一次只让 AI 做一件可验证的事：生成、验证、提交，三步一循环。&lt;/Text&gt;&#10;      &lt;/Box&gt;&#10;&#10;      &lt;Box style={{ height: '164px', background: '#F7F9FC', border: '1px solid #D6DCE5', borderLeft: '6px solid #3D7BD9', padding: '22px 26px', gap: 8 }}&gt;&#10;        &lt;Box style={{ flexDirection: 'row', alignItems: 'center', gap: 14 }}&gt;&#10;          &lt;Box style={{ width: 40, height: 40, background: '#3D7BD9', alignItems: 'center', justifyContent: 'center' }}&gt;&#10;            &lt;Text style={{ fontSize: 20, color: '#FFFFFF', fontWeight: 'bold' }}&gt;02&lt;/Text&gt;&#10;          &lt;/Box&gt;&#10;          &lt;Text style={{ fontSize: 28, color: '#1A2230', fontWeight: 'bold' }}&gt;主线功能三步走&lt;/Text&gt;&#10;        &lt;/Box&gt;&#10;        &lt;Text style={{ fontSize: 22, color: '#4A5568', lineHeight: 1.45 }}&gt;以 A 路线挂号分系统为例：排班号源 API → 挂号 API → 前端接入。&lt;/Text&gt;&#10;      &lt;/Box&gt;&#10;&#10;      &lt;Box style={{ height: '164px', background: '#F7F9FC', border: '1px solid #D6DCE5', borderLeft: '6px solid #0E3F8C', padding: '22px 26px', gap: 8 }}&gt;&#10;        &lt;Box style={{ flexDirection: 'row', alignItems: 'center', gap: 14 }}&gt;&#10;          &lt;Box style={{ width: 40, height: 40, background: '#0E3F8C', alignItems: 'center', justifyContent: 'center' }}&gt;&#10;            &lt;Text style={{ fontSize: 20, color: '#FFFFFF', fontWeight: 'bold' }}&gt;03&lt;/Text&gt;&#10;          &lt;/Box&gt;&#10;          &lt;Text style={{ fontSize: 28, color: '#1A2230', fontWeight: 'bold' }}&gt;实操与作业&lt;/Text&gt;&#10;        &lt;/Box&gt;&#10;        &lt;Text style={{ fontSize: 22, color: '#4A5568', lineHeight: 1.45 }}&gt;分组完成 3 个功能点 + 一篇 bug 实录，现场回答高频问题。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本节课路线图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381000" y="914400"/>
            <a:ext cx="36195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85800" y="1257300"/>
            <a:ext cx="3009900" cy="962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685800" y="2314575"/>
            <a:ext cx="3009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150">
                <a:solidFill>
                  <a:srgbClr val="7FA3D6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685800" y="3371850"/>
            <a:ext cx="6096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85800" y="4257675"/>
            <a:ext cx="3009900" cy="4095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90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85800" y="4762500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9D9F2"/>
                </a:solidFill>
                <a:latin typeface="Microsoft YaHei"/>
                <a:ea typeface="Microsoft YaHei"/>
              </a:rPr>
              <a:t>回顾</a:t>
            </a:r>
            <a:r>
              <a:rPr lang="en-US" sz="1425">
                <a:solidFill>
                  <a:srgbClr val="C9D9F2"/>
                </a:solidFill>
                <a:latin typeface="Microsoft YaHei"/>
                <a:ea typeface="Microsoft YaHei"/>
              </a:rPr>
              <a:t> 10 · </a:t>
            </a:r>
            <a:r>
              <a:rPr lang="zh-CN" sz="1425">
                <a:solidFill>
                  <a:srgbClr val="C9D9F2"/>
                </a:solidFill>
                <a:latin typeface="Microsoft YaHei"/>
                <a:ea typeface="Microsoft YaHei"/>
              </a:rPr>
              <a:t>切小步</a:t>
            </a:r>
            <a:r>
              <a:rPr lang="en-US" sz="1425">
                <a:solidFill>
                  <a:srgbClr val="C9D9F2"/>
                </a:solidFill>
                <a:latin typeface="Microsoft YaHei"/>
                <a:ea typeface="Microsoft YaHei"/>
              </a:rPr>
              <a:t> 5 · </a:t>
            </a:r>
            <a:r>
              <a:rPr lang="zh-CN" sz="1425">
                <a:solidFill>
                  <a:srgbClr val="C9D9F2"/>
                </a:solidFill>
                <a:latin typeface="Microsoft YaHei"/>
                <a:ea typeface="Microsoft YaHei"/>
              </a:rPr>
              <a:t>演示</a:t>
            </a:r>
            <a:r>
              <a:rPr lang="en-US" sz="1425">
                <a:solidFill>
                  <a:srgbClr val="C9D9F2"/>
                </a:solidFill>
                <a:latin typeface="Microsoft YaHei"/>
                <a:ea typeface="Microsoft YaHei"/>
              </a:rPr>
              <a:t> 25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85800" y="5229225"/>
            <a:ext cx="30099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9D9F2"/>
                </a:solidFill>
                <a:latin typeface="Microsoft YaHei"/>
                <a:ea typeface="Microsoft YaHei"/>
              </a:rPr>
              <a:t>技巧</a:t>
            </a:r>
            <a:r>
              <a:rPr lang="en-US" sz="1425">
                <a:solidFill>
                  <a:srgbClr val="C9D9F2"/>
                </a:solidFill>
                <a:latin typeface="Microsoft YaHei"/>
                <a:ea typeface="Microsoft YaHei"/>
              </a:rPr>
              <a:t> 5 · </a:t>
            </a:r>
            <a:r>
              <a:rPr lang="zh-CN" sz="1425">
                <a:solidFill>
                  <a:srgbClr val="C9D9F2"/>
                </a:solidFill>
                <a:latin typeface="Microsoft YaHei"/>
                <a:ea typeface="Microsoft YaHei"/>
              </a:rPr>
              <a:t>实操</a:t>
            </a:r>
            <a:r>
              <a:rPr lang="en-US" sz="1425">
                <a:solidFill>
                  <a:srgbClr val="C9D9F2"/>
                </a:solidFill>
                <a:latin typeface="Microsoft YaHei"/>
                <a:ea typeface="Microsoft YaHei"/>
              </a:rPr>
              <a:t> 40 · </a:t>
            </a:r>
            <a:r>
              <a:rPr lang="zh-CN" sz="1425">
                <a:solidFill>
                  <a:srgbClr val="C9D9F2"/>
                </a:solidFill>
                <a:latin typeface="Microsoft YaHei"/>
                <a:ea typeface="Microsoft YaHei"/>
              </a:rPr>
              <a:t>点评</a:t>
            </a:r>
            <a:r>
              <a:rPr lang="en-US" sz="1425">
                <a:solidFill>
                  <a:srgbClr val="C9D9F2"/>
                </a:solidFill>
                <a:latin typeface="Microsoft YaHei"/>
                <a:ea typeface="Microsoft YaHei"/>
              </a:rPr>
              <a:t> 5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4343400" y="9144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69" name=""/>
          <p:cNvSpPr/>
          <p:nvPr/>
        </p:nvSpPr>
        <p:spPr>
          <a:xfrm rot="0" flipH="0" flipV="0">
            <a:off x="4286250" y="9144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0" name=""/>
          <p:cNvSpPr/>
          <p:nvPr/>
        </p:nvSpPr>
        <p:spPr>
          <a:xfrm rot="0" flipH="0" flipV="0">
            <a:off x="4591050" y="1123950"/>
            <a:ext cx="381000" cy="381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667250" y="12001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5105400" y="11525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切小步原则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591050" y="158115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一次只让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做一件可验证的事：生成、验证、提交，三步一循环。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4343400" y="264795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75" name=""/>
          <p:cNvSpPr/>
          <p:nvPr/>
        </p:nvSpPr>
        <p:spPr>
          <a:xfrm rot="0" flipH="0" flipV="0">
            <a:off x="4286250" y="264795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4591050" y="2857500"/>
            <a:ext cx="381000" cy="38100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4667250" y="293370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105400" y="2886075"/>
            <a:ext cx="18669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主线功能三步走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591050" y="331470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路线挂号分系统为例：排班号源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API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挂号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API →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前端接入。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343400" y="4381500"/>
            <a:ext cx="7524750" cy="15621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4286250" y="4381500"/>
            <a:ext cx="7581900" cy="1562100"/>
          </a:xfrm>
          <a:custGeom>
            <a:pathLst>
              <a:path w="796" h="164">
                <a:moveTo>
                  <a:pt x="0" y="0"/>
                </a:moveTo>
                <a:lnTo>
                  <a:pt x="6" y="0"/>
                </a:lnTo>
                <a:lnTo>
                  <a:pt x="6" y="164"/>
                </a:lnTo>
                <a:lnTo>
                  <a:pt x="0" y="164"/>
                </a:lnTo>
                <a:close/>
              </a:path>
            </a:pathLst>
          </a:cu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4591050" y="4591050"/>
            <a:ext cx="381000" cy="381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667250" y="4667250"/>
            <a:ext cx="2381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5105400" y="4619625"/>
            <a:ext cx="13335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实操与作业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591050" y="5048250"/>
            <a:ext cx="6972300" cy="3714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分组完成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个功能点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一篇</a:t>
            </a:r>
            <a:r>
              <a:rPr lang="en-US" sz="1650">
                <a:solidFill>
                  <a:srgbClr val="4A5568"/>
                </a:solidFill>
                <a:latin typeface="Microsoft YaHei"/>
                <a:ea typeface="Microsoft YaHei"/>
              </a:rPr>
              <a:t> bug </a:t>
            </a:r>
            <a:r>
              <a:rPr lang="zh-CN" sz="1650">
                <a:solidFill>
                  <a:srgbClr val="4A5568"/>
                </a:solidFill>
                <a:latin typeface="Microsoft YaHei"/>
                <a:ea typeface="Microsoft YaHei"/>
              </a:rPr>
              <a:t>实录，现场回答高频问题。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88" name="" descr="&lt;Slide&#10;  notes={`很多同学用 AI 的姿势是：一个超长提示词甩过去，等着收成品。&#10;&#10;结果往往是一坨跑不起来的代码，然后心态崩了。&#10;&#10;记住这句话：一次只让 AI 做一件可验证的事。&#10;&#10;大需求切成小步，每步都是生成、验证、提交，这是 vibe coding 唯一的正确姿势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1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ITERATIVE DIALOGUE&lt;/Text&gt;&#10;        &lt;Text style={{ fontSize: 56, color: '#1A2230', fontWeight: 'bold', lineHeight: 1.25 }}&gt;对话式迭代&lt;/Text&gt;&#10;        &lt;Text style={{ fontSize: 26, color: '#4A5568', lineHeight: 1.5 }}&gt;这门课最重要的一招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一次只让 AI 做一件可验证的事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大需求切成小步，不要一次甩一个超长提示词&lt;/Text&gt;&#10;        &lt;/Box&gt;&#10;        &lt;Box style={{ flexDirection: 'row', alignItems: 'flex-start', gap: 14 }}&gt;&#10;          &lt;Box style={{ width: 10, height: 10, background: '#FFC107', marginTop: 12 }} /&gt;&#10;          &lt;Text style={{ fontSize: 23, color: '#1A2230', lineHeight: 1.5 }}&gt;每步都是：生成 → 验证 → 提交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ITERATIVE DIALOGUE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对话式迭代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这门课最重要的一招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196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29813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一次只让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做一件可验证的事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43815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大需求切成小步，不要一次甩一个超长提示词</a:t>
            </a:r>
            <a:endParaRPr/>
          </a:p>
        </p:txBody>
      </p:sp>
      <p:sp>
        <p:nvSpPr>
          <p:cNvPr id="200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311467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每步都是：生成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验证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02" name="" descr="&lt;Slide&#10;  notes={`什么叫&quot;一次只做一件可验证的事&quot;？我举个例子。&#10;&#10;你要做挂号，不要上来就说&quot;给我做个挂号系统&quot;。你应该先说&quot;建排班号源表&quot;，跑一下看看对不对，再往下走。&#10;&#10;每一步都要过三关：能不能验证、坏了能不能回滚、提交信息说不说得清。&#10;&#10;有一关过不了，就说明这一步切得还不够小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切小步原则 · 小步循环&lt;/Text&gt;&#10;    &lt;Text style={{ fontSize: 16, color: '#C9D9F2' }}&gt;医院信息系统实验 · 第 5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小步循环&lt;/Text&gt;&#10;      &lt;Text style={{ fontSize: 22, color: '#8B97A8' }}&gt;Generate · Verify · Commit&lt;/Text&gt;&#10;    &lt;/Box&gt;&#10;&#10;    &lt;Box style={{ height: '14px' }} /&gt;&#10;&#10;    &lt;svg width={1200} height={190} viewBox='0 0 1200 190'&gt;&#10;      &lt;rect x='90' y='36' width='220' height='68' rx='8' fill='#FFFFFF' stroke='#3D7BD9' strokeWidth='3' /&gt;&#10;      &lt;text x='200' y='66' text-anchor='middle' font-size='27' font-weight='bold' fill='#1A2230'&gt;生成&lt;/text&gt;&#10;      &lt;text x='200' y='92' text-anchor='middle' font-size='19' fill='#4A5568'&gt;AI 按提示词产出代码&lt;/text&gt;&#10;&#10;      &lt;path d='M316 70 L482 70' stroke='#1E4FA8' strokeWidth='3' /&gt;&#10;      &lt;polygon points='482,70 470,63 470,77' fill='#1E4FA8' /&gt;&#10;&#10;      &lt;rect x='490' y='36' width='220' height='68' rx='8' fill='#FFFFFF' stroke='#1E4FA8' strokeWidth='3' /&gt;&#10;      &lt;text x='600' y='66' text-anchor='middle' font-size='27' font-weight='bold' fill='#1A2230'&gt;验证&lt;/text&gt;&#10;      &lt;text x='600' y='92' text-anchor='middle' font-size='19' fill='#4A5568'&gt;跑起来，看结果对不对&lt;/text&gt;&#10;&#10;      &lt;path d='M716 70 L882 70' stroke='#1E4FA8' strokeWidth='3' /&gt;&#10;      &lt;polygon points='882,70 870,63 870,77' fill='#1E4FA8' /&gt;&#10;&#10;      &lt;rect x='890' y='36' width='220' height='68' rx='8' fill='#1E4FA8' /&gt;&#10;      &lt;text x='1000' y='66' text-anchor='middle' font-size='27' font-weight='bold' fill='#FFFFFF'&gt;提交&lt;/text&gt;&#10;      &lt;text x='1000' y='92' text-anchor='middle' font-size='19' fill='#C9D9F2'&gt;git commit 落一个可回退点&lt;/text&gt;&#10;&#10;      &lt;path d='M1000 106 L1000 148 Q1000 160 988 160 L212 160 Q200 160 200 148 L200 106' fill='none' stroke='#3D7BD9' strokeWidth='3' strokeDasharray='8 6' /&gt;&#10;      &lt;polygon points='200,106 193,120 207,120' fill='#3D7BD9' /&gt;&#10;      &lt;rect x='470' y='146' width='260' height='28' rx='4' fill='#FFFFFF' /&gt;&#10;      &lt;text x='600' y='165' text-anchor='middle' font-size='18' fill='#1E4FA8'&gt;不通过就不往下走，退回上一步重来&lt;/text&gt;&#10;    &lt;/svg&gt;&#10;&#10;    &lt;Box style={{ height: '16px' }} /&gt;&#10;&#10;    &lt;Box style={{ height: '206px', flexDirection: 'row', gap: 24 }}&gt;&#10;      &lt;Box style={{ flex: 1, background: '#F7F9FC', border: '1px solid #D6DCE5', borderTop: '4px solid #D9534F', padding: '20px 20px', gap: 10 }}&gt;&#10;        &lt;Text style={{ fontSize: 26, color: '#1A2230', fontWeight: 'bold' }}&gt;错误姿势&lt;/Text&gt;&#10;        &lt;Text style={{ fontSize: 21, color: '#4A5568', lineHeight: 1.5 }}&gt;&#10;          一个超长提示词甩过去，等着收成品。结果往往是&lt;span style={{ fontWeight: 'bold', color: '#D9534F' }}&gt;一坨跑不起来的代码&lt;/span&gt;，然后心态崩了。&#10;        &lt;/Text&gt;&#10;      &lt;/Box&gt;&#10;      &lt;Box style={{ flex: 1, background: '#F7F9FC', border: '1px solid #D6DCE5', borderTop: '4px solid #1E4FA8', padding: '20px 20px', gap: 10 }}&gt;&#10;        &lt;Text style={{ fontSize: 26, color: '#1A2230', fontWeight: 'bold' }}&gt;正确姿势&lt;/Text&gt;&#10;        &lt;Text style={{ fontSize: 21, color: '#4A5568', lineHeight: 1.5 }}&gt;&#10;          每一步都&lt;span style={{ fontWeight: 'bold', color: '#1E4FA8' }}&gt;可以验证&lt;/span&gt;：跑得起来、结果看得见、对不对你说得清。&#10;        &lt;/Text&gt;&#10;      &lt;/Box&gt;&#10;      &lt;Box style={{ flex: 1, background: '#E8EFF8', border: '1px solid #3D7BD9', borderTop: '4px solid #FFC107', padding: '20px 20px', gap: 10 }}&gt;&#10;        &lt;Text style={{ fontSize: 26, color: '#1A2230', fontWeight: 'bold' }}&gt;代价对比&lt;/Text&gt;&#10;        &lt;Text style={{ fontSize: 21, color: '#4A5568', lineHeight: 1.5 }}&gt;&#10;          哪怕最后一步出问题，&lt;span style={{ fontWeight: 'bold', color: '#1A2230' }}&gt;回滚的代价也只有&quot;这一步&quot;&lt;/span&gt;。&#10;        &lt;/Text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小步迭代的本质：把不可控的大风险，切成可控的小风险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切小步原则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小步循环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小步循环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2076450" y="1019175"/>
            <a:ext cx="2638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Generate · Verify · Commit</a:t>
            </a:r>
            <a:endParaRPr/>
          </a:p>
        </p:txBody>
      </p:sp>
      <p:pic>
        <p:nvPicPr>
          <p:cNvPr id="2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809750"/>
          </a:xfrm>
          <a:prstGeom prst="rect">
            <a:avLst/>
          </a:prstGeom>
          <a:ln/>
        </p:spPr>
      </p:pic>
      <p:sp>
        <p:nvSpPr>
          <p:cNvPr id="211" name=""/>
          <p:cNvSpPr/>
          <p:nvPr/>
        </p:nvSpPr>
        <p:spPr>
          <a:xfrm rot="0" flipH="0" flipV="0">
            <a:off x="381000" y="3505200"/>
            <a:ext cx="3657600" cy="1962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2" name=""/>
          <p:cNvSpPr/>
          <p:nvPr/>
        </p:nvSpPr>
        <p:spPr>
          <a:xfrm rot="0" flipH="0" flipV="0">
            <a:off x="381000" y="3467100"/>
            <a:ext cx="3657600" cy="2000250"/>
          </a:xfrm>
          <a:custGeom>
            <a:pathLst>
              <a:path w="384" h="210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5715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错误姿势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571500" y="4095750"/>
            <a:ext cx="32766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一个超长提示词甩过去，等着收成品。结果往往是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一坨跑不起来的代码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，然后心态崩了。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4267200" y="3505200"/>
            <a:ext cx="3657600" cy="19621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16" name=""/>
          <p:cNvSpPr/>
          <p:nvPr/>
        </p:nvSpPr>
        <p:spPr>
          <a:xfrm rot="0" flipH="0" flipV="0">
            <a:off x="4267200" y="3467100"/>
            <a:ext cx="3657600" cy="2000250"/>
          </a:xfrm>
          <a:custGeom>
            <a:pathLst>
              <a:path w="384" h="210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4577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正确姿势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457700" y="40957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每一步都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可以验证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：跑得起来、结果看得见、对不对你说得清。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8153400" y="3505200"/>
            <a:ext cx="3657600" cy="196215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8153400" y="3467100"/>
            <a:ext cx="3657600" cy="2000250"/>
          </a:xfrm>
          <a:custGeom>
            <a:pathLst>
              <a:path w="384" h="210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343900" y="3695700"/>
            <a:ext cx="32766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代价对比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343900" y="4095750"/>
            <a:ext cx="32766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哪怕最后一步出问题，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回滚的代价也只有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这一步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381000" y="55435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571500" y="57340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742950" y="5638800"/>
            <a:ext cx="5238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小步迭代的本质：把不可控的大风险，切成可控的小风险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28" name="" descr="&lt;Slide&#10;  notes={`为什么长提示词必然失败？因为需求越大，AI 需要同时满足的约束就越多，出错概率是指数上升的。&#10;&#10;更要命的是，一旦出错，你根本定位不到是哪一步出了问题。三百行代码里找一个 bug，和三十行里找一个 bug，完全不是一个工作量。&#10;&#10;所以判断一步切得好不好，就看三条：这一步能验证吗？做坏了能回滚吗？提交信息说得清做了什么吗？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1 切小步原则 · 为什么长提示词会失败&lt;/Text&gt;&#10;    &lt;Text style={{ fontSize: 16, color: '#C9D9F2' }}&gt;医院信息系统实验 · 第 5 课&lt;/Text&gt;&#10;  &lt;/Box&gt;&#10;&#10;  &lt;Box style={{ width: '1280px', height: '552px', flexDirection: 'row', padding: '24px 40px 0px 40px', gap: 20 }}&gt;&#10;    &lt;Box style={{ width: '780px', height: '528px', background: '#F7F9FC', border: '1px solid #D6DCE5', borderTop: '6px solid #D9534F', padding: '26px 28px', justifyContent: 'space-between' }}&gt;&#10;      &lt;Box style={{ gap: 14 }}&gt;&#10;        &lt;Text style={{ fontSize: 17, color: '#D9534F', letterSpacing: 2, fontWeight: 'bold' }}&gt;WHY LONG PROMPTS FAIL&lt;/Text&gt;&#10;        &lt;Text style={{ fontSize: 36, color: '#1A2230', fontWeight: 'bold', lineHeight: 1.25 }}&gt;为什么长提示词会失败&lt;/Text&gt;&#10;        &lt;Box style={{ width: 90, height: 5, background: '#D9534F' }} /&gt;&#10;        &lt;Text style={{ fontSize: 23, color: '#4A5568', lineHeight: 1.6 }}&gt;&#10;          需求越大，AI 需要&lt;span style={{ fontWeight: 'bold', color: '#D9534F' }}&gt;同时满足的约束就越多&lt;/span&gt;，出错概率&lt;span style={{ fontWeight: 'bold', color: '#D9534F' }}&gt;指数上升&lt;/span&gt;。&#10;        &lt;/Text&gt;&#10;      &lt;/Box&gt;&#10;&#10;      &lt;Box style={{ gap: 14 }}&gt;&#10;        &lt;Box style={{ background: '#FFFFFF', border: '1px solid #D6DCE5', borderLeft: '5px solid #3D7BD9', padding: '16px 20px', gap: 6 }}&gt;&#10;          &lt;Text style={{ fontSize: 24, color: '#1A2230', fontWeight: 'bold' }}&gt;约束叠加&lt;/Text&gt;&#10;          &lt;Text style={{ fontSize: 21, color: '#4A5568', lineHeight: 1.5 }}&gt;&#10;            表结构、接口、事务、并发、前端样式挤在一个提示词里，AI 只能逐条猜，猜错一条全盘皆错。&#10;          &lt;/Text&gt;&#10;        &lt;/Box&gt;&#10;        &lt;Box style={{ background: '#FFFFFF', border: '1px solid #D6DCE5', borderLeft: '5px solid #D9534F', padding: '16px 20px', gap: 6 }}&gt;&#10;          &lt;Text style={{ fontSize: 24, color: '#1A2230', fontWeight: 'bold' }}&gt;无法定位&lt;/Text&gt;&#10;          &lt;Text style={{ fontSize: 21, color: '#4A5568', lineHeight: 1.5 }}&gt;&#10;            出错以后，你&lt;span style={{ fontWeight: 'bold', color: '#D9534F' }}&gt;定位不到具体是哪一步错了&lt;/span&gt;。几百行代码里找 bug，等于重新做一遍。&#10;          &lt;/Text&gt;&#10;        &lt;/Box&gt;&#10;      &lt;/Box&gt;&#10;&#10;      &lt;Box style={{ background: '#FDECEA', padding: '14px 20px' }}&gt;&#10;        &lt;Text style={{ fontSize: 21, color: '#D9534F', fontWeight: 'bold' }}&gt;结论：不是 AI 不够强，是你一次给它的自由度太大&lt;/Text&gt;&#10;      &lt;/Box&gt;&#10;    &lt;/Box&gt;&#10;&#10;    &lt;Box style={{ width: '400px', height: '528px', background: '#E8EFF8', border: '1px solid #3D7BD9', padding: '20px 22px', justifyContent: 'space-between' }}&gt;&#10;      &lt;Box style={{ gap: 12 }}&gt;&#10;        &lt;Text style={{ fontSize: 17, color: '#1E4FA8', letterSpacing: 2, fontWeight: 'bold' }}&gt;THREE CHECKS&lt;/Text&gt;&#10;        &lt;Text style={{ fontSize: 30, color: '#1A2230', fontWeight: 'bold', lineHeight: 1.3 }}&gt;小步迭代的&lt;br /&gt;三条判断标准&lt;/Text&gt;&#10;        &lt;Box style={{ width: 80, height: 5, background: '#1E4FA8' }} /&gt;&#10;      &lt;/Box&gt;&#10;&#10;      &lt;Box style={{ gap: 8 }}&gt;&#10;        &lt;Box style={{ background: '#FFFFFF', border: '1px solid #D6DCE5', padding: '14px 18px', gap: 6 }}&gt;&#10;          &lt;Text style={{ fontSize: 22, color: '#1E4FA8', fontWeight: 'bold' }}&gt;01 能验证吗？&lt;/Text&gt;&#10;          &lt;Text style={{ fontSize: 20, color: '#4A5568', lineHeight: 1.45 }}&gt;跑一遍就知道对不对，说不清就算没切小。&lt;/Text&gt;&#10;        &lt;/Box&gt;&#10;        &lt;Box style={{ background: '#FFFFFF', border: '1px solid #D6DCE5', padding: '16px 18px', gap: 6 }}&gt;&#10;          &lt;Text style={{ fontSize: 22, color: '#1E4FA8', fontWeight: 'bold' }}&gt;02 能回滚吗？&lt;/Text&gt;&#10;          &lt;Text style={{ fontSize: 20, color: '#4A5568', lineHeight: 1.45 }}&gt;做坏了能退回上一个提交点，而不是推倒重来。&lt;/Text&gt;&#10;        &lt;/Box&gt;&#10;        &lt;Box style={{ background: '#FFFFFF', border: '1px solid #D6DCE5', padding: '16px 18px', gap: 6 }}&gt;&#10;          &lt;Text style={{ fontSize: 22, color: '#1E4FA8', fontWeight: 'bold' }}&gt;03 说得清吗？&lt;/Text&gt;&#10;          &lt;Text style={{ fontSize: 20, color: '#4A5568', lineHeight: 1.45 }}&gt;提交信息能写清这一步做了什么，就说明切对了。&lt;/Text&gt;&#10;        &lt;/Box&gt;&#10;      &lt;/Box&gt;&#10;&#10;      &lt;Text style={{ fontSize: 19, color: '#4A5568', lineHeight: 1.5 }}&gt;&#10;        三条里有一条答不上来，就再切一刀。&#10;      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0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35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01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切小步原则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为什么长提示词会失败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381000" y="971550"/>
            <a:ext cx="7429500" cy="49720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381000" y="914400"/>
            <a:ext cx="7429500" cy="5029200"/>
          </a:xfrm>
          <a:custGeom>
            <a:pathLst>
              <a:path w="780" h="528">
                <a:moveTo>
                  <a:pt x="0" y="0"/>
                </a:moveTo>
                <a:lnTo>
                  <a:pt x="780" y="0"/>
                </a:lnTo>
                <a:lnTo>
                  <a:pt x="780" y="6"/>
                </a:lnTo>
                <a:lnTo>
                  <a:pt x="0" y="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647700" y="1219200"/>
            <a:ext cx="6896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D9534F"/>
                </a:solidFill>
                <a:latin typeface="Microsoft YaHei"/>
                <a:ea typeface="Microsoft YaHei"/>
              </a:rPr>
              <a:t>WHY LONG PROMPTS FAIL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47700" y="1552575"/>
            <a:ext cx="6896100" cy="514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为什么长提示词会失败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47700" y="2200275"/>
            <a:ext cx="857250" cy="47625"/>
          </a:xfrm>
          <a:prstGeom prst="rect">
            <a:avLst/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47700" y="2381250"/>
            <a:ext cx="6896100" cy="4286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需求越大，</a:t>
            </a:r>
            <a:r>
              <a:rPr lang="en-US" sz="172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需要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同时满足的约束就越多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，出错概率</a:t>
            </a:r>
            <a:r>
              <a:rPr lang="zh-CN" sz="1725" b="1">
                <a:solidFill>
                  <a:srgbClr val="D9534F"/>
                </a:solidFill>
                <a:latin typeface="Microsoft YaHei"/>
                <a:ea typeface="Microsoft YaHei"/>
              </a:rPr>
              <a:t>指数上升</a:t>
            </a:r>
            <a:r>
              <a:rPr lang="zh-CN" sz="172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95325" y="2809875"/>
            <a:ext cx="6896100" cy="13620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0" name=""/>
          <p:cNvSpPr/>
          <p:nvPr/>
        </p:nvSpPr>
        <p:spPr>
          <a:xfrm rot="0" flipH="0" flipV="0">
            <a:off x="647700" y="2809875"/>
            <a:ext cx="6943725" cy="1362075"/>
          </a:xfrm>
          <a:custGeom>
            <a:pathLst>
              <a:path w="729" h="143">
                <a:moveTo>
                  <a:pt x="0" y="0"/>
                </a:moveTo>
                <a:lnTo>
                  <a:pt x="5" y="0"/>
                </a:lnTo>
                <a:lnTo>
                  <a:pt x="5" y="143"/>
                </a:lnTo>
                <a:lnTo>
                  <a:pt x="0" y="143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885825" y="2962275"/>
            <a:ext cx="6467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约束叠加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85825" y="3295650"/>
            <a:ext cx="646747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表结构、接口、事务、并发、前端样式挤在一个提示词里，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只能逐条猜，猜错一条全盘皆错。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95325" y="4305300"/>
            <a:ext cx="6896100" cy="13620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647700" y="4305300"/>
            <a:ext cx="6943725" cy="1362075"/>
          </a:xfrm>
          <a:custGeom>
            <a:pathLst>
              <a:path w="729" h="143">
                <a:moveTo>
                  <a:pt x="0" y="0"/>
                </a:moveTo>
                <a:lnTo>
                  <a:pt x="5" y="0"/>
                </a:lnTo>
                <a:lnTo>
                  <a:pt x="5" y="143"/>
                </a:lnTo>
                <a:lnTo>
                  <a:pt x="0" y="143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85825" y="4457700"/>
            <a:ext cx="64674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无法定位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885825" y="4791075"/>
            <a:ext cx="6467475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出错以后，你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定位不到具体是哪一步错了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。几百行代码里找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bug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，等于重新做一遍。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647700" y="5667375"/>
            <a:ext cx="6896100" cy="51435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838200" y="5800725"/>
            <a:ext cx="6515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结论：不是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不够强，是你一次给它的自由度太大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8001000" y="914400"/>
            <a:ext cx="38100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3D7BD9"/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8210550" y="1104900"/>
            <a:ext cx="3390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 spc="150">
                <a:solidFill>
                  <a:srgbClr val="1E4FA8"/>
                </a:solidFill>
                <a:latin typeface="Microsoft YaHei"/>
                <a:ea typeface="Microsoft YaHei"/>
              </a:rPr>
              <a:t>THREE CHECKS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210550" y="1419225"/>
            <a:ext cx="3390900" cy="895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小步迭代的</a:t>
            </a:r>
            <a:endParaRPr/>
          </a:p>
          <a:p>
            <a:pPr>
              <a:lnSpc>
                <a:spcPct val="130000"/>
              </a:lnSpc>
            </a:pPr>
            <a:r>
              <a:rPr lang="zh-CN" sz="2250" b="1">
                <a:solidFill>
                  <a:srgbClr val="1A2230"/>
                </a:solidFill>
                <a:latin typeface="Microsoft YaHei"/>
                <a:ea typeface="Microsoft YaHei"/>
              </a:rPr>
              <a:t>三条判断标准</a:t>
            </a:r>
            <a:endParaRPr/>
          </a:p>
        </p:txBody>
      </p:sp>
      <p:sp>
        <p:nvSpPr>
          <p:cNvPr id="252" name=""/>
          <p:cNvSpPr/>
          <p:nvPr/>
        </p:nvSpPr>
        <p:spPr>
          <a:xfrm rot="0" flipH="0" flipV="0">
            <a:off x="8210550" y="2428875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8210550" y="2476500"/>
            <a:ext cx="3390900" cy="12477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8382000" y="26098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01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能验证吗？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8382000" y="2924175"/>
            <a:ext cx="3048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跑一遍就知道对不对，说不清就算没切小。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8210550" y="3800475"/>
            <a:ext cx="33909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8382000" y="3952875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02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能回滚吗？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8382000" y="4267200"/>
            <a:ext cx="3048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做坏了能退回上一个提交点，而不是推倒重来。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8210550" y="5162550"/>
            <a:ext cx="3390900" cy="128587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0" y="53149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E4FA8"/>
                </a:solidFill>
                <a:latin typeface="Microsoft YaHei"/>
                <a:ea typeface="Microsoft YaHei"/>
              </a:rPr>
              <a:t>03 </a:t>
            </a: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说得清吗？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0" y="5629275"/>
            <a:ext cx="3048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提交信息能写清这一步做了什么，就说明切对了。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8210550" y="6448425"/>
            <a:ext cx="339090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4A5568"/>
                </a:solidFill>
                <a:latin typeface="Microsoft YaHei"/>
                <a:ea typeface="Microsoft YaHei"/>
              </a:rPr>
              <a:t>三条里有一条答不上来，就再切一刀。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265" name="" descr="&lt;Slide&#10;  notes={`开发中一定会遇到报错。你们用 AI 的方式决定效率，报错时记住&quot;三件套&quot;。&#10;&#10;第一，贴报错原文。完整贴，不要截图，AI 读不了图，除非你在 IDE 里；也不要只说一句&quot;它报错了&quot;。&#10;&#10;第二，用 @ 引用相关文件。比如&quot;报错在 @backend/app/routers/registration.py&quot;，让 AI 直接看代码。&#10;&#10;第三，描述期望行为。比如&quot;我希望挂号成功后号源减一，但现在没减&quot;。&#10;&#10;把这三样给 AI，它定位问题的速度会快十倍。反过来，只丢一句&quot;有 bug&quot;，它只能瞎猜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关键技巧 · 报错三件套&lt;/Text&gt;&#10;    &lt;Text style={{ fontSize: 16, color: '#C9D9F2' }}&gt;医院信息系统实验 · 第 5 课&lt;/Text&gt;&#10;  &lt;/Box&gt;&#10;&#10;  &lt;Box style={{ width: '1280px', height: '552px', padding: '24px 40px 0px 40px' }}&gt;&#10;    &lt;Box style={{ height: '396px', flexDirection: 'row', gap: 24 }}&gt;&#10;      &lt;Box style={{ flex: 1, background: '#FFFFFF', border: '1px solid #D6DCE5', borderTop: '6px solid #D9534F', padding: '22px 22px', justifyContent: 'space-between' }}&gt;&#10;        &lt;Box style={{ gap: 12 }}&gt;&#10;          &lt;Text style={{ fontSize: 44, color: '#D9534F', fontWeight: 'bold', lineHeight: 1 }}&gt;01&lt;/Text&gt;&#10;          &lt;svg width={64} height={64} viewBox='0 0 64 64'&gt;&#10;            &lt;rect x='6' y='4' width='52' height='42' rx='5' fill='#FDECEA' stroke='#D9534F' strokeWidth='3' /&gt;&#10;            &lt;path d='M15 18 L24 26 L15 34' fill='none' stroke='#D9534F' strokeWidth='3' strokeLinecap='round' strokeLinejoin='round' /&gt;&#10;            &lt;line x1='30' y1='36' x2='46' y2='36' stroke='#D9534F' strokeWidth='3' strokeLinecap='round' /&gt;&#10;            &lt;circle cx='50' cy='53' r='11' fill='#D9534F' /&gt;&#10;            &lt;text x='50' y='54' text-anchor='middle' dominant-baseline='central' font-size='17' font-weight='bold' fill='#FFFFFF'&gt;!&lt;/text&gt;&#10;          &lt;/svg&gt;&#10;          &lt;Text style={{ fontSize: 26, color: '#1A2230', fontWeight: 'bold', lineHeight: 1.3 }}&gt;贴报错原文&lt;/Text&gt;&#10;          &lt;Text style={{ fontSize: 21, color: '#4A5568', lineHeight: 1.5 }}&gt;&#10;            完整贴，&lt;span style={{ fontWeight: 'bold', color: '#D9534F' }}&gt;不要截图&lt;/span&gt;——AI 读不了图，除非你在 IDE 里；也不要只说一句&quot;它报错了&quot;。&#10;          &lt;/Text&gt;&#10;        &lt;/Box&gt;&#10;        &lt;Box style={{ background: '#FDECEA', padding: '10px 14px' }}&gt;&#10;          &lt;Text style={{ fontSize: 20, color: '#D9534F', fontWeight: 'bold' }}&gt;原文 &amp;gt; 截图 &amp;gt; 一句&quot;报错了&quot;&lt;/Text&gt;&#10;        &lt;/Box&gt;&#10;      &lt;/Box&gt;&#10;&#10;      &lt;Box style={{ flex: 1, background: '#FFFFFF', border: '1px solid #D6DCE5', borderTop: '6px solid #3D7BD9', padding: '22px 22px', justifyContent: 'space-between' }}&gt;&#10;        &lt;Box style={{ gap: 12 }}&gt;&#10;          &lt;Text style={{ fontSize: 44, color: '#3D7BD9', fontWeight: 'bold', lineHeight: 1 }}&gt;02&lt;/Text&gt;&#10;          &lt;svg width={64} height={64} viewBox='0 0 64 64'&gt;&#10;            &lt;path d='M14 4 L38 4 L50 16 L50 60 L14 60 Z' fill='#E8EFF8' stroke='#1E4FA8' strokeWidth='3' strokeLinejoin='round' /&gt;&#10;            &lt;path d='M38 4 L38 16 L50 16' fill='none' stroke='#1E4FA8' strokeWidth='3' strokeLinejoin='round' /&gt;&#10;            &lt;text x='32' y='42' text-anchor='middle' dominant-baseline='central' font-size='27' font-weight='bold' fill='#1E4FA8'&gt;@&lt;/text&gt;&#10;          &lt;/svg&gt;&#10;          &lt;Text style={{ fontSize: 26, color: '#1A2230', fontWeight: 'bold', lineHeight: 1.3 }}&gt;@ 引用相关文件&lt;/Text&gt;&#10;          &lt;Text style={{ fontSize: 21, color: '#4A5568', lineHeight: 1.5 }}&gt;&#10;            说&quot;报错在 &lt;span style={{ fontWeight: 'bold', color: '#1E4FA8' }}&gt;@backend/app/routers/registration.py&lt;/span&gt;&quot;，让 AI 直接看代码。&#10;          &lt;/Text&gt;&#10;        &lt;/Box&gt;&#10;        &lt;Box style={{ background: '#E8EFF8', padding: '10px 14px' }}&gt;&#10;          &lt;Text style={{ fontSize: 20, color: '#1E4FA8', fontWeight: 'bold' }}&gt;给路径，AI 才看得到代码&lt;/Text&gt;&#10;        &lt;/Box&gt;&#10;      &lt;/Box&gt;&#10;&#10;      &lt;Box style={{ flex: 1, background: '#FFFFFF', border: '1px solid #D6DCE5', borderTop: '6px solid #1E4FA8', padding: '22px 22px', justifyContent: 'space-between' }}&gt;&#10;        &lt;Box style={{ gap: 12 }}&gt;&#10;          &lt;Text style={{ fontSize: 44, color: '#1E4FA8', fontWeight: 'bold', lineHeight: 1 }}&gt;03&lt;/Text&gt;&#10;          &lt;svg width={64} height={64} viewBox='0 0 64 64'&gt;&#10;            &lt;circle cx='32' cy='32' r='25' fill='#E8EFF8' stroke='#1E4FA8' strokeWidth='3' /&gt;&#10;            &lt;circle cx='32' cy='32' r='15' fill='none' stroke='#3D7BD9' strokeWidth='3' /&gt;&#10;            &lt;circle cx='32' cy='32' r='5' fill='#1E4FA8' /&gt;&#10;          &lt;/svg&gt;&#10;          &lt;Text style={{ fontSize: 26, color: '#1A2230', fontWeight: 'bold', lineHeight: 1.3 }}&gt;描述期望行为&lt;/Text&gt;&#10;          &lt;Text style={{ fontSize: 21, color: '#4A5568', lineHeight: 1.5 }}&gt;&#10;            &quot;我希望&lt;span style={{ fontWeight: 'bold', color: '#1E4FA8' }}&gt;挂号成功后号源减一&lt;/span&gt;，但现在没减。&quot;不说期望，AI 不知道什么算错。&#10;          &lt;/Text&gt;&#10;        &lt;/Box&gt;&#10;        &lt;Box style={{ background: '#E8EFF8', padding: '10px 14px' }}&gt;&#10;          &lt;Text style={{ fontSize: 20, color: '#1E4FA8', fontWeight: 'bold' }}&gt;说清&quot;应该是什么样&quot;&lt;/Text&gt;&#10;        &lt;/Box&gt;&#10;      &lt;/Box&gt;&#10;    &lt;/Box&gt;&#10;&#10;    &lt;Box style={{ height: '10px' }} /&gt;&#10;&#10;    &lt;Box style={{ height: '60px', background: '#FFF8E1', border: '1px solid #FFC107', flexDirection: 'row', alignItems: 'center', padding: '0px 20px', gap: 14 }}&gt;&#10;      &lt;Box style={{ width: 34, height: 34, background: '#FFC107', alignItems: 'center', justifyContent: 'center' }}&gt;&#10;        &lt;Text style={{ fontSize: 18, color: '#0E3F8C', fontWeight: 'bold' }}&gt;+&lt;/Text&gt;&#10;      &lt;/Box&gt;&#10;      &lt;Text style={{ fontSize: 21, color: '#4A5568', lineHeight: 1.4 }}&gt;&#10;        还有一个习惯：&lt;span style={{ fontWeight: 'bold', color: '#1A2230' }}&gt;让 AI 解释它写的代码&lt;/span&gt;——&quot;逐行解释你刚写的挂号事务逻辑&quot;，既是帮你理解，也是逼它检查自己。&#10;      &lt;/Text&gt;&#10;    &lt;/Box&gt;&#10;&#10;    &lt;Box style={{ height: '10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三件套给全，AI 定位快十倍；只丢一句&quot;有 bug&quot;，它只能瞎猜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6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7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95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本课关键技巧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报错三件套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381000" y="971550"/>
            <a:ext cx="3657600" cy="382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381000" y="914400"/>
            <a:ext cx="3657600" cy="3886200"/>
          </a:xfrm>
          <a:custGeom>
            <a:pathLst>
              <a:path w="384" h="408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90550" y="1181100"/>
            <a:ext cx="3238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D9534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pic>
        <p:nvPicPr>
          <p:cNvPr id="2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90550" y="1800225"/>
            <a:ext cx="609600" cy="609600"/>
          </a:xfrm>
          <a:prstGeom prst="rect">
            <a:avLst/>
          </a:prstGeom>
          <a:ln/>
        </p:spPr>
      </p:pic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90550" y="2524125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贴报错原文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590550" y="3028950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完整贴，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不要截图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——AI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读不了图，除非你在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IDE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里；也不要只说一句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它报错了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590550" y="4114800"/>
            <a:ext cx="3238500" cy="419100"/>
          </a:xfrm>
          <a:prstGeom prst="rect">
            <a:avLst/>
          </a:prstGeom>
          <a:solidFill>
            <a:srgbClr val="FDECEA"/>
          </a:solidFill>
          <a:ln/>
        </p:spPr>
        <p:txBody>
          <a:bodyPr/>
          <a:p/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723900" y="42100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原文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 &gt; 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截图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 &gt; 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一句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D9534F"/>
                </a:solidFill>
                <a:latin typeface="Microsoft YaHei"/>
                <a:ea typeface="Microsoft YaHei"/>
              </a:rPr>
              <a:t>报错了</a:t>
            </a:r>
            <a:r>
              <a:rPr lang="en-US" sz="1500" b="1">
                <a:solidFill>
                  <a:srgbClr val="D9534F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4267200" y="971550"/>
            <a:ext cx="3657600" cy="382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4267200" y="914400"/>
            <a:ext cx="3657600" cy="3886200"/>
          </a:xfrm>
          <a:custGeom>
            <a:pathLst>
              <a:path w="384" h="408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4476750" y="1181100"/>
            <a:ext cx="3238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3D7BD9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pic>
        <p:nvPicPr>
          <p:cNvPr id="28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476750" y="1800225"/>
            <a:ext cx="609600" cy="609600"/>
          </a:xfrm>
          <a:prstGeom prst="rect">
            <a:avLst/>
          </a:prstGeom>
          <a:ln/>
        </p:spPr>
      </p:pic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4476750" y="2524125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@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引用相关文件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4476750" y="3028950"/>
            <a:ext cx="4219575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说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报错在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@backend/app/routers/registration.py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，让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直接看代码。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4476750" y="411480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610100" y="42100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给路径，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才看得到代码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8153400" y="971550"/>
            <a:ext cx="3657600" cy="382905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7" name=""/>
          <p:cNvSpPr/>
          <p:nvPr/>
        </p:nvSpPr>
        <p:spPr>
          <a:xfrm rot="0" flipH="0" flipV="0">
            <a:off x="8153400" y="914400"/>
            <a:ext cx="3657600" cy="3886200"/>
          </a:xfrm>
          <a:custGeom>
            <a:pathLst>
              <a:path w="384" h="408">
                <a:moveTo>
                  <a:pt x="0" y="0"/>
                </a:moveTo>
                <a:lnTo>
                  <a:pt x="384" y="0"/>
                </a:lnTo>
                <a:lnTo>
                  <a:pt x="384" y="6"/>
                </a:lnTo>
                <a:lnTo>
                  <a:pt x="0" y="6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8362950" y="1181100"/>
            <a:ext cx="32385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362950" y="1800225"/>
            <a:ext cx="609600" cy="609600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362950" y="2524125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描述期望行为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362950" y="3028950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我希望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挂号成功后号源减一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，但现在没减。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不说期望，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不知道什么算错。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362950" y="4114800"/>
            <a:ext cx="3238500" cy="419100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496300" y="4210050"/>
            <a:ext cx="2971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说清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应该是什么样</a:t>
            </a:r>
            <a:r>
              <a:rPr lang="en-US" sz="1500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81000" y="4781550"/>
            <a:ext cx="11430000" cy="5715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C107"/>
            </a:solidFill>
            <a:prstDash val="solid"/>
          </a:ln>
        </p:spPr>
        <p:txBody>
          <a:bodyPr/>
          <a:p/>
        </p:txBody>
      </p:sp>
      <p:sp>
        <p:nvSpPr>
          <p:cNvPr id="295" name=""/>
          <p:cNvSpPr/>
          <p:nvPr/>
        </p:nvSpPr>
        <p:spPr>
          <a:xfrm rot="0" flipH="0" flipV="0">
            <a:off x="571500" y="4905375"/>
            <a:ext cx="3238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66750" y="4962525"/>
            <a:ext cx="133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+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28700" y="4895850"/>
            <a:ext cx="1015365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还有一个习惯：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让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解释它写的代码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——"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逐行解释你刚写的挂号事务逻辑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，既是帮你理解，也是逼它检查自己。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381000" y="544830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99" name=""/>
          <p:cNvSpPr/>
          <p:nvPr/>
        </p:nvSpPr>
        <p:spPr>
          <a:xfrm rot="0" flipH="0" flipV="0">
            <a:off x="571500" y="563880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742950" y="5543550"/>
            <a:ext cx="5810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三件套给全，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定位快十倍；只丢一句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有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bug"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，它只能瞎猜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303" name="" descr="&lt;Slide&#10;  notes={`我演示 A 路线挂号分系统的开发过程，分三步，你们注意看每一步之间的&quot;验证动作&quot;。&#10;&#10;B 路线组对照着看：把&quot;排班号源&quot;换成&quot;床位与入出转登记&quot;，把&quot;挂号单&quot;换成&quot;住院登记单&quot;，事务逻辑完全一样。&#10;&#10;三步走完，你们手上就有一个能真正跑通的主线功能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2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THREE-STEP WALKTHROUGH&lt;/Text&gt;&#10;        &lt;Text style={{ fontSize: 56, color: '#1A2230', fontWeight: 'bold', lineHeight: 1.25 }}&gt;三步走&lt;/Text&gt;&#10;        &lt;Text style={{ fontSize: 26, color: '#4A5568', lineHeight: 1.5 }}&gt;以 A 路线挂号分系统为例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第一步 · 排班号源 API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第二步 · 挂号 API（核心事务）&lt;/Text&gt;&#10;        &lt;/Box&gt;&#10;        &lt;Box style={{ flexDirection: 'row', alignItems: 'flex-start', gap: 14 }}&gt;&#10;          &lt;Box style={{ width: 10, height: 10, background: '#FFC107', marginTop: 12 }} /&gt;&#10;          &lt;Text style={{ fontSize: 23, color: '#1A2230', lineHeight: 1.5 }}&gt;第三步 · 前端接入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THREE-STEP WALKTHROUGH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三步走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以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A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路线挂号分系统为例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311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21336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第一步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排班号源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30099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第二步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挂号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API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（核心事务）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17240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第三步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前端接入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317" name="" descr="&lt;Slide&#10;  notes={`第一步，排班与号源 API。&#10;&#10;我的提示词是：为 @backend 添加排班号源模块，医生排班表包括医生、日期、时段、总号源数，提供查询某科室某日各医生剩余号源的 API，先给方案。&#10;&#10;注意最后四个字&quot;先给方案&quot;。AI 出方案，我确认，它才动手写代码。&#10;&#10;写完用 curl 调接口，看返回的 JSON 对不对，确认没问题再提交：feat 排班号源查询 API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主线功能三步走 · 第一步 排班与号源 API&lt;/Text&gt;&#10;    &lt;Text style={{ fontSize: 16, color: '#C9D9F2' }}&gt;医院信息系统实验 · 第 5 课&lt;/Text&gt;&#10;  &lt;/Box&gt;&#10;&#10;  &lt;Box style={{ width: '1280px', height: '552px', flexDirection: 'row', padding: '24px 40px 0px 40px', gap: 30 }}&gt;&#10;    &lt;Box style={{ width: '360px', height: '528px', background: '#0E3F8C', padding: '30px 28px', justifyContent: 'space-between' }}&gt;&#10;      &lt;Box style={{ gap: 14 }}&gt;&#10;        &lt;Text style={{ fontSize: 17, color: '#7FA3D6', letterSpacing: 2 }}&gt;STEP 01&lt;/Text&gt;&#10;        &lt;Text style={{ fontSize: 42, color: '#FFFFFF', fontWeight: 'bold', lineHeight: 1.25 }}&gt;第一步&lt;br /&gt;排班与号源 API&lt;/Text&gt;&#10;        &lt;Box style={{ width: 80, height: 5, background: '#FFC107' }} /&gt;&#10;      &lt;/Box&gt;&#10;      &lt;Text style={{ fontSize: 22, color: '#C9D9F2', lineHeight: 1.6 }}&gt;&#10;        先把&quot;有没有号&quot;查得出来，挂号才有东西可扣。这一步不做事务，只做查询。&#10;      &lt;/Text&gt;&#10;      &lt;Box style={{ gap: 8 }}&gt;&#10;        &lt;Box style={{ height: 1, background: '#3D7BD9' }} /&gt;&#10;        &lt;Text style={{ fontSize: 19, color: '#8FAED8' }}&gt;产出：医生排班表 + 剩余号源查询接口&lt;/Text&gt;&#10;      &lt;/Box&gt;&#10;    &lt;/Box&gt;&#10;&#10;    &lt;Box style={{ width: '810px', height: '528px' }}&gt;&#10;      &lt;Box style={{ height: '300px', gap: 12, justifyContent: 'space-between' }}&gt;&#10;        &lt;Box style={{ background: '#E8EFF8', border: '1px solid #3D7BD9', borderLeft: '6px solid #1E4FA8', padding: '16px 20px', gap: 8 }}&gt;&#10;          &lt;Text style={{ fontSize: 22, color: '#1E4FA8', fontWeight: 'bold' }}&gt;提示词原文&lt;/Text&gt;&#10;          &lt;Text style={{ fontSize: 22, color: '#1A2230', lineHeight: 1.5 }}&gt;&#10;            &quot;为 @backend 添加排班号源模块：医生排班表（医生、日期、时段、总号源数），提供查询某科室某日各医生剩余号源的 API。&lt;span style={{ fontWeight: 'bold', color: '#D9534F' }}&gt;先给方案。&lt;/span&gt;&quot;&#10;          &lt;/Text&gt;&#10;        &lt;/Box&gt;&#10;&#10;        &lt;Box style={{ height: '46px', flexDirection: 'row', alignItems: 'center', gap: 10 }}&gt;&#10;          &lt;Box style={{ width: 28, height: 28, background: '#1E4FA8', alignItems: 'center', justifyContent: 'center' }}&gt;&#10;            &lt;Text style={{ fontSize: 16, color: '#FFFFFF', fontWeight: 'bold' }}&gt;1&lt;/Text&gt;&#10;          &lt;/Box&gt;&#10;          &lt;Text style={{ fontSize: 21, color: '#1A2230', lineHeight: 1.4 }}&gt;AI 出方案 → 我确认方案 → 它才写代码&lt;/Text&gt;&#10;        &lt;/Box&gt;&#10;        &lt;Box style={{ height: '46px', flexDirection: 'row', alignItems: 'center', gap: 10 }}&gt;&#10;          &lt;Box style={{ width: 28, height: 28, background: '#1E4FA8', alignItems: 'center', justifyContent: 'center' }}&gt;&#10;            &lt;Text style={{ fontSize: 16, color: '#FFFFFF', fontWeight: 'bold' }}&gt;2&lt;/Text&gt;&#10;          &lt;/Box&gt;&#10;          &lt;Text style={{ fontSize: 21, color: '#1A2230', lineHeight: 1.4 }}&gt;验证：curl 调接口，看返回的 JSON 对不对&lt;/Text&gt;&#10;        &lt;/Box&gt;&#10;        &lt;Box style={{ height: '46px', flexDirection: 'row', alignItems: 'center', gap: 10 }}&gt;&#10;          &lt;Box style={{ width: 28, height: 28, background: '#FFC107', alignItems: 'center', justifyContent: 'center' }}&gt;&#10;            &lt;Text style={{ fontSize: 16, color: '#0E3F8C', fontWeight: 'bold' }}&gt;3&lt;/Text&gt;&#10;          &lt;/Box&gt;&#10;          &lt;Text style={{ fontSize: 21, color: '#1A2230', lineHeight: 1.4 }}&gt;提交：feat: 排班号源查询 API&lt;/Text&gt;&#10;        &lt;/Box&gt;&#10;      &lt;/Box&gt;&#10;&#10;      &lt;Box style={{ height: '16px' }} /&gt;&#10;&#10;      &lt;Box style={{ height: '212px', background: '#F7F9FC', border: '1px solid #D6DCE5', padding: '14px 16px' }}&gt;&#10;        &lt;CodeBlock&#10;          code={`# 验证：curl 调接口，看返回的 JSON 对不对&#10;curl -s &quot;localhost:8000/api/schedule?dept=内科&amp;date=2026-09-08&quot;&#10;# 重点看 remain 剩余号源字段&#10;{&#10;  &quot;dept&quot;: &quot;内科&quot;, &quot;date&quot;: &quot;2026-09-08&quot;,&#10;  &quot;doctors&quot;: [&#10;    { &quot;name&quot;: &quot;张医生&quot;, &quot;period&quot;: &quot;上午&quot;, &quot;total&quot;: 20, &quot;remain&quot;: 12 }&#10;  ]&#10;}`}&#10;          language='bash'&#10;          width={778}&#10;          fontSize={14}&#10;          theme='github-light'&#10;          background='#FFFFFF'&#10;        /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38004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主线功能三步走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第一步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排班与号源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47700" y="1200150"/>
            <a:ext cx="2895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7FA3D6"/>
                </a:solidFill>
                <a:latin typeface="Microsoft YaHei"/>
                <a:ea typeface="Microsoft YaHei"/>
              </a:rPr>
              <a:t>STEP 01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47700" y="1533525"/>
            <a:ext cx="2895600" cy="12001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第一步</a:t>
            </a:r>
            <a:endParaRPr/>
          </a:p>
          <a:p>
            <a:pPr>
              <a:lnSpc>
                <a:spcPct val="125000"/>
              </a:lnSpc>
            </a:pPr>
            <a:r>
              <a:rPr lang="zh-CN" sz="3150" b="1">
                <a:solidFill>
                  <a:srgbClr val="FFFFFF"/>
                </a:solidFill>
                <a:latin typeface="Microsoft YaHei"/>
                <a:ea typeface="Microsoft YaHei"/>
              </a:rPr>
              <a:t>排班与号源</a:t>
            </a:r>
            <a:r>
              <a:rPr lang="en-US" sz="3150" b="1">
                <a:solidFill>
                  <a:srgbClr val="FFFFFF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47700" y="2867025"/>
            <a:ext cx="7620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47700" y="3419475"/>
            <a:ext cx="2895600" cy="1209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先把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有没有号</a:t>
            </a:r>
            <a:r>
              <a:rPr lang="en-US" sz="1650">
                <a:solidFill>
                  <a:srgbClr val="C9D9F2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C9D9F2"/>
                </a:solidFill>
                <a:latin typeface="Microsoft YaHei"/>
                <a:ea typeface="Microsoft YaHei"/>
              </a:rPr>
              <a:t>查得出来，挂号才有东西可扣。这一步不做事务，只做查询。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47700" y="5133975"/>
            <a:ext cx="2895600" cy="9525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47700" y="5219700"/>
            <a:ext cx="289560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425">
                <a:solidFill>
                  <a:srgbClr val="8FAED8"/>
                </a:solidFill>
                <a:latin typeface="Microsoft YaHei"/>
                <a:ea typeface="Microsoft YaHei"/>
              </a:rPr>
              <a:t>产出：医生排班表</a:t>
            </a:r>
            <a:r>
              <a:rPr lang="en-US" sz="1425">
                <a:solidFill>
                  <a:srgbClr val="8FAED8"/>
                </a:solidFill>
                <a:latin typeface="Microsoft YaHei"/>
                <a:ea typeface="Microsoft YaHei"/>
              </a:rPr>
              <a:t> + </a:t>
            </a:r>
            <a:r>
              <a:rPr lang="zh-CN" sz="1425">
                <a:solidFill>
                  <a:srgbClr val="8FAED8"/>
                </a:solidFill>
                <a:latin typeface="Microsoft YaHei"/>
                <a:ea typeface="Microsoft YaHei"/>
              </a:rPr>
              <a:t>剩余号源查询接口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4152900" y="914400"/>
            <a:ext cx="7715250" cy="1400175"/>
          </a:xfrm>
          <a:prstGeom prst="rect">
            <a:avLst/>
          </a:prstGeom>
          <a:solidFill>
            <a:srgbClr val="E8EFF8"/>
          </a:solidFill>
          <a:ln/>
        </p:spPr>
        <p:txBody>
          <a:bodyPr/>
          <a:p/>
        </p:txBody>
      </p:sp>
      <p:sp>
        <p:nvSpPr>
          <p:cNvPr id="330" name=""/>
          <p:cNvSpPr/>
          <p:nvPr/>
        </p:nvSpPr>
        <p:spPr>
          <a:xfrm rot="0" flipH="0" flipV="0">
            <a:off x="4095750" y="914400"/>
            <a:ext cx="7772400" cy="1400175"/>
          </a:xfrm>
          <a:custGeom>
            <a:pathLst>
              <a:path w="816" h="147">
                <a:moveTo>
                  <a:pt x="0" y="0"/>
                </a:moveTo>
                <a:lnTo>
                  <a:pt x="6" y="0"/>
                </a:lnTo>
                <a:lnTo>
                  <a:pt x="6" y="147"/>
                </a:lnTo>
                <a:lnTo>
                  <a:pt x="0" y="147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343400" y="1066800"/>
            <a:ext cx="7277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4FA8"/>
                </a:solidFill>
                <a:latin typeface="Microsoft YaHei"/>
                <a:ea typeface="Microsoft YaHei"/>
              </a:rPr>
              <a:t>提示词原文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343400" y="1400175"/>
            <a:ext cx="7277100" cy="762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为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@backend 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添加排班号源模块：医生排班表（医生、日期、时段、总号源数），提供查询某科室某日各医生剩余号源的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 API</a:t>
            </a:r>
            <a:r>
              <a:rPr lang="zh-CN" sz="1650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r>
              <a:rPr lang="zh-CN" sz="1650" b="1">
                <a:solidFill>
                  <a:srgbClr val="D9534F"/>
                </a:solidFill>
                <a:latin typeface="Microsoft YaHei"/>
                <a:ea typeface="Microsoft YaHei"/>
              </a:rPr>
              <a:t>先给方案。</a:t>
            </a:r>
            <a:r>
              <a:rPr lang="en-US" sz="165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4095750" y="2514600"/>
            <a:ext cx="2667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181475" y="25527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457700" y="2476500"/>
            <a:ext cx="3505200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出方案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我确认方案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→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它才写代码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4095750" y="3067050"/>
            <a:ext cx="266700" cy="2667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181475" y="310515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385762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验证：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curl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调接口，看返回的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JSON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对不对</a:t>
            </a:r>
            <a:endParaRPr/>
          </a:p>
        </p:txBody>
      </p:sp>
      <p:sp>
        <p:nvSpPr>
          <p:cNvPr id="339" name=""/>
          <p:cNvSpPr/>
          <p:nvPr/>
        </p:nvSpPr>
        <p:spPr>
          <a:xfrm rot="0" flipH="0" flipV="0">
            <a:off x="4095750" y="3619500"/>
            <a:ext cx="266700" cy="2667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181475" y="3657600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457700" y="3581400"/>
            <a:ext cx="2657475" cy="3429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提交：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feat: </a:t>
            </a:r>
            <a:r>
              <a:rPr lang="zh-CN" sz="1575">
                <a:solidFill>
                  <a:srgbClr val="1A2230"/>
                </a:solidFill>
                <a:latin typeface="Microsoft YaHei"/>
                <a:ea typeface="Microsoft YaHei"/>
              </a:rPr>
              <a:t>排班号源查询</a:t>
            </a:r>
            <a:r>
              <a:rPr lang="en-US" sz="1575">
                <a:solidFill>
                  <a:srgbClr val="1A2230"/>
                </a:solidFill>
                <a:latin typeface="Microsoft YaHei"/>
                <a:ea typeface="Microsoft YaHei"/>
              </a:rPr>
              <a:t> API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095750" y="3924300"/>
            <a:ext cx="7715250" cy="2019300"/>
          </a:xfrm>
          <a:prstGeom prst="rect">
            <a:avLst/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4248150" y="4057650"/>
            <a:ext cx="7410450" cy="22860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6" name=""/>
          <p:cNvSpPr txBox="1"/>
          <p:nvPr/>
        </p:nvSpPr>
        <p:spPr>
          <a:xfrm rot="0" flipH="0" flipV="0">
            <a:off x="4400550" y="4191000"/>
            <a:ext cx="7105650" cy="2019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验证：curl 调接口，看返回的 JSON 对不对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curl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-s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"localhost:8000/api/schedule?dept=内科&amp;date=2026-09-08"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重点看 remain 剩余号源字段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{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"dept"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"内科",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"date":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"2026-09-08",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</a:t>
            </a: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"doctors"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[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  { </a:t>
            </a:r>
            <a:r>
              <a:rPr sz="1050">
                <a:solidFill>
                  <a:srgbClr val="6F42C1"/>
                </a:solidFill>
                <a:latin typeface="Menlo"/>
                <a:ea typeface="Menlo"/>
              </a:rPr>
              <a:t>"name"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"张医生",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"period":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"上午",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"total":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20,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"remain":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05CC5"/>
                </a:solidFill>
                <a:latin typeface="Menlo"/>
                <a:ea typeface="Menlo"/>
              </a:rPr>
              <a:t>12</a:t>
            </a: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</a:t>
            </a:r>
            <a:r>
              <a:rPr sz="1050">
                <a:solidFill>
                  <a:srgbClr val="032F62"/>
                </a:solidFill>
                <a:latin typeface="Menlo"/>
                <a:ea typeface="Menlo"/>
              </a:rPr>
              <a:t>}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  ]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24292E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347" name="" descr="&lt;Slide&#10;  notes={`第二步，挂号 API，这是核心事务。&#10;&#10;提示词是：新增挂号 API，患者选医生和时段，事务内完成两件事——扣减号源、生成挂号单含排队号；号源不足返回 409 错误，注意并发安全。&#10;&#10;注意我主动提了&quot;事务&quot;&quot;并发&quot;这两个词，这是业务规则，AI 不会自己想到。&#10;&#10;第三步是前端接入：选择科室、联动医生、显示剩余号源、点击挂号、展示排队号，最后在浏览器里完整点一遍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2 主线功能三步走 · 全流程回顾&lt;/Text&gt;&#10;    &lt;Text style={{ fontSize: 16, color: '#C9D9F2' }}&gt;医院信息系统实验 · 第 5 课&lt;/Text&gt;&#10;  &lt;/Box&gt;&#10;&#10;  &lt;Box style={{ width: '1280px', height: '552px', padding: '24px 40px 0px 40px' }}&gt;&#10;    &lt;svg width={1200} height={300} viewBox='0 0 1200 300'&gt;&#10;      &lt;rect x='0' y='64' width='340' height='168' rx='10' fill='#F7F9FC' stroke='#D6DCE5' strokeWidth='2' /&gt;&#10;      &lt;rect x='0' y='64' width='340' height='6' rx='3' fill='#3D7BD9' /&gt;&#10;      &lt;circle cx='40' cy='104' r='20' fill='#3D7BD9' /&gt;&#10;      &lt;text x='40' y='105' text-anchor='middle' dominant-baseline='central' font-size='20' font-weight='bold' fill='#FFFFFF'&gt;1&lt;/text&gt;&#10;      &lt;text x='72' y='111' font-size='23' font-weight='bold' fill='#1A2230'&gt;排班号源 API&lt;/text&gt;&#10;      &lt;text x='20' y='148' font-size='17' fill='#4A5568'&gt;医生 · 日期 · 时段 · 总号源数&lt;/text&gt;&#10;      &lt;text x='20' y='174' font-size='17' fill='#4A5568'&gt;查询某科室某日各医生剩余号源&lt;/text&gt;&#10;      &lt;rect x='20' y='192' width='212' height='28' rx='4' fill='#E8EFF8' /&gt;&#10;      &lt;text x='126' y='211' text-anchor='middle' font-size='16' fill='#1E4FA8'&gt;先给方案 · curl 验 JSON&lt;/text&gt;&#10;&#10;      &lt;path d='M348 148 L422 148' stroke='#1E4FA8' strokeWidth='3' /&gt;&#10;      &lt;polygon points='422,148 410,141 410,155' fill='#1E4FA8' /&gt;&#10;&#10;      &lt;rect x='430' y='64' width='340' height='168' rx='10' fill='#1E4FA8' /&gt;&#10;      &lt;circle cx='470' cy='104' r='20' fill='#FFC107' /&gt;&#10;      &lt;text x='470' y='105' text-anchor='middle' dominant-baseline='central' font-size='20' font-weight='bold' fill='#0E3F8C'&gt;2&lt;/text&gt;&#10;      &lt;text x='502' y='111' font-size='23' font-weight='bold' fill='#FFFFFF'&gt;挂号 API · 核心事务&lt;/text&gt;&#10;      &lt;text x='450' y='148' font-size='17' fill='#C9D9F2'&gt;事务内扣减号源 + 生成挂号单（含排队号）&lt;/text&gt;&#10;      &lt;text x='450' y='174' font-size='17' fill='#C9D9F2'&gt;号源不足返回 409 · 注意并发安全&lt;/text&gt;&#10;      &lt;rect x='450' y='192' width='212' height='28' rx='4' fill='#3D7BD9' /&gt;&#10;      &lt;text x='556' y='211' text-anchor='middle' font-size='16' fill='#FFFFFF'&gt;连续挂两次验号源与排队号&lt;/text&gt;&#10;&#10;      &lt;path d='M778 148 L852 148' stroke='#1E4FA8' strokeWidth='3' /&gt;&#10;      &lt;polygon points='852,148 840,141 840,155' fill='#1E4FA8' /&gt;&#10;&#10;      &lt;rect x='860' y='64' width='340' height='168' rx='10' fill='#E8EFF8' stroke='#1E4FA8' strokeWidth='3' /&gt;&#10;      &lt;circle cx='900' cy='104' r='20' fill='#1E4FA8' /&gt;&#10;      &lt;text x='900' y='105' text-anchor='middle' dominant-baseline='central' font-size='20' font-weight='bold' fill='#FFFFFF'&gt;3&lt;/text&gt;&#10;      &lt;text x='932' y='111' font-size='23' font-weight='bold' fill='#1E4FA8'&gt;前端接入&lt;/text&gt;&#10;      &lt;text x='880' y='148' font-size='17' fill='#4A5568'&gt;选择科室 → 联动医生 → 显示剩余号源&lt;/text&gt;&#10;      &lt;text x='880' y='174' font-size='17' fill='#4A5568'&gt;点击挂号 → 展示排队号 · 样式沿用现有组件&lt;/text&gt;&#10;      &lt;rect x='880' y='192' width='212' height='28' rx='4' fill='#1E4FA8' /&gt;&#10;      &lt;text x='986' y='211' text-anchor='middle' font-size='16' fill='#FFFFFF'&gt;浏览器里完整点一遍&lt;/text&gt;&#10;&#10;      &lt;path d='M40 262 L1160 262' stroke='#D6DCE5' strokeWidth='2' strokeDasharray='6 5' /&gt;&#10;      &lt;rect x='420' y='246' width='360' height='32' rx='4' fill='#FFC107' /&gt;&#10;      &lt;text x='600' y='268' text-anchor='middle' font-size='19' font-weight='bold' fill='#0E3F8C'&gt;三次对话 · 三个提交 · 每步都有验证&lt;/text&gt;&#10;    &lt;/svg&gt;&#10;&#10;    &lt;Box style={{ height: '18px' }} /&gt;&#10;&#10;    &lt;Box style={{ height: '210px', flexDirection: 'row', gap: 24 }}&gt;&#10;      &lt;Box style={{ flex: 1, background: '#F7F9FC', border: '1px solid #D6DCE5', borderLeft: '6px solid #D9534F', padding: '20px 24px', gap: 12 }}&gt;&#10;        &lt;Text style={{ fontSize: 26, color: '#1A2230', fontWeight: 'bold' }}&gt;「事务」「并发」要你亲口说&lt;/Text&gt;&#10;        &lt;Text style={{ fontSize: 21, color: '#4A5568', lineHeight: 1.55 }}&gt;&#10;          这两个词是&lt;span style={{ fontWeight: 'bold', color: '#D9534F' }}&gt;业务规则，AI 不会自己想到&lt;/span&gt;。你不在提示词里写，它就不会给你加事务，号源扣减和挂号单创建就不是原子的。&#10;        &lt;/Text&gt;&#10;      &lt;/Box&gt;&#10;      &lt;Box style={{ flex: 1, background: '#F7F9FC', border: '1px solid #D6DCE5', borderLeft: '6px solid #1E4FA8', padding: '20px 24px', gap: 12 }}&gt;&#10;        &lt;Text style={{ fontSize: 26, color: '#1A2230', fontWeight: 'bold' }}&gt;每次提交都是一份保险&lt;/Text&gt;&#10;        &lt;Text style={{ fontSize: 21, color: '#4A5568', lineHeight: 1.55 }}&gt;&#10;          三次对话，三个提交，每步都有验证。&lt;span style={{ fontWeight: 'bold', color: '#1E4FA8' }}&gt;哪怕最后一步出了问题，回滚的代价也只有&quot;这一步&quot;&lt;/span&gt;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09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781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02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主线功能三步走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全流程回顾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pic>
        <p:nvPicPr>
          <p:cNvPr id="3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14400"/>
            <a:ext cx="11430000" cy="2857500"/>
          </a:xfrm>
          <a:prstGeom prst="rect">
            <a:avLst/>
          </a:prstGeom>
          <a:ln/>
        </p:spPr>
      </p:pic>
      <p:sp>
        <p:nvSpPr>
          <p:cNvPr id="353" name=""/>
          <p:cNvSpPr/>
          <p:nvPr/>
        </p:nvSpPr>
        <p:spPr>
          <a:xfrm rot="0" flipH="0" flipV="0">
            <a:off x="438150" y="39433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54" name=""/>
          <p:cNvSpPr/>
          <p:nvPr/>
        </p:nvSpPr>
        <p:spPr>
          <a:xfrm rot="0" flipH="0" flipV="0">
            <a:off x="381000" y="3943350"/>
            <a:ext cx="5657850" cy="2000250"/>
          </a:xfrm>
          <a:custGeom>
            <a:pathLst>
              <a:path w="594" h="210">
                <a:moveTo>
                  <a:pt x="0" y="0"/>
                </a:moveTo>
                <a:lnTo>
                  <a:pt x="6" y="0"/>
                </a:lnTo>
                <a:lnTo>
                  <a:pt x="6" y="210"/>
                </a:lnTo>
                <a:lnTo>
                  <a:pt x="0" y="21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666750" y="4133850"/>
            <a:ext cx="508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「事务」「并发」要你亲口说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666750" y="4552950"/>
            <a:ext cx="5086350" cy="1123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这两个词是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业务规则，</a:t>
            </a:r>
            <a:r>
              <a:rPr lang="en-US" sz="1575" b="1">
                <a:solidFill>
                  <a:srgbClr val="D9534F"/>
                </a:solidFill>
                <a:latin typeface="Microsoft YaHei"/>
                <a:ea typeface="Microsoft YaHei"/>
              </a:rPr>
              <a:t>AI </a:t>
            </a:r>
            <a:r>
              <a:rPr lang="zh-CN" sz="1575" b="1">
                <a:solidFill>
                  <a:srgbClr val="D9534F"/>
                </a:solidFill>
                <a:latin typeface="Microsoft YaHei"/>
                <a:ea typeface="Microsoft YaHei"/>
              </a:rPr>
              <a:t>不会自己想到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。你不在提示词里写，它就不会给你加事务，号源扣减和挂号单创建就不是原子的。</a:t>
            </a:r>
            <a:endParaRPr/>
          </a:p>
        </p:txBody>
      </p:sp>
      <p:sp>
        <p:nvSpPr>
          <p:cNvPr id="357" name=""/>
          <p:cNvSpPr/>
          <p:nvPr/>
        </p:nvSpPr>
        <p:spPr>
          <a:xfrm rot="0" flipH="0" flipV="0">
            <a:off x="6267450" y="3943350"/>
            <a:ext cx="56007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6210300" y="3943350"/>
            <a:ext cx="5657850" cy="2000250"/>
          </a:xfrm>
          <a:custGeom>
            <a:pathLst>
              <a:path w="594" h="210">
                <a:moveTo>
                  <a:pt x="0" y="0"/>
                </a:moveTo>
                <a:lnTo>
                  <a:pt x="6" y="0"/>
                </a:lnTo>
                <a:lnTo>
                  <a:pt x="6" y="210"/>
                </a:lnTo>
                <a:lnTo>
                  <a:pt x="0" y="21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496050" y="4133850"/>
            <a:ext cx="5086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每次提交都是一份保险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496050" y="4552950"/>
            <a:ext cx="50863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三次对话，三个提交，每步都有验证。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哪怕最后一步出了问题，回滚的代价也只有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这一步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7" name="" descr="&lt;Slide&#10;  notes={`现在各组开工。目标是按你们的《功能点清单》完成前 3 个功能点。&#10;&#10;A 路线是号源列表、创建挂号、挂号记录；B 路线是床位查询、入院登记、在院列表。&#10;&#10;按三步走，每步验证加提交。做完的组继续做第 4 个功能点。&#10;&#10;我巡场时会随机问三个问题，答不上来的组要补课：你的号源扣减在哪一行？事务怎么用的？排队号怎么生成的？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学生实操 · 分组目标&lt;/Text&gt;&#10;    &lt;Text style={{ fontSize: 16, color: '#C9D9F2' }}&gt;医院信息系统实验 · 第 5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分组实操目标&lt;/Text&gt;&#10;      &lt;Text style={{ fontSize: 22, color: '#8B97A8' }}&gt;完成《功能点清单》前 3 个功能点&lt;/Text&gt;&#10;    &lt;/Box&gt;&#10;&#10;    &lt;Box style={{ height: '14px' }} /&gt;&#10;&#10;    &lt;svg width={1200} height={190} viewBox='0 0 1200 190'&gt;&#10;      &lt;rect x='0' y='40' width='250' height='100' rx='8' fill='#FFFFFF' stroke='#3D7BD9' strokeWidth='3' /&gt;&#10;      &lt;circle cx='40' cy='90' r='20' fill='#3D7BD9' /&gt;&#10;      &lt;text x='40' y='91' text-anchor='middle' dominant-baseline='central' font-size='20' font-weight='bold' fill='#FFFFFF'&gt;1&lt;/text&gt;&#10;      &lt;text x='72' y='85' font-size='23' font-weight='bold' fill='#1A2230'&gt;功能点 1&lt;/text&gt;&#10;      &lt;text x='72' y='114' font-size='17' fill='#4A5568'&gt;三步走 · 验证 + 提交&lt;/text&gt;&#10;&#10;      &lt;path d='M258 90 L308 90' stroke='#1E4FA8' strokeWidth='3' /&gt;&#10;      &lt;polygon points='308,90 296,83 296,97' fill='#1E4FA8' /&gt;&#10;&#10;      &lt;rect x='316' y='40' width='250' height='100' rx='8' fill='#FFFFFF' stroke='#3D7BD9' strokeWidth='3' /&gt;&#10;      &lt;circle cx='356' cy='90' r='20' fill='#3D7BD9' /&gt;&#10;      &lt;text x='356' y='91' text-anchor='middle' dominant-baseline='central' font-size='20' font-weight='bold' fill='#FFFFFF'&gt;2&lt;/text&gt;&#10;      &lt;text x='388' y='85' font-size='23' font-weight='bold' fill='#1A2230'&gt;功能点 2&lt;/text&gt;&#10;      &lt;text x='388' y='114' font-size='17' fill='#4A5568'&gt;三步走 · 验证 + 提交&lt;/text&gt;&#10;&#10;      &lt;path d='M574 90 L624 90' stroke='#1E4FA8' strokeWidth='3' /&gt;&#10;      &lt;polygon points='624,90 612,83 612,97' fill='#1E4FA8' /&gt;&#10;&#10;      &lt;rect x='632' y='40' width='250' height='100' rx='8' fill='#1E4FA8' /&gt;&#10;      &lt;circle cx='672' cy='90' r='20' fill='#FFFFFF' /&gt;&#10;      &lt;text x='672' y='91' text-anchor='middle' dominant-baseline='central' font-size='20' font-weight='bold' fill='#1E4FA8'&gt;3&lt;/text&gt;&#10;      &lt;text x='704' y='85' font-size='23' font-weight='bold' fill='#FFFFFF'&gt;功能点 3&lt;/text&gt;&#10;      &lt;text x='704' y='114' font-size='17' fill='#C9D9F2'&gt;达标线 · 必须完成&lt;/text&gt;&#10;&#10;      &lt;path d='M890 90 L940 90' stroke='#8B97A8' strokeWidth='3' strokeDasharray='7 5' /&gt;&#10;      &lt;polygon points='940,90 928,83 928,97' fill='#8B97A8' /&gt;&#10;&#10;      &lt;rect x='948' y='40' width='252' height='100' rx='8' fill='#F7F9FC' stroke='#D6DCE5' strokeWidth='3' strokeDasharray='7 5' /&gt;&#10;      &lt;circle cx='988' cy='90' r='20' fill='#8B97A8' /&gt;&#10;      &lt;text x='988' y='91' text-anchor='middle' dominant-baseline='central' font-size='20' font-weight='bold' fill='#FFFFFF'&gt;4&lt;/text&gt;&#10;      &lt;text x='1020' y='85' font-size='23' font-weight='bold' fill='#4A5568'&gt;功能点 4&lt;/text&gt;&#10;      &lt;text x='1020' y='114' font-size='17' fill='#8B97A8'&gt;做完的组继续做&lt;/text&gt;&#10;&#10;      &lt;text x='600' y='176' text-anchor='middle' font-size='18' fill='#1E4FA8'&gt;每一步都按&quot;生成 → 验证 → 提交&quot;走，做完 3 个功能点才算达标&lt;/text&gt;&#10;    &lt;/svg&gt;&#10;&#10;    &lt;Box style={{ height: '16px' }} /&gt;&#10;&#10;    &lt;Box style={{ height: '210px', flexDirection: 'row', gap: 24 }}&gt;&#10;      &lt;Box style={{ width: '590px', background: '#F7F9FC', border: '1px solid #D6DCE5', borderTop: '4px solid #1E4FA8', padding: '18px 22px', gap: 10 }}&gt;&#10;        &lt;Text style={{ fontSize: 26, color: '#1A2230', fontWeight: 'bold' }}&gt;两条选题路线对照&lt;/Text&gt;&#10;        &lt;Text style={{ fontSize: 21, color: '#4A5568', lineHeight: 1.5 }}&gt;&#10;          &lt;span style={{ fontWeight: 'bold', color: '#1E4FA8' }}&gt;A 路线 · 挂号分系统&lt;/span&gt;：号源列表、创建挂号、挂号记录。&#10;        &lt;/Text&gt;&#10;        &lt;Text style={{ fontSize: 21, color: '#4A5568', lineHeight: 1.5 }}&gt;&#10;          &lt;span style={{ fontWeight: 'bold', color: '#3D7BD9' }}&gt;B 路线 · 住院分系统&lt;/span&gt;：床位查询、入院登记、在院列表。&#10;        &lt;/Text&gt;&#10;      &lt;/Box&gt;&#10;&#10;      &lt;Box style={{ width: '586px', background: '#FFF8E1', border: '1px solid #FFC107', borderTop: '4px solid #FFC107', padding: '18px 22px', gap: 8 }}&gt;&#10;        &lt;Text style={{ fontSize: 26, color: '#1A2230', fontWeight: 'bold' }}&gt;巡场三问 · 答不上要补课&lt;/Text&gt;&#10;        &lt;Text style={{ fontSize: 20, color: '#4A5568', lineHeight: 1.45 }}&gt;① 你的号源扣减在哪一行？&lt;/Text&gt;&#10;        &lt;Text style={{ fontSize: 20, color: '#4A5568', lineHeight: 1.45 }}&gt;② 事务怎么用的？&lt;/Text&gt;&#10;        &lt;Text style={{ fontSize: 20, color: '#4A5568', lineHeight: 1.45 }}&gt;③ 排队号怎么生成的？&lt;/Text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三问答得上来，说明代码真的是你指挥 AI 做出来的，不是抄来的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7240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学生实操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分组目标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2057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分组实操目标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2762250" y="1019175"/>
            <a:ext cx="31813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完成《功能点清单》前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3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个功能点</a:t>
            </a:r>
            <a:endParaRPr/>
          </a:p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80975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381000" y="3505200"/>
            <a:ext cx="561975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381000" y="3467100"/>
            <a:ext cx="5619750" cy="2038350"/>
          </a:xfrm>
          <a:custGeom>
            <a:pathLst>
              <a:path w="590" h="214">
                <a:moveTo>
                  <a:pt x="0" y="0"/>
                </a:moveTo>
                <a:lnTo>
                  <a:pt x="590" y="0"/>
                </a:lnTo>
                <a:lnTo>
                  <a:pt x="590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90550" y="3676650"/>
            <a:ext cx="5200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两条选题路线对照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590550" y="4076700"/>
            <a:ext cx="520065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A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路线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挂号分系统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：号源列表、创建挂号、挂号记录。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90550" y="4533900"/>
            <a:ext cx="520065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575" b="1">
                <a:solidFill>
                  <a:srgbClr val="3D7BD9"/>
                </a:solidFill>
                <a:latin typeface="Microsoft YaHei"/>
                <a:ea typeface="Microsoft YaHei"/>
              </a:rPr>
              <a:t>B </a:t>
            </a:r>
            <a:r>
              <a:rPr lang="zh-CN" sz="1575" b="1">
                <a:solidFill>
                  <a:srgbClr val="3D7BD9"/>
                </a:solidFill>
                <a:latin typeface="Microsoft YaHei"/>
                <a:ea typeface="Microsoft YaHei"/>
              </a:rPr>
              <a:t>路线</a:t>
            </a:r>
            <a:r>
              <a:rPr lang="en-US" sz="1575" b="1">
                <a:solidFill>
                  <a:srgbClr val="3D7BD9"/>
                </a:solidFill>
                <a:latin typeface="Microsoft YaHei"/>
                <a:ea typeface="Microsoft YaHei"/>
              </a:rPr>
              <a:t> · </a:t>
            </a:r>
            <a:r>
              <a:rPr lang="zh-CN" sz="1575" b="1">
                <a:solidFill>
                  <a:srgbClr val="3D7BD9"/>
                </a:solidFill>
                <a:latin typeface="Microsoft YaHei"/>
                <a:ea typeface="Microsoft YaHei"/>
              </a:rPr>
              <a:t>住院分系统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：床位查询、入院登记、在院列表。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229350" y="3505200"/>
            <a:ext cx="5581650" cy="2000250"/>
          </a:xfrm>
          <a:prstGeom prst="rect">
            <a:avLst/>
          </a:prstGeom>
          <a:solidFill>
            <a:srgbClr val="FFF8E1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6229350" y="3467100"/>
            <a:ext cx="5581650" cy="2038350"/>
          </a:xfrm>
          <a:custGeom>
            <a:pathLst>
              <a:path w="586" h="214">
                <a:moveTo>
                  <a:pt x="0" y="0"/>
                </a:moveTo>
                <a:lnTo>
                  <a:pt x="586" y="0"/>
                </a:lnTo>
                <a:lnTo>
                  <a:pt x="586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6438900" y="3676650"/>
            <a:ext cx="5162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巡场三问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答不上要补课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6438900" y="4057650"/>
            <a:ext cx="51625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①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你的号源扣减在哪一行？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438900" y="4467225"/>
            <a:ext cx="51625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②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事务怎么用的？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438900" y="4876800"/>
            <a:ext cx="5162550" cy="3333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③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排队号怎么生成的？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81000" y="558165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571500" y="577215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42950" y="5676900"/>
            <a:ext cx="6019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三问答得上来，说明代码真的是你指挥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做出来的，不是抄来的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2" name="" descr="&lt;Slide&#10;  notes={`这节课的最后一段，我把两件事一次说清：实操要做到什么程度，以及课后要交什么。&#10;&#10;作业有两项，一项是代码，一项是文字。&#10;&#10;文字那项每周都会有一篇，期末装订成册，是你们答辩的重要素材，别把它当成额外负担。`}&#10;  style={{ width: '1280px', height: '720px', background: '#F7F9FC', padding: '0px' }}&#10;&gt;&#10;  &lt;Box style={{ width: '1280px', height: '720px', flexDirection: 'row', padding: '64px 40px', gap: 48 }}&gt;&#10;    &lt;Box style={{ width: '420px', height: '592px', justifyContent: 'center', gap: 8 }}&gt;&#10;      &lt;Text style={{ fontSize: 240, color: '#0E3F8C', fontWeight: 'bold', lineHeight: 1 }}&gt;03&lt;/Text&gt;&#10;      &lt;Box style={{ width: 120, height: 6, background: '#FFC107' }} /&gt;&#10;    &lt;/Box&gt;&#10;&#10;    &lt;Box style={{ width: '732px', height: '592px', justifyContent: 'center', gap: 28 }}&gt;&#10;      &lt;Box style={{ gap: 14 }}&gt;&#10;        &lt;Text style={{ fontSize: 20, color: '#3D7BD9', fontWeight: 'bold', letterSpacing: 2 }}&gt;PRACTICE &amp;amp; HOMEWORK&lt;/Text&gt;&#10;        &lt;Text style={{ fontSize: 56, color: '#1A2230', fontWeight: 'bold', lineHeight: 1.25 }}&gt;实操与作业&lt;/Text&gt;&#10;        &lt;Text style={{ fontSize: 26, color: '#4A5568', lineHeight: 1.5 }}&gt;3 个功能点 + 一篇 bug 实录&lt;/Text&gt;&#10;      &lt;/Box&gt;&#10;&#10;      &lt;Box style={{ width: '732px', height: 2, background: '#D6DCE5' }} /&gt;&#10;&#10;      &lt;Box style={{ gap: 16 }}&gt;&#10;        &lt;Box style={{ flexDirection: 'row', alignItems: 'flex-start', gap: 14 }}&gt;&#10;          &lt;Box style={{ width: 10, height: 10, background: '#1E4FA8', marginTop: 12 }} /&gt;&#10;          &lt;Text style={{ fontSize: 23, color: '#1A2230', lineHeight: 1.5 }}&gt;每步验证 + 提交，做完 3 个功能点才算达标&lt;/Text&gt;&#10;        &lt;/Box&gt;&#10;        &lt;Box style={{ flexDirection: 'row', alignItems: 'flex-start', gap: 14 }}&gt;&#10;          &lt;Box style={{ width: 10, height: 10, background: '#3D7BD9', marginTop: 12 }} /&gt;&#10;          &lt;Text style={{ fontSize: 23, color: '#1A2230', lineHeight: 1.5 }}&gt;答不上巡场三问的小组，课后要补课&lt;/Text&gt;&#10;        &lt;/Box&gt;&#10;        &lt;Box style={{ flexDirection: 'row', alignItems: 'flex-start', gap: 14 }}&gt;&#10;          &lt;Box style={{ width: 10, height: 10, background: '#FFC107', marginTop: 12 }} /&gt;&#10;          &lt;Text style={{ fontSize: 23, color: '#1A2230', lineHeight: 1.5 }}&gt;每周一篇实录，期末装订成《AI 协作开发日志》&lt;/Text&gt;&#10;        &lt;/Box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381000" y="1990725"/>
            <a:ext cx="4000500" cy="2743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0" b="1">
                <a:solidFill>
                  <a:srgbClr val="0E3F8C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381000" y="4810125"/>
            <a:ext cx="114300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838700" y="1533525"/>
            <a:ext cx="6972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 spc="150">
                <a:solidFill>
                  <a:srgbClr val="3D7BD9"/>
                </a:solidFill>
                <a:latin typeface="Microsoft YaHei"/>
                <a:ea typeface="Microsoft YaHei"/>
              </a:rPr>
              <a:t>PRACTICE &amp; HOMEWORK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4838700" y="1895475"/>
            <a:ext cx="6972300" cy="80010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1A2230"/>
                </a:solidFill>
                <a:latin typeface="Microsoft YaHei"/>
                <a:ea typeface="Microsoft YaHei"/>
              </a:rPr>
              <a:t>实操与作业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838700" y="2828925"/>
            <a:ext cx="69723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3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个功能点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一篇</a:t>
            </a:r>
            <a:r>
              <a:rPr lang="en-US" sz="1950">
                <a:solidFill>
                  <a:srgbClr val="4A5568"/>
                </a:solidFill>
                <a:latin typeface="Microsoft YaHei"/>
                <a:ea typeface="Microsoft YaHei"/>
              </a:rPr>
              <a:t> bug </a:t>
            </a:r>
            <a:r>
              <a:rPr lang="zh-CN" sz="1950">
                <a:solidFill>
                  <a:srgbClr val="4A5568"/>
                </a:solidFill>
                <a:latin typeface="Microsoft YaHei"/>
                <a:ea typeface="Microsoft YaHei"/>
              </a:rPr>
              <a:t>实录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838700" y="3543300"/>
            <a:ext cx="6972300" cy="19050"/>
          </a:xfrm>
          <a:prstGeom prst="rect">
            <a:avLst/>
          </a:prstGeom>
          <a:solidFill>
            <a:srgbClr val="D6DCE5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4838700" y="3943350"/>
            <a:ext cx="95250" cy="952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5067300" y="3829050"/>
            <a:ext cx="4276725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每步验证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+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提交，做完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 3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个功能点才算达标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4838700" y="4495800"/>
            <a:ext cx="95250" cy="952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5067300" y="4381500"/>
            <a:ext cx="35052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答不上巡场三问的小组，课后要补课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838700" y="5048250"/>
            <a:ext cx="95250" cy="952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5067300" y="4933950"/>
            <a:ext cx="466725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每周一篇实录，期末装订成《</a:t>
            </a:r>
            <a:r>
              <a:rPr lang="en-US" sz="1725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725">
                <a:solidFill>
                  <a:srgbClr val="1A2230"/>
                </a:solidFill>
                <a:latin typeface="Microsoft YaHei"/>
                <a:ea typeface="Microsoft YaHei"/>
              </a:rPr>
              <a:t>协作开发日志》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56" name="" descr="&lt;Slide&#10;  notes={`你们问得最多的有三个问题，我一起答。&#10;&#10;第一，&quot;AI 写的事务不对，怎么让它改？&quot;用三件套：贴代码路径、描述问题、期望行为。比如&quot;@文件，挂号接口没用事务，号源扣减和挂号单创建要原子操作，请用数据库事务改写&quot;。&#10;&#10;第二，&quot;排班数据从哪来？&quot;演示数据让 AI 生成脚本，给每个医生未来 7 天生成排班。注意用脚本生成，不要手敲。&#10;&#10;第三，&quot;我们组进度快，接下来干嘛？&quot;扩展功能：取消挂号释放号源、号源不足时的友好提示、挂号单打印页面。做完继续预习第 6 课的药房业务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实操与作业 · 常见问题应答&lt;/Text&gt;&#10;    &lt;Text style={{ fontSize: 16, color: '#C9D9F2' }}&gt;医院信息系统实验 · 第 5 课&lt;/Text&gt;&#10;  &lt;/Box&gt;&#10;&#10;  &lt;Box style={{ width: '1280px', height: '552px', flexDirection: 'row', padding: '24px 40px 0px 40px', gap: 30 }}&gt;&#10;    &lt;Box style={{ width: '360px', height: '528px', background: '#E8EFF8', border: '1px solid #D6DCE5', padding: '28px 26px', justifyContent: 'space-between' }}&gt;&#10;      &lt;Box style={{ gap: 14 }}&gt;&#10;        &lt;Text style={{ fontSize: 17, color: '#3D7BD9', letterSpacing: 2 }}&gt;FAQ&lt;/Text&gt;&#10;        &lt;Text style={{ fontSize: 42, color: '#1A2230', fontWeight: 'bold', lineHeight: 1.2 }}&gt;常见问题&lt;br /&gt;应答&lt;/Text&gt;&#10;        &lt;Box style={{ width: 80, height: 5, background: '#1E4FA8' }} /&gt;&#10;      &lt;/Box&gt;&#10;&#10;      &lt;Box style={{ gap: 12 }}&gt;&#10;        &lt;Box style={{ background: '#FFFFFF', padding: '10px 16px', borderRadius: 20, alignItems: 'center' }}&gt;&#10;          &lt;Text style={{ fontSize: 20, color: '#1E4FA8', fontWeight: 'bold' }}&gt;事务不对怎么办&lt;/Text&gt;&#10;        &lt;/Box&gt;&#10;        &lt;Box style={{ background: '#FFFFFF', padding: '10px 16px', borderRadius: 20, alignItems: 'center' }}&gt;&#10;          &lt;Text style={{ fontSize: 20, color: '#1E4FA8', fontWeight: 'bold' }}&gt;排班数据从哪来&lt;/Text&gt;&#10;        &lt;/Box&gt;&#10;        &lt;Box style={{ background: '#FFFFFF', padding: '10px 16px', borderRadius: 20, alignItems: 'center' }}&gt;&#10;          &lt;Text style={{ fontSize: 20, color: '#1E4FA8', fontWeight: 'bold' }}&gt;进度快接下来干嘛&lt;/Text&gt;&#10;        &lt;/Box&gt;&#10;      &lt;/Box&gt;&#10;&#10;      &lt;Text style={{ fontSize: 20, color: '#4A5568', lineHeight: 1.5 }}&gt;&#10;        第一类问题最多，答案还是那三件套。&#10;      &lt;/Text&gt;&#10;    &lt;/Box&gt;&#10;&#10;    &lt;Box style={{ width: '810px', height: '528px', gap: 9 }}&gt;&#10;      &lt;Box style={{ height: '170px', background: '#F7F9FC', border: '1px solid #D6DCE5', borderLeft: '6px solid #D9534F', padding: '18px 22px', justifyContent: 'space-between' }}&gt;&#10;        &lt;Text style={{ fontSize: 24, color: '#1A2230', fontWeight: 'bold', lineHeight: 1.4 }}&gt;&#10;          Q：AI 写的事务不对，怎么让它改？&#10;        &lt;/Text&gt;&#10;        &lt;Text style={{ fontSize: 21, color: '#4A5568', lineHeight: 1.5 }}&gt;&#10;          A：用三件套——贴代码路径 + 描述问题 + 期望行为。&lt;span style={{ color: '#1E4FA8', fontWeight: 'bold' }}&gt;&quot;@文件 挂号接口没用事务，号源扣减和挂号单创建要原子操作，请用数据库事务改写&quot;&lt;/span&gt;。&#10;        &lt;/Text&gt;&#10;      &lt;/Box&gt;&#10;&#10;      &lt;Box style={{ height: '170px', background: '#F7F9FC', border: '1px solid #D6DCE5', borderLeft: '6px solid #1E4FA8', padding: '18px 22px', justifyContent: 'space-between' }}&gt;&#10;        &lt;Text style={{ fontSize: 24, color: '#1A2230', fontWeight: 'bold', lineHeight: 1.4 }}&gt;&#10;          Q：排班数据从哪来？&#10;        &lt;/Text&gt;&#10;        &lt;Text style={{ fontSize: 21, color: '#4A5568', lineHeight: 1.5 }}&gt;&#10;          A：演示数据&lt;span style={{ color: '#1E4FA8', fontWeight: 'bold' }}&gt;让 AI 生成脚本，给每个医生未来 7 天生成排班&lt;/span&gt;。注意用脚本生成，不要手敲——手敲一百多条排班，敲到第三天你就不想做了。&#10;        &lt;/Text&gt;&#10;      &lt;/Box&gt;&#10;&#10;      &lt;Box style={{ height: '170px', background: '#F7F9FC', border: '1px solid #D6DCE5', borderLeft: '6px solid #FFC107', padding: '18px 22px', justifyContent: 'space-between' }}&gt;&#10;        &lt;Text style={{ fontSize: 24, color: '#1A2230', fontWeight: 'bold', lineHeight: 1.4 }}&gt;&#10;          Q：我们组进度快，接下来干嘛？&#10;        &lt;/Text&gt;&#10;        &lt;Text style={{ fontSize: 21, color: '#4A5568', lineHeight: 1.5 }}&gt;&#10;          A：扩展功能：&lt;span style={{ color: '#1A2230', fontWeight: 'bold' }}&gt;取消挂号释放号源、号源不足时的友好提示、挂号单打印页面&lt;/span&gt;。做完继续预习第 6 课的药房业务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实操与作业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常见问题应答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381000" y="914400"/>
            <a:ext cx="3429000" cy="5029200"/>
          </a:xfrm>
          <a:prstGeom prst="rect">
            <a:avLst/>
          </a:prstGeom>
          <a:solidFill>
            <a:srgbClr val="E8EFF8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28650" y="1181100"/>
            <a:ext cx="2933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150">
                <a:solidFill>
                  <a:srgbClr val="3D7BD9"/>
                </a:solidFill>
                <a:latin typeface="Microsoft YaHei"/>
                <a:ea typeface="Microsoft YaHei"/>
              </a:rPr>
              <a:t>FAQ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628650" y="1514475"/>
            <a:ext cx="2933700" cy="11525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常见问题</a:t>
            </a:r>
            <a:endParaRPr/>
          </a:p>
          <a:p>
            <a:pPr>
              <a:lnSpc>
                <a:spcPct val="120000"/>
              </a:lnSpc>
            </a:pPr>
            <a:r>
              <a:rPr lang="zh-CN" sz="3150" b="1">
                <a:solidFill>
                  <a:srgbClr val="1A2230"/>
                </a:solidFill>
                <a:latin typeface="Microsoft YaHei"/>
                <a:ea typeface="Microsoft YaHei"/>
              </a:rPr>
              <a:t>应答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28650" y="2800350"/>
            <a:ext cx="7620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628650" y="31813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428750" y="32766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事务不对怎么办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628650" y="37147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1428750" y="3810000"/>
            <a:ext cx="1333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排班数据从哪来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628650" y="4248150"/>
            <a:ext cx="2933700" cy="41910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333500" y="4343400"/>
            <a:ext cx="1524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1E4FA8"/>
                </a:solidFill>
                <a:latin typeface="Microsoft YaHei"/>
                <a:ea typeface="Microsoft YaHei"/>
              </a:rPr>
              <a:t>进度快接下来干嘛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28650" y="4991100"/>
            <a:ext cx="29337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第一类问题最多，答案还是那三件套。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4152900" y="91440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4095750" y="91440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D9534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4362450" y="108585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AI 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写的事务不对，怎么让它改？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4362450" y="163830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：用三件套——贴代码路径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描述问题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期望行为。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"@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文件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挂号接口没用事务，号源扣减和挂号单创建要原子操作，请用数据库事务改写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4152900" y="2619375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4095750" y="2619375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4362450" y="2790825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：排班数据从哪来？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4362450" y="3343275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：演示数据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让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生成脚本，给每个医生未来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7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天生成排班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。注意用脚本生成，不要手敲——手敲一百多条排班，敲到第三天你就不想做了。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4152900" y="4324350"/>
            <a:ext cx="7715250" cy="1619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81" name=""/>
          <p:cNvSpPr/>
          <p:nvPr/>
        </p:nvSpPr>
        <p:spPr>
          <a:xfrm rot="0" flipH="0" flipV="0">
            <a:off x="4095750" y="4324350"/>
            <a:ext cx="7772400" cy="1619250"/>
          </a:xfrm>
          <a:custGeom>
            <a:pathLst>
              <a:path w="816" h="170">
                <a:moveTo>
                  <a:pt x="0" y="0"/>
                </a:moveTo>
                <a:lnTo>
                  <a:pt x="6" y="0"/>
                </a:lnTo>
                <a:lnTo>
                  <a:pt x="6" y="170"/>
                </a:lnTo>
                <a:lnTo>
                  <a:pt x="0" y="170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62450" y="4495800"/>
            <a:ext cx="7239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800" b="1">
                <a:solidFill>
                  <a:srgbClr val="1A2230"/>
                </a:solidFill>
                <a:latin typeface="Microsoft YaHei"/>
                <a:ea typeface="Microsoft YaHei"/>
              </a:rPr>
              <a:t>Q</a:t>
            </a:r>
            <a:r>
              <a:rPr lang="zh-CN" sz="1800" b="1">
                <a:solidFill>
                  <a:srgbClr val="1A2230"/>
                </a:solidFill>
                <a:latin typeface="Microsoft YaHei"/>
                <a:ea typeface="Microsoft YaHei"/>
              </a:rPr>
              <a:t>：我们组进度快，接下来干嘛？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362450" y="5048250"/>
            <a:ext cx="72390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A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：扩展功能：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取消挂号释放号源、号源不足时的友好提示、挂号单打印页面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。做完继续预习第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6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课的药房业务。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86" name="" descr="&lt;Slide&#10;  notes={`请记住今天这句话：一次只让 AI 做一件可验证的事。&#10;&#10;可验证，是拆分的最小单位。切到什么粒度算够？切到你验证得出来为止。&#10;&#10;验证通过了才提交；没验证就提交，等于把问题攒到后面一起爆。&#10;&#10;哪怕最后一步出了问题，我们回滚的代价也只是这一步。这就是小步迭代的价值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本课核心主张 · 对话式迭代&lt;/Text&gt;&#10;    &lt;Text style={{ fontSize: 16, color: '#C9D9F2' }}&gt;医院信息系统实验 · 第 5 课&lt;/Text&gt;&#10;  &lt;/Box&gt;&#10;&#10;  &lt;Box style={{ width: '1280px', height: '552px', padding: '24px 40px 0px 40px' }}&gt;&#10;    &lt;Box style={{ height: '300px', background: '#0E3F8C', padding: '34px 44px', justifyContent: 'space-between' }}&gt;&#10;      &lt;Box style={{ flexDirection: 'row', alignItems: 'center', gap: 16 }}&gt;&#10;        &lt;Box style={{ width: 8, height: 30, background: '#FFC107' }} /&gt;&#10;        &lt;Text style={{ fontSize: 19, color: '#8FAED8', letterSpacing: 2 }}&gt;KEY MESSAGE OF THIS LESSON&lt;/Text&gt;&#10;      &lt;/Box&gt;&#10;&#10;      &lt;Text style={{ fontSize: 76, color: '#FFFFFF', fontWeight: 'bold', lineHeight: 1.18 }}&gt;&#10;        一次只让 AI 做&lt;br /&gt;一件可验证的事&#10;      &lt;/Text&gt;&#10;&#10;      &lt;Box style={{ flexDirection: 'row', alignItems: 'center', gap: 20 }}&gt;&#10;        &lt;Box style={{ width: 100, height: 5, background: '#FFC107' }} /&gt;&#10;        &lt;Text style={{ fontSize: 24, color: '#C9D9F2' }}&gt;大需求切成小步，每步生成 → 验证 → 提交&lt;/Text&gt;&#10;      &lt;/Box&gt;&#10;    &lt;/Box&gt;&#10;&#10;    &lt;Box style={{ height: '18px' }} /&gt;&#10;&#10;    &lt;Box style={{ height: '210px', flexDirection: 'row', gap: 24 }}&gt;&#10;      &lt;Box style={{ flex: 1, background: '#F7F9FC', border: '1px solid #D6DCE5', borderTop: '4px solid #1E4FA8', padding: '20px 22px', gap: 10 }}&gt;&#10;        &lt;Box style={{ flexDirection: 'row', alignItems: 'center', gap: 10 }}&gt;&#10;          &lt;Box style={{ width: 34, height: 34, background: '#1E4FA8', alignItems: 'center', justifyContent: 'center' }}&gt;&#10;            &lt;Text style={{ fontSize: 18, color: '#FFFFFF', fontWeight: 'bold' }}&gt;1&lt;/Text&gt;&#10;          &lt;/Box&gt;&#10;          &lt;Text style={{ fontSize: 25, color: '#1A2230', fontWeight: 'bold' }}&gt;可验证是最小单位&lt;/Text&gt;&#10;        &lt;/Box&gt;&#10;        &lt;Text style={{ fontSize: 21, color: '#4A5568', lineHeight: 1.5 }}&gt;&#10;          切到什么粒度算够？切到你能验证出来为止。验证不了，就再切一刀。&#10;        &lt;/Text&gt;&#10;      &lt;/Box&gt;&#10;      &lt;Box style={{ flex: 1, background: '#F7F9FC', border: '1px solid #D6DCE5', borderTop: '4px solid #3D7BD9', padding: '20px 22px', gap: 10 }}&gt;&#10;        &lt;Box style={{ flexDirection: 'row', alignItems: 'center', gap: 10 }}&gt;&#10;          &lt;Box style={{ width: 34, height: 34, background: '#3D7BD9', alignItems: 'center', justifyContent: 'center' }}&gt;&#10;            &lt;Text style={{ fontSize: 18, color: '#FFFFFF', fontWeight: 'bold' }}&gt;2&lt;/Text&gt;&#10;          &lt;/Box&gt;&#10;          &lt;Text style={{ fontSize: 25, color: '#1A2230', fontWeight: 'bold' }}&gt;验证通过才提交&lt;/Text&gt;&#10;        &lt;/Box&gt;&#10;        &lt;Text style={{ fontSize: 21, color: '#4A5568', lineHeight: 1.5 }}&gt;&#10;          没验证就提交，等于把问题攒到后面一起爆，最后谁也说不清是哪一步错的。&#10;        &lt;/Text&gt;&#10;      &lt;/Box&gt;&#10;      &lt;Box style={{ flex: 1, background: '#F7F9FC', border: '1px solid #D6DCE5', borderTop: '4px solid #FFC107', padding: '20px 22px', gap: 10 }}&gt;&#10;        &lt;Box style={{ flexDirection: 'row', alignItems: 'center', gap: 10 }}&gt;&#10;          &lt;Box style={{ width: 34, height: 34, background: '#FFC107', alignItems: 'center', justifyContent: 'center' }}&gt;&#10;            &lt;Text style={{ fontSize: 18, color: '#0E3F8C', fontWeight: 'bold' }}&gt;3&lt;/Text&gt;&#10;          &lt;/Box&gt;&#10;          &lt;Text style={{ fontSize: 25, color: '#1A2230', fontWeight: 'bold' }}&gt;回滚代价就是一步&lt;/Text&gt;&#10;        &lt;/Box&gt;&#10;        &lt;Text style={{ fontSize: 21, color: '#4A5568', lineHeight: 1.5 }}&gt;&#10;          哪怕最后一步出问题，回滚的代价也只有&quot;这一步&quot;，前面走过的都还在。&#10;        &lt;/Text&gt;&#10;      &lt;/Box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8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95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本课核心主张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对话式迭代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81000" y="914400"/>
            <a:ext cx="11430000" cy="28575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800100" y="1238250"/>
            <a:ext cx="76200" cy="2857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028700" y="1276350"/>
            <a:ext cx="32289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150">
                <a:solidFill>
                  <a:srgbClr val="8FAED8"/>
                </a:solidFill>
                <a:latin typeface="Microsoft YaHei"/>
                <a:ea typeface="Microsoft YaHei"/>
              </a:rPr>
              <a:t>KEY MESSAGE OF THIS LESSON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800100" y="1524000"/>
            <a:ext cx="10591800" cy="2057400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一次只让</a:t>
            </a:r>
            <a:r>
              <a:rPr lang="en-US" sz="5700" b="1">
                <a:solidFill>
                  <a:srgbClr val="FFFFFF"/>
                </a:solidFill>
                <a:latin typeface="Microsoft YaHei"/>
                <a:ea typeface="Microsoft YaHei"/>
              </a:rPr>
              <a:t> AI </a:t>
            </a: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做</a:t>
            </a:r>
            <a:endParaRPr/>
          </a:p>
          <a:p>
            <a:pPr>
              <a:lnSpc>
                <a:spcPct val="118000"/>
              </a:lnSpc>
            </a:pPr>
            <a:r>
              <a:rPr lang="zh-CN" sz="5700" b="1">
                <a:solidFill>
                  <a:srgbClr val="FFFFFF"/>
                </a:solidFill>
                <a:latin typeface="Microsoft YaHei"/>
                <a:ea typeface="Microsoft YaHei"/>
              </a:rPr>
              <a:t>一件可验证的事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800100" y="3695700"/>
            <a:ext cx="952500" cy="47625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943100" y="3581400"/>
            <a:ext cx="4391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大需求切成小步，每步生成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 → 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验证</a:t>
            </a:r>
            <a:r>
              <a:rPr lang="en-US" sz="1800">
                <a:solidFill>
                  <a:srgbClr val="C9D9F2"/>
                </a:solidFill>
                <a:latin typeface="Microsoft YaHei"/>
                <a:ea typeface="Microsoft YaHei"/>
              </a:rPr>
              <a:t> → </a:t>
            </a:r>
            <a:r>
              <a:rPr lang="zh-CN" sz="1800">
                <a:solidFill>
                  <a:srgbClr val="C9D9F2"/>
                </a:solidFill>
                <a:latin typeface="Microsoft YaHei"/>
                <a:ea typeface="Microsoft YaHei"/>
              </a:rPr>
              <a:t>提交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381000" y="3981450"/>
            <a:ext cx="36576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8" name=""/>
          <p:cNvSpPr/>
          <p:nvPr/>
        </p:nvSpPr>
        <p:spPr>
          <a:xfrm rot="0" flipH="0" flipV="0">
            <a:off x="381000" y="3943350"/>
            <a:ext cx="3657600" cy="2038350"/>
          </a:xfrm>
          <a:custGeom>
            <a:pathLst>
              <a:path w="384" h="21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590550" y="4171950"/>
            <a:ext cx="3238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6953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1009650" y="419100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可验证是最小单位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590550" y="459105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切到什么粒度算够？切到你能验证出来为止。验证不了，就再切一刀。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4267200" y="3981450"/>
            <a:ext cx="36576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04" name=""/>
          <p:cNvSpPr/>
          <p:nvPr/>
        </p:nvSpPr>
        <p:spPr>
          <a:xfrm rot="0" flipH="0" flipV="0">
            <a:off x="4267200" y="3943350"/>
            <a:ext cx="3657600" cy="2038350"/>
          </a:xfrm>
          <a:custGeom>
            <a:pathLst>
              <a:path w="384" h="21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4476750" y="4171950"/>
            <a:ext cx="323850" cy="3238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5815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895850" y="4191000"/>
            <a:ext cx="16668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验证通过才提交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476750" y="4591050"/>
            <a:ext cx="3238500" cy="1085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没验证就提交，等于把问题攒到后面一起爆，最后谁也说不清是哪一步错的。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153400" y="3981450"/>
            <a:ext cx="365760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8153400" y="3943350"/>
            <a:ext cx="3657600" cy="2038350"/>
          </a:xfrm>
          <a:custGeom>
            <a:pathLst>
              <a:path w="384" h="214">
                <a:moveTo>
                  <a:pt x="0" y="0"/>
                </a:moveTo>
                <a:lnTo>
                  <a:pt x="384" y="0"/>
                </a:lnTo>
                <a:lnTo>
                  <a:pt x="384" y="4"/>
                </a:lnTo>
                <a:lnTo>
                  <a:pt x="0" y="4"/>
                </a:lnTo>
                <a:close/>
              </a:path>
            </a:pathLst>
          </a:cu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1" name=""/>
          <p:cNvSpPr/>
          <p:nvPr/>
        </p:nvSpPr>
        <p:spPr>
          <a:xfrm rot="0" flipH="0" flipV="0">
            <a:off x="8362950" y="4171950"/>
            <a:ext cx="323850" cy="3238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467725" y="4229100"/>
            <a:ext cx="114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8782050" y="4191000"/>
            <a:ext cx="19050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A2230"/>
                </a:solidFill>
                <a:latin typeface="Microsoft YaHei"/>
                <a:ea typeface="Microsoft YaHei"/>
              </a:rPr>
              <a:t>回滚代价就是一步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8362950" y="4591050"/>
            <a:ext cx="32385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哪怕最后一步出问题，回滚的代价也只有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这一步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，前面走过的都还在。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17" name="" descr="&lt;Slide&#10;  notes={`作业两项。&#10;&#10;第一，按功能点清单完成主线功能并提交，至少 3 个功能点。&#10;&#10;第二，写 300 字《本组最难 bug 与 AI 修复实录》，写清四件事：bug 是什么、你怎么给 AI 描述、AI 怎么修的、你从中学到什么。&#10;&#10;这个作业每周都有一篇，期末装订成你们的《AI 协作开发日志》，是答辩的重要素材。`}&#10;  style={{ width: '1280px', height: '720px', background: '#FFFFFF', padding: '0px' }}&#10;&gt;&#10;  &lt;Box style={{ width: '1280px', height: '72px', background: '#0E3F8C', flexDirection: 'row', alignItems: 'center', justifyContent: 'space-between', padding: '0px 40px' }}&gt;&#10;    &lt;Text style={{ fontSize: 20, color: '#FFFFFF', fontWeight: 'bold' }}&gt;03 实操与作业 · 作业布置&lt;/Text&gt;&#10;    &lt;Text style={{ fontSize: 16, color: '#C9D9F2' }}&gt;医院信息系统实验 · 第 5 课&lt;/Text&gt;&#10;  &lt;/Box&gt;&#10;&#10;  &lt;Box style={{ width: '1280px', height: '552px', padding: '24px 40px 0px 40px' }}&gt;&#10;    &lt;Box style={{ height: '48px', flexDirection: 'row', alignItems: 'center', gap: 14 }}&gt;&#10;      &lt;Box style={{ width: 6, height: 34, background: '#1E4FA8' }} /&gt;&#10;      &lt;Text style={{ fontSize: 36, color: '#1A2230', fontWeight: 'bold' }}&gt;作业两项&lt;/Text&gt;&#10;      &lt;Text style={{ fontSize: 22, color: '#8B97A8' }}&gt;一份代码 + 一篇实录&lt;/Text&gt;&#10;    &lt;/Box&gt;&#10;&#10;    &lt;Box style={{ height: '14px' }} /&gt;&#10;&#10;    &lt;svg width={1200} height={180} viewBox='0 0 1200 180'&gt;&#10;      &lt;rect x='0' y='36' width='560' height='104' rx='8' fill='#FFFFFF' stroke='#3D7BD9' strokeWidth='3' /&gt;&#10;      &lt;circle cx='44' cy='88' r='22' fill='#3D7BD9' /&gt;&#10;      &lt;text x='44' y='89' text-anchor='middle' dominant-baseline='central' font-size='21' font-weight='bold' fill='#FFFFFF'&gt;1&lt;/text&gt;&#10;      &lt;text x='80' y='82' font-size='24' font-weight='bold' fill='#1A2230'&gt;完成主线功能并提交&lt;/text&gt;&#10;      &lt;text x='80' y='114' font-size='18' fill='#4A5568'&gt;按功能点清单推进，至少 3 个功能点，每步验证 + 提交&lt;/text&gt;&#10;&#10;      &lt;path d='M568 88 L632 88' stroke='#1E4FA8' strokeWidth='3' /&gt;&#10;      &lt;polygon points='632,88 620,81 620,95' fill='#1E4FA8' /&gt;&#10;&#10;      &lt;rect x='640' y='36' width='560' height='104' rx='8' fill='#1E4FA8' /&gt;&#10;      &lt;circle cx='684' cy='88' r='22' fill='#FFFFFF' /&gt;&#10;      &lt;text x='684' y='89' text-anchor='middle' dominant-baseline='central' font-size='21' font-weight='bold' fill='#1E4FA8'&gt;2&lt;/text&gt;&#10;      &lt;text x='720' y='82' font-size='24' font-weight='bold' fill='#FFFFFF'&gt;300 字 bug 与 AI 修复实录&lt;/text&gt;&#10;      &lt;text x='720' y='114' font-size='18' fill='#C9D9F2'&gt;bug 是什么 · 你怎么描述 · AI 怎么修 · 你学到什么&lt;/text&gt;&#10;&#10;      &lt;path d='M40 162 L1160 162' stroke='#D6DCE5' strokeWidth='2' strokeDasharray='6 5' /&gt;&#10;      &lt;rect x='400' y='146' width='400' height='32' rx='4' fill='#FFFFFF' /&gt;&#10;      &lt;text x='600' y='168' text-anchor='middle' font-size='18' fill='#1E4FA8'&gt;每周一篇实录 · 期末装订成《AI 协作开发日志》&lt;/text&gt;&#10;    &lt;/svg&gt;&#10;&#10;    &lt;Box style={{ height: '16px' }} /&gt;&#10;&#10;    &lt;Box style={{ height: '210px', flexDirection: 'row', gap: 24 }}&gt;&#10;      &lt;Box style={{ width: '590px', background: '#F7F9FC', border: '1px solid #D6DCE5', borderTop: '4px solid #3D7BD9', padding: '18px 22px', gap: 10 }}&gt;&#10;        &lt;Text style={{ fontSize: 26, color: '#1A2230', fontWeight: 'bold' }}&gt;作业 ① · 代码验收标准&lt;/Text&gt;&#10;        &lt;Text style={{ fontSize: 21, color: '#4A5568', lineHeight: 1.5 }}&gt;&#10;          按《功能点清单》完成&lt;span style={{ fontWeight: 'bold', color: '#1E4FA8' }}&gt;主线功能并提交，至少 3 个功能点&lt;/span&gt;。&#10;        &lt;/Text&gt;&#10;        &lt;Text style={{ fontSize: 20, color: '#4A5568', lineHeight: 1.5 }}&gt;&#10;          按三步走推进，每步验证 + 提交，做完 3 个才算达标。&#10;        &lt;/Text&gt;&#10;      &lt;/Box&gt;&#10;&#10;      &lt;Box style={{ width: '586px', background: '#F7F9FC', border: '1px solid #D6DCE5', borderTop: '4px solid #1E4FA8', padding: '18px 22px', gap: 10 }}&gt;&#10;        &lt;Text style={{ fontSize: 26, color: '#1A2230', fontWeight: 'bold' }}&gt;作业 ② · 实录四要素&lt;/Text&gt;&#10;        &lt;Text style={{ fontSize: 21, color: '#4A5568', lineHeight: 1.5 }}&gt;&#10;          写 300 字《本组最难 bug 与 AI 修复实录》：&lt;span style={{ fontWeight: 'bold', color: '#1E4FA8' }}&gt;bug 是什么、你怎么给 AI 描述、AI 怎么修的、你从中学到什么&lt;/span&gt;。&#10;        &lt;/Text&gt;&#10;        &lt;Text style={{ fontSize: 20, color: '#4A5568', lineHeight: 1.5 }}&gt;&#10;          每周一篇，期末装订成册，是答辩的重要素材。&#10;        &lt;/Text&gt;&#10;      &lt;/Box&gt;&#10;    &lt;/Box&gt;&#10;&#10;    &lt;Box style={{ height: '12px' }} /&gt;&#10;&#10;    &lt;Box style={{ height: '46px', background: '#1E4FA8', flexDirection: 'row', alignItems: 'center', padding: '0px 20px', gap: 12 }}&gt;&#10;      &lt;Box style={{ width: 6, height: 6, background: '#FFC107' }} /&gt;&#10;      &lt;Text style={{ fontSize: 22, color: '#FFFFFF', fontWeight: 'bold' }}&gt;这项作业每周都有一篇，期末装订成《AI 协作开发日志》，是答辩的重要素材&lt;/Text&gt;&#10;    &lt;/Box&gt;&#10;  &lt;/Box&gt;&#10;&#10;  &lt;Box style={{ width: '1280px', height: '96px', flexDirection: 'row', alignItems: 'center', justifyContent: 'space-between', padding: '0px 40px' }}&gt;&#10;    &lt;Text style={{ fontSize: 14, color: '#8B97A8' }}&gt;湖南中医药大学 · 医院信息系统实验&lt;/Text&gt;&#10;    &lt;Text style={{ fontSize: 14, color: '#1E4FA8', fontWeight: 'bold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9" name=""/>
          <p:cNvSpPr/>
          <p:nvPr/>
        </p:nvSpPr>
        <p:spPr>
          <a:xfrm rot="0" flipH="0" flipV="0">
            <a:off x="0" y="0"/>
            <a:ext cx="12192000" cy="6858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2209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03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实操与作业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 · </a:t>
            </a: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作业布置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9972675" y="247650"/>
            <a:ext cx="18383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医院信息系统实验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2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2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381000" y="981075"/>
            <a:ext cx="57150" cy="3238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71500" y="933450"/>
            <a:ext cx="13716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A2230"/>
                </a:solidFill>
                <a:latin typeface="Microsoft YaHei"/>
                <a:ea typeface="Microsoft YaHei"/>
              </a:rPr>
              <a:t>作业两项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2076450" y="1019175"/>
            <a:ext cx="19621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一份代码</a:t>
            </a:r>
            <a:r>
              <a:rPr lang="en-US" sz="1650">
                <a:solidFill>
                  <a:srgbClr val="8B97A8"/>
                </a:solidFill>
                <a:latin typeface="Microsoft YaHei"/>
                <a:ea typeface="Microsoft YaHei"/>
              </a:rPr>
              <a:t> + </a:t>
            </a:r>
            <a:r>
              <a:rPr lang="zh-CN" sz="1650">
                <a:solidFill>
                  <a:srgbClr val="8B97A8"/>
                </a:solidFill>
                <a:latin typeface="Microsoft YaHei"/>
                <a:ea typeface="Microsoft YaHei"/>
              </a:rPr>
              <a:t>一篇实录</a:t>
            </a:r>
            <a:endParaRPr/>
          </a:p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1504950"/>
            <a:ext cx="11430000" cy="1714500"/>
          </a:xfrm>
          <a:prstGeom prst="rect">
            <a:avLst/>
          </a:prstGeom>
          <a:ln/>
        </p:spPr>
      </p:pic>
      <p:sp>
        <p:nvSpPr>
          <p:cNvPr id="126" name=""/>
          <p:cNvSpPr/>
          <p:nvPr/>
        </p:nvSpPr>
        <p:spPr>
          <a:xfrm rot="0" flipH="0" flipV="0">
            <a:off x="381000" y="3409950"/>
            <a:ext cx="561975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7" name=""/>
          <p:cNvSpPr/>
          <p:nvPr/>
        </p:nvSpPr>
        <p:spPr>
          <a:xfrm rot="0" flipH="0" flipV="0">
            <a:off x="381000" y="3371850"/>
            <a:ext cx="5619750" cy="2038350"/>
          </a:xfrm>
          <a:custGeom>
            <a:pathLst>
              <a:path w="590" h="214">
                <a:moveTo>
                  <a:pt x="0" y="0"/>
                </a:moveTo>
                <a:lnTo>
                  <a:pt x="590" y="0"/>
                </a:lnTo>
                <a:lnTo>
                  <a:pt x="590" y="4"/>
                </a:lnTo>
                <a:lnTo>
                  <a:pt x="0" y="4"/>
                </a:lnTo>
                <a:close/>
              </a:path>
            </a:pathLst>
          </a:custGeom>
          <a:solidFill>
            <a:srgbClr val="3D7BD9"/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90550" y="3581400"/>
            <a:ext cx="5200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作业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①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代码验收标准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90550" y="3981450"/>
            <a:ext cx="52006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按《功能点清单》完成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主线功能并提交，至少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3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个功能点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90550" y="4800600"/>
            <a:ext cx="52006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按三步走推进，每步验证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提交，做完</a:t>
            </a:r>
            <a:r>
              <a:rPr lang="en-US" sz="1500">
                <a:solidFill>
                  <a:srgbClr val="4A5568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个才算达标。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229350" y="3409950"/>
            <a:ext cx="5581650" cy="200025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229350" y="3371850"/>
            <a:ext cx="5581650" cy="2038350"/>
          </a:xfrm>
          <a:custGeom>
            <a:pathLst>
              <a:path w="586" h="214">
                <a:moveTo>
                  <a:pt x="0" y="0"/>
                </a:moveTo>
                <a:lnTo>
                  <a:pt x="586" y="0"/>
                </a:lnTo>
                <a:lnTo>
                  <a:pt x="586" y="4"/>
                </a:lnTo>
                <a:lnTo>
                  <a:pt x="0" y="4"/>
                </a:lnTo>
                <a:close/>
              </a:path>
            </a:pathLst>
          </a:cu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6438900" y="3581400"/>
            <a:ext cx="5162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作业</a:t>
            </a:r>
            <a:r>
              <a:rPr lang="en-US" sz="1950" b="1">
                <a:solidFill>
                  <a:srgbClr val="1A2230"/>
                </a:solidFill>
                <a:latin typeface="Microsoft YaHei"/>
                <a:ea typeface="Microsoft YaHei"/>
              </a:rPr>
              <a:t> ② · </a:t>
            </a:r>
            <a:r>
              <a:rPr lang="zh-CN" sz="1950" b="1">
                <a:solidFill>
                  <a:srgbClr val="1A2230"/>
                </a:solidFill>
                <a:latin typeface="Microsoft YaHei"/>
                <a:ea typeface="Microsoft YaHei"/>
              </a:rPr>
              <a:t>实录四要素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438900" y="3981450"/>
            <a:ext cx="516255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写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300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字《本组最难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bug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与</a:t>
            </a:r>
            <a:r>
              <a:rPr lang="en-US" sz="1575">
                <a:solidFill>
                  <a:srgbClr val="4A5568"/>
                </a:solidFill>
                <a:latin typeface="Microsoft YaHei"/>
                <a:ea typeface="Microsoft YaHei"/>
              </a:rPr>
              <a:t> AI 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修复实录》：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bug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是什么、你怎么给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 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描述、</a:t>
            </a:r>
            <a:r>
              <a:rPr lang="en-US" sz="1575" b="1">
                <a:solidFill>
                  <a:srgbClr val="1E4FA8"/>
                </a:solidFill>
                <a:latin typeface="Microsoft YaHei"/>
                <a:ea typeface="Microsoft YaHei"/>
              </a:rPr>
              <a:t>AI </a:t>
            </a:r>
            <a:r>
              <a:rPr lang="zh-CN" sz="1575" b="1">
                <a:solidFill>
                  <a:srgbClr val="1E4FA8"/>
                </a:solidFill>
                <a:latin typeface="Microsoft YaHei"/>
                <a:ea typeface="Microsoft YaHei"/>
              </a:rPr>
              <a:t>怎么修的、你从中学到什么</a:t>
            </a:r>
            <a:r>
              <a:rPr lang="zh-CN" sz="1575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438900" y="4800600"/>
            <a:ext cx="516255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4A5568"/>
                </a:solidFill>
                <a:latin typeface="Microsoft YaHei"/>
                <a:ea typeface="Microsoft YaHei"/>
              </a:rPr>
              <a:t>每周一篇，期末装订成册，是答辩的重要素材。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381000" y="5486400"/>
            <a:ext cx="11430000" cy="43815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37" name=""/>
          <p:cNvSpPr/>
          <p:nvPr/>
        </p:nvSpPr>
        <p:spPr>
          <a:xfrm rot="0" flipH="0" flipV="0">
            <a:off x="571500" y="5676900"/>
            <a:ext cx="57150" cy="571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42950" y="5581650"/>
            <a:ext cx="7210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这项作业每周都有一篇，期末装订成《</a:t>
            </a:r>
            <a:r>
              <a:rPr lang="en-US" sz="1650" b="1">
                <a:solidFill>
                  <a:srgbClr val="FFFFFF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协作开发日志》，是答辩的重要素材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381000" y="632460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湖南中医药大学</a:t>
            </a:r>
            <a:r>
              <a:rPr lang="en-US" sz="1050">
                <a:solidFill>
                  <a:srgbClr val="8B97A8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8B97A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334750" y="63246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r="http://schemas.openxmlformats.org/officeDocument/2006/relationships" xmlns:a="http://schemas.openxmlformats.org/drawingml/2006/main" xmlns:asvg="http://schemas.microsoft.com/office/drawing/2016/SVG/main" xmlns:mc="http://schemas.openxmlformats.org/markup-compatibility/2006" mc:Ignorable="asvg">
  <p:cSld>
    <p:spTree>
      <p:nvGrpSpPr>
        <p:cNvPr id="141" name="" descr="&lt;Slide&#10;  notes={`今天就到这里。&#10;&#10;主线功能通了，你们的系统就有了骨架。下周我们把业务闭环打通，让数据真正跑起来。&#10;&#10;下节课是第 6 课，药房与收费模块开发，走一条完整的链：处方、划价、收费、扣库存、发药。&#10;&#10;回去先把今天的 3 个功能点提交上去，别拖。下课。`}&#10;  style={{ width: '1280px', height: '720px', background: '#0E3F8C', padding: '0px', position: 'relative' }}&#10;&gt;&#10;  &lt;svg width={640} height={720} viewBox='0 0 640 720' style={{ position: 'absolute', top: 0, right: 0 }}&gt;&#10;    &lt;path d='M0 720 L640 720 L640 220 Z' fill='#1E4FA8' opacity='0.5' /&gt;&#10;    &lt;rect x='330' y='300' width='240' height='8' rx='4' fill='#FFFFFF' opacity='0.15' /&gt;&#10;    &lt;rect x='330' y='330' width='170' height='8' rx='4' fill='#FFFFFF' opacity='0.12' /&gt;&#10;    &lt;rect x='330' y='360' width='280' height='8' rx='4' fill='#FFFFFF' opacity='0.15' /&gt;&#10;    &lt;rect x='330' y='560' width='220' height='8' rx='4' fill='#FFFFFF' opacity='0.14' /&gt;&#10;    &lt;rect x='330' y='590' width='150' height='8' rx='4' fill='#FFFFFF' opacity='0.11' /&gt;&#10;    &lt;rect x='330' y='620' width='260' height='8' rx='4' fill='#FFFFFF' opacity='0.14' /&gt;&#10;  &lt;/svg&gt;&#10;&#10;  &lt;Box style={{ width: '1280px', height: '720px', padding: '76px 40px 64px 64px', justifyContent: 'space-between', position: 'relative', zIndex: 2 }}&gt;&#10;    &lt;Box style={{ gap: 16 }}&gt;&#10;      &lt;Box style={{ flexDirection: 'row', alignItems: 'center', gap: 14 }}&gt;&#10;        &lt;Box style={{ width: 6, height: 26, background: '#FFC107' }} /&gt;&#10;        &lt;Text style={{ fontSize: 20, color: '#C9D9F2' }}&gt;第 5 课 · 小结&lt;/Text&gt;&#10;      &lt;/Box&gt;&#10;      &lt;Text style={{ fontSize: 58, color: '#FFFFFF', fontWeight: 'bold', lineHeight: 1.25 }}&gt;主线已通&lt;br /&gt;下周打通业务闭环&lt;/Text&gt;&#10;    &lt;/Box&gt;&#10;&#10;    &lt;Box style={{ width: '560px', gap: 14 }}&gt;&#10;      &lt;Box style={{ height: 2, background: '#3D7BD9' }} /&gt;&#10;      &lt;Text style={{ fontSize: 26, color: '#C9D9F2', lineHeight: 1.5 }}&gt;下节课预告&lt;/Text&gt;&#10;      &lt;Text style={{ fontSize: 38, color: '#FFFFFF', fontWeight: 'bold', lineHeight: 1.3 }}&gt;第 6 课 药房与收费模块开发&lt;/Text&gt;&#10;      &lt;Text style={{ fontSize: 22, color: '#8FAED8', lineHeight: 1.5 }}&gt;处方 → 划价 → 收费 → 扣库存 → 发药&lt;/Text&gt;&#10;    &lt;/Box&gt;&#10;&#10;    &lt;Box style={{ flexDirection: 'row', alignItems: 'center', gap: 20 }}&gt;&#10;      &lt;Text style={{ fontSize: 18, color: '#8FAED8' }}&gt;湖南中医药大学&lt;/Text&gt;&#10;      &lt;Box style={{ width: 1, height: 20, background: '#4A6FA8' }} /&gt;&#10;      &lt;Text style={{ fontSize: 18, color: '#8FAED8' }}&gt;医院信息系统实验&lt;/Text&gt;&#10;      &lt;Box style={{ width: 1, height: 20, background: '#4A6FA8' }} /&gt;&#10;      &lt;Text style={{ fontSize: 18, color: '#8FAED8' }}&gt;2026 年秋季学期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pic>
        <p:nvPicPr>
          <p:cNvPr id="14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0" y="0"/>
            <a:ext cx="6096000" cy="6858000"/>
          </a:xfrm>
          <a:prstGeom prst="rect">
            <a:avLst/>
          </a:prstGeom>
          <a:ln/>
        </p:spPr>
      </p:pic>
      <p:sp>
        <p:nvSpPr>
          <p:cNvPr id="144" name=""/>
          <p:cNvSpPr/>
          <p:nvPr/>
        </p:nvSpPr>
        <p:spPr>
          <a:xfrm rot="0" flipH="0" flipV="0">
            <a:off x="609600" y="723900"/>
            <a:ext cx="57150" cy="24765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00100" y="733425"/>
            <a:ext cx="11525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第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5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课</a:t>
            </a:r>
            <a:r>
              <a:rPr lang="en-US" sz="1500">
                <a:solidFill>
                  <a:srgbClr val="C9D9F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C9D9F2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1123950"/>
            <a:ext cx="11201400" cy="1657350"/>
          </a:xfrm>
          <a:prstGeom prst="rect"/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主线已通</a:t>
            </a:r>
            <a:endParaRPr/>
          </a:p>
          <a:p>
            <a:pPr>
              <a:lnSpc>
                <a:spcPct val="125000"/>
              </a:lnSpc>
            </a:pPr>
            <a:r>
              <a:rPr lang="zh-CN" sz="4350" b="1">
                <a:solidFill>
                  <a:srgbClr val="FFFFFF"/>
                </a:solidFill>
                <a:latin typeface="Microsoft YaHei"/>
                <a:ea typeface="Microsoft YaHei"/>
              </a:rPr>
              <a:t>下周打通业务闭环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3505200"/>
            <a:ext cx="5334000" cy="19050"/>
          </a:xfrm>
          <a:prstGeom prst="rect">
            <a:avLst/>
          </a:prstGeom>
          <a:solidFill>
            <a:srgbClr val="3D7BD9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09600" y="3657600"/>
            <a:ext cx="5334000" cy="447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>
                <a:solidFill>
                  <a:srgbClr val="C9D9F2"/>
                </a:solidFill>
                <a:latin typeface="Microsoft YaHei"/>
                <a:ea typeface="Microsoft YaHei"/>
              </a:rPr>
              <a:t>下节课预告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09600" y="4238625"/>
            <a:ext cx="5334000" cy="571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6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课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>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药房与收费模块开发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609600" y="4943475"/>
            <a:ext cx="53340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处方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划价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收费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扣库存</a:t>
            </a:r>
            <a:r>
              <a:rPr lang="en-US" sz="1650">
                <a:solidFill>
                  <a:srgbClr val="8FAED8"/>
                </a:solidFill>
                <a:latin typeface="Microsoft YaHei"/>
                <a:ea typeface="Microsoft YaHei"/>
              </a:rPr>
              <a:t> → </a:t>
            </a:r>
            <a:r>
              <a:rPr lang="zh-CN" sz="1650">
                <a:solidFill>
                  <a:srgbClr val="8FAED8"/>
                </a:solidFill>
                <a:latin typeface="Microsoft YaHei"/>
                <a:ea typeface="Microsoft YaHei"/>
              </a:rPr>
              <a:t>发药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609600" y="6038850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湖南中医药大学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2000250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200275" y="6038850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医院信息系统实验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3762375" y="6048375"/>
            <a:ext cx="9525" cy="190500"/>
          </a:xfrm>
          <a:prstGeom prst="rect">
            <a:avLst/>
          </a:prstGeom>
          <a:solidFill>
            <a:srgbClr val="4A6FA8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3962400" y="603885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8FAED8"/>
                </a:solidFill>
                <a:latin typeface="Microsoft YaHei"/>
                <a:ea typeface="Microsoft YaHei"/>
              </a:rPr>
              <a:t>2026 </a:t>
            </a:r>
            <a:r>
              <a:rPr lang="zh-CN" sz="1350">
                <a:solidFill>
                  <a:srgbClr val="8FAED8"/>
                </a:solidFill>
                <a:latin typeface="Microsoft YaHei"/>
                <a:ea typeface="Microsoft YaHei"/>
              </a:rPr>
              <a:t>年秋季学期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2026-09-02T00:37:34Z</dcterms:created>
  <dcterms:modified xsi:type="dcterms:W3CDTF">2026-09-02T00:37:34Z</dcterms:modified>
</cp:coreProperties>
</file>
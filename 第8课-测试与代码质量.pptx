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上节课我们给系统做了&amp;quot;体检&amp;quot;，也就是安全审查。这节课学的是&amp;quot;日常体检&amp;quot;——测试。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我先讲个真实翻车案例。某团队用 AI 快速开发了一个系统，上线前人工检查觉得&amp;quot;功能都正常&amp;quot;。结果上线第二天，用户发现库存扣减在并发场景下会算错：两个人同时买最后一件药品，系统让两个人都成功了。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为什么人工检查没发现？因为人工检查只测了正常路径，没测&amp;quot;同时发生&amp;quot;。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今天这节课分三段走。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第一段，我用一个真实翻车案例开头，把测试金字塔讲清楚：单元测试、API 测试、端到端测试，三层分别测什么、各写多少。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第二段，我演示 AI 辅助的 TDD 怎么玩，再演示一遍 AI Code Review，你们看清提示词怎么写、报告怎么读。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第三段，你们自己动手，把三层测试各写一组，有问题我现场答，最后布置作业。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我们先看这个翻车案例的根因。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测试分三层，从下往上，越往下越便宜、越要写得多。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但在讲三层之前，我要你们先记住一句话：人工检查只测了正常路径，没测&amp;quot;同时发生&amp;quot;。AI 写的代码有个特点——正常路径很漂亮，边界条件靠运气。它不会主动想到&amp;quot;库存只剩 1 件时两个人同时来买&amp;quot;。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某团队用 AI 快速开发了一个系统，上线前人工检查，觉得功能都正常。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结果上线第二天，用户发现库存扣减在并发场景下会算错——两个人同时买最后一件药品，系统让两个人都成功了。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为什么人工检查没发现？因为人工检查只测了正常路径，没测&amp;quot;同时发生&amp;quot;。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所以我们的结论是：AI 写的代码，正常路径很漂亮，边界条件靠运气。测试不是加分项，是生产级的及格线。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测试分三层，从下往上，越往下越便宜、越要写得多。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第一层，单元测试。测一个函数、一个模块。比如划价计算，数量乘以单价，边界情况是数量为 0、单价为 0。再比如号源扣减：剩余 1 个时再挂一个号，必须失败。单元测试快、好写，是数量最多的一层。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第二层，API 测试。测接口，发请求看响应。FastAPI 自带 TestClient，写起来非常快。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第三层，端到端测试，也就是 E2E。模拟真实用户操作浏览器。我们用 Playwright，它能录制你的操作自动生成脚本。E2E 最接近真实，但最慢、最脆，所以只覆盖主流程。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三层各测什么，我给你们具体到能直接动手的例子。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单元测试：测一个函数。划价计算，数量乘以单价；号源扣减，剩余 1 个时再挂一个号，必须失败。边界情况是数量为 0、单价为 0。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API 测试：测接口。挂号正常返回排队号、号源不足返回 409、未登录返回 401。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端到端测试：模拟真实用户操作浏览器，登录、挂号、收费、发药，用 Playwright 跑一遍主流程。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三层讲完了，接下来是怎么干。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这一章我讲两件事：一个是 AI 辅助的 TDD，先写测试再写实现；一个是 AI Code Review，用 AI 给 AI 写的代码挑毛病。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先说 TDD。它的妙处在于：测试是需求的可执行版本。你先把&amp;quot;什么算对&amp;quot;写成测试，AI 按测试写代码，跑偏的概率就大大降低了。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今天还要学一个工作流：AI 辅助的 TDD。TDD 就是先写测试，再写实现。用 AI 怎么玩？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第一步，让 AI 生成测试。提示词就这一句：为划价函数写单元测试，覆盖正常、边界、异常。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第二步，跑测试。此时实现还没写，所以测试是红的，也就是失败。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第三步，让 AI 写实现，一直写到测试变绿。这个流程的妙处在于，测试是需求的可执行版本，AI 按测试写代码，跑偏的概率就大大降低了。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再看 Code Review。提示词是这样写的：请审查最近 5 次提交的代码，重点看错误处理是否完整、是否有重复代码、事务使用是否正确、命名是否清晰，输出问题列表加修改建议，按严重程度排序。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注意，Code Review 的意义不是找茬，是第二双眼睛。AI 写代码、AI 审查、你复核，这是三道防线。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我要强调一句：审查报告的结论必须你签字。出事了是你的责任，不是 AI 的。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现在轮到你们，目标是三层测试至少各写一组。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第一，划价、扣库存、挂号事务三个函数，要有单元测试。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第二，挂号、收费两个接口，要有 API 测试。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第三，一条 E2E 主流程：登录、挂号、收费、发药，用 Playwright 跑通。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跑完之后，把 pytest 全绿的截图发到群里。做完的组做加分项：把覆盖率报告跑出来，目标 70% 以上，让 AI 帮你补没覆盖到的分支。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实操就到这里。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最后一段，我把你们最常问的三个问题一次答清楚：测试写这么多时间够不够、E2E 为什么时好时坏、覆盖率 100% 是不是就等于好测试。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然后布置今天的作业，一共两项，验收标准我一会说清楚。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记住一句话：审查报告的结论必须你签字。出事了是你的责任，不是 AI 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你们问得最多的有三个问题，我一起答。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第一，&amp;quot;测试写这么多，开发时间不够怎么办？&amp;quot;让 AI 写测试，你只负责定测什么。测试清单是你定的，代码是 AI 写的，速度不会慢。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第二，&amp;quot;E2E 测试老是时好时坏？&amp;quot;正常，E2E 天生脆弱。规则是：只测主流程，跑挂先看是不是环境问题，比如数据库状态、端口，再怀疑代码。排查方法让 AI 帮你找。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第三，&amp;quot;覆盖率 100% 就是好测试吗？&amp;quot;不是。覆盖率是手段不是目标，测了不等于测对。关键路径可信，比覆盖率数字重要。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请记住今天这句话：测试不是加分项，是生产级的及格线。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为什么？因为 AI 写的代码有个特点——正常路径很漂亮，边界条件靠运气。它不会主动想到&amp;quot;库存只剩 1 件时两个人同时来买&amp;quot;。所以 AI 写的代码，更需要测试。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还有一点：不要被覆盖率数字骗了。覆盖率高不代表测对了。钱、库存、号源这几条关键路径可信，比任何百分比都重要。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作业两项。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第一，三层测试落地。单元测试、API 测试、E2E 各写一组，把 pytest 或 vitest 全绿的截图交上来。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第二，AI Code Review 报告。至少发现 3 个真实问题并修复，报告里要写清&amp;quot;AI 发现、人工确认、修复方式&amp;quot;这三步。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这两份东西，期末验收我会现场跑测试，跑挂的组直接扣质量分。所以别只交截图，得真能跑。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回去把三层测试补齐，覆盖率往 70% 以上冲，AI Code Review 报告别拖到交作业前一晚——真实问题要靠时间跑出来。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记住今天这句话：AI 负责写，你们负责测。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下节课我们讲部署与运维，把系统真正放到服务器上去跑。下课。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2" Type="http://schemas.openxmlformats.org/officeDocument/2006/relationships/image" Target="media/image8.svg"/><Relationship Id="rId3" Type="http://schemas.openxmlformats.org/officeDocument/2006/relationships/image" Target="media/image9.sv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上节课我们给系统做了&quot;体检&quot;，也就是安全审查。这节课学的是&quot;日常体检&quot;——测试。&#10;&#10;我先讲个真实翻车案例。某团队用 AI 快速开发了一个系统，上线前人工检查觉得&quot;功能都正常&quot;。结果上线第二天，用户发现库存扣减在并发场景下会算错：两个人同时买最后一件药品，系统让两个人都成功了。&#10;&#10;为什么人工检查没发现？因为人工检查只测了正常路径，没测&quot;同时发生&quot;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20 0 L560 0 L560 720 L300 720 Z' fill='#1E4FA8' opacity='0.55' /&gt;&#10;    &lt;rect x='190' y='120' width='240' height='10' rx='5' fill='#FFFFFF' opacity='0.16' /&gt;&#10;    &lt;rect x='190' y='150' width='170' height='10' rx='5' fill='#FFFFFF' opacity='0.13' /&gt;&#10;    &lt;rect x='210' y='180' width='280' height='10' rx='5' fill='#FFFFFF' opacity='0.16' /&gt;&#10;    &lt;rect x='210' y='210' width='150' height='10' rx='5' fill='#FFC107' opacity='0.45' /&gt;&#10;    &lt;rect x='210' y='240' width='230' height='10' rx='5' fill='#FFFFFF' opacity='0.13' /&gt;&#10;    &lt;rect x='190' y='270' width='200' height='10' rx='5' fill='#FFFFFF' opacity='0.16' /&gt;&#10;    &lt;rect x='190' y='330' width='260' height='10' rx='5' fill='#FFFFFF' opacity='0.13' /&gt;&#10;    &lt;rect x='210' y='360' width='160' height='10' rx='5' fill='#FFFFFF' opacity='0.16' /&gt;&#10;    &lt;rect x='210' y='390' width='290' height='10' rx='5' fill='#FFFFFF' opacity='0.13' /&gt;&#10;    &lt;rect x='210' y='420' width='130' height='10' rx='5' fill='#3D7BD9' opacity='0.7' /&gt;&#10;    &lt;rect x='190' y='450' width='210' height='10' rx='5' fill='#FFFFFF' opacity='0.16' /&gt;&#10;    &lt;rect x='190' y='510' width='180' height='10' rx='5' fill='#FFFFFF' opacity='0.13' /&gt;&#10;    &lt;rect x='210' y='540' width='270' height='10' rx='5' fill='#FFFFFF' opacity='0.16' /&gt;&#10;    &lt;rect x='190' y='570' width='190' height='10' rx='5' fill='#FFFFFF' opacity='0.13' /&gt;&#10;    &lt;circle cx='470' cy='610' r='62' fill='#FFFFFF' opacity='0.10' /&gt;&#10;    &lt;path d='M436 610 l24 24 l66 -66' fill='none' stroke='#FFC107' strokeWidth='12' strokeLinecap='round' strokeLinejoin='round' opacity='0.85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第 8 课&lt;/Text&gt;&#10;        &lt;/Box&gt;&#10;        &lt;Text style={{ fontSize: 22, color: '#9FBEE6' }}&gt;Testing &amp;amp; Code Quality&lt;/Text&gt;&#10;      &lt;/Box&gt;&#10;      &lt;Text style={{ fontSize: 62, color: '#FFFFFF', fontWeight: 'bold', lineHeight: 1.2 }}&gt;测试与代码质量&lt;/Text&gt;&#10;      &lt;Text style={{ fontSize: 30, color: '#C9D9F2', lineHeight: 1.4 }}&gt;AI 写的代码，更需要测试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295525"/>
            <a:ext cx="981075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67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8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724025" y="2352675"/>
            <a:ext cx="2324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Testing &amp; Code Quality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11201400" cy="8572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测试与代码质量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AI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写的代码，更需要测试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63867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7623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962400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65" name="" descr="&lt;Slide&#10;  notes={`今天这节课分三段走。&#10;&#10;第一段，我用一个真实翻车案例开头，把测试金字塔讲清楚：单元测试、API 测试、端到端测试，三层分别测什么、各写多少。&#10;&#10;第二段，我演示 AI 辅助的 TDD 怎么玩，再演示一遍 AI Code Review，你们看清提示词怎么写、报告怎么读。&#10;&#10;第三段，你们自己动手，把三层测试各写一组，有问题我现场答，最后布置作业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节课路线图&lt;/Text&gt;&#10;    &lt;Text style={{ fontSize: 16, color: '#C9D9F2' }}&gt;医院信息系统实验 · 第 8 课&lt;/Text&gt;&#10;  &lt;/Box&gt;&#10;&#10;  &lt;Box style={{ width: '1280px', height: '552px', flexDirection: 'row', padding: '24px 40px 0px 40px', gap: 30 }}&gt;&#10;    &lt;Box style={{ width: '380px', height: '528px', background: '#0E3F8C', padding: '36px 32px', justifyContent: 'space-between' }}&gt;&#10;      &lt;Box style={{ gap: 10 }}&gt;&#10;        &lt;Text style={{ fontSize: 76, color: '#FFFFFF', fontWeight: 'bold', lineHeight: 1.1 }}&gt;目录&lt;/Text&gt;&#10;        &lt;Text style={{ fontSize: 18, color: '#7FA3D6', letterSpacing: 2 }}&gt;CONTENTS&lt;/Text&gt;&#10;      &lt;/Box&gt;&#10;      &lt;Box style={{ width: 64, height: 5, background: '#FFC107' }} /&gt;&#10;      &lt;Box style={{ gap: 12 }}&gt;&#10;        &lt;Text style={{ fontSize: 20, color: '#C9D9F2', lineHeight: 1.6 }}&gt;90 分钟&lt;/Text&gt;&#10;        &lt;Text style={{ fontSize: 20, color: '#C9D9F2', lineHeight: 1.6 }}&gt;讲授 30 · 演示 20 · 实操 35&lt;/Text&gt;&#10;      &lt;/Box&gt;&#10;    &lt;/Box&gt;&#10;&#10;    &lt;Box style={{ width: '790px', height: '528px', gap: 18 }}&gt;&#10;      &lt;Box style={{ height: '164px', background: '#F7F9FC', border: '1px solid #D6DCE5', borderLeft: '6px solid #1E4FA8', padding: '22px 26px', gap: 8 }}&gt;&#10;        &lt;Box style={{ flexDirection: 'row', alignItems: 'center', gap: 14 }}&gt;&#10;          &lt;Box style={{ width: 40, height: 40, background: '#1E4FA8', alignItems: 'center', justifyContent: 'center' }}&gt;&#10;            &lt;Text style={{ fontSize: 20, color: '#FFFFFF', fontWeight: 'bold' }}&gt;01&lt;/Text&gt;&#10;          &lt;/Box&gt;&#10;          &lt;Text style={{ fontSize: 28, color: '#1A2230', fontWeight: 'bold' }}&gt;测试金字塔&lt;/Text&gt;&#10;        &lt;/Box&gt;&#10;        &lt;Text style={{ fontSize: 22, color: '#4A5568', lineHeight: 1.45 }}&gt;三层怎么分：单元测试、API 测试、端到端测试，越往下越便宜、越要写得多。&lt;/Text&gt;&#10;      &lt;/Box&gt;&#10;&#10;      &lt;Box style={{ height: '164px', background: '#F7F9FC', border: '1px solid #D6DCE5', borderLeft: '6px solid #3D7BD9', padding: '22px 26px', gap: 8 }}&gt;&#10;        &lt;Box style={{ flexDirection: 'row', alignItems: 'center', gap: 14 }}&gt;&#10;          &lt;Box style={{ width: 40, height: 40, background: '#3D7BD9', alignItems: 'center', justifyContent: 'center' }}&gt;&#10;            &lt;Text style={{ fontSize: 20, color: '#FFFFFF', fontWeight: 'bold' }}&gt;02&lt;/Text&gt;&#10;          &lt;/Box&gt;&#10;          &lt;Text style={{ fontSize: 28, color: '#1A2230', fontWeight: 'bold' }}&gt;三层实战&lt;/Text&gt;&#10;        &lt;/Box&gt;&#10;        &lt;Text style={{ fontSize: 22, color: '#4A5568', lineHeight: 1.45 }}&gt;AI 辅助 TDD 三步走，加上 AI Code Review 的三道防线与审查重点。&lt;/Text&gt;&#10;      &lt;/Box&gt;&#10;&#10;      &lt;Box style={{ height: '164px', background: '#F7F9FC', border: '1px solid #D6DCE5', borderLeft: '6px solid #0E3F8C', padding: '22px 26px', gap: 8 }}&gt;&#10;        &lt;Box style={{ flexDirection: 'row', alignItems: 'center', gap: 14 }}&gt;&#10;          &lt;Box style={{ width: 40, height: 40, background: '#0E3F8C', alignItems: 'center', justifyContent: 'center' }}&gt;&#10;            &lt;Text style={{ fontSize: 20, color: '#FFFFFF', fontWeight: 'bold' }}&gt;03&lt;/Text&gt;&#10;          &lt;/Box&gt;&#10;          &lt;Text style={{ fontSize: 28, color: '#1A2230', fontWeight: 'bold' }}&gt;答疑与作业&lt;/Text&gt;&#10;        &lt;/Box&gt;&#10;        &lt;Text style={{ fontSize: 22, color: '#4A5568', lineHeight: 1.45 }}&gt;回答时间不够、E2E 不稳定、覆盖率三个问题，布置本课两项作业与验收标准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本节课路线图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381000" y="914400"/>
            <a:ext cx="3619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" y="125730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685800" y="3609975"/>
            <a:ext cx="6096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5800" y="4743450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90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685800" y="5229225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讲授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30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演示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20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实操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35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4343400" y="9144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7" name=""/>
          <p:cNvSpPr/>
          <p:nvPr/>
        </p:nvSpPr>
        <p:spPr>
          <a:xfrm rot="0" flipH="0" flipV="0">
            <a:off x="4286250" y="9144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4591050" y="11239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667250" y="12001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105400" y="11525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测试金字塔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4591050" y="158115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三层怎么分：单元测试、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API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测试、端到端测试，越往下越便宜、越要写得多。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343400" y="264795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286250" y="264795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4" name=""/>
          <p:cNvSpPr/>
          <p:nvPr/>
        </p:nvSpPr>
        <p:spPr>
          <a:xfrm rot="0" flipH="0" flipV="0">
            <a:off x="4591050" y="2857500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667250" y="2933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105400" y="2886075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三层实战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4591050" y="331470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辅助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TDD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三步走，加上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Code Review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的三道防线与审查重点。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4343400" y="43815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4286250" y="43815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4591050" y="45910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667250" y="4667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5105400" y="46196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591050" y="5048250"/>
            <a:ext cx="69723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回答时间不够、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E2E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不稳定、覆盖率三个问题，布置本课两项作业与验收标准。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96" name="" descr="&lt;Slide&#10;  notes={`我们先看这个翻车案例的根因。&#10;&#10;测试分三层，从下往上，越往下越便宜、越要写得多。&#10;&#10;但在讲三层之前，我要你们先记住一句话：人工检查只测了正常路径，没测&quot;同时发生&quot;。AI 写的代码有个特点——正常路径很漂亮，边界条件靠运气。它不会主动想到&quot;库存只剩 1 件时两个人同时来买&quot;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TEST PYRAMID&lt;/Text&gt;&#10;        &lt;Text style={{ fontSize: 56, color: '#1A2230', fontWeight: 'bold', lineHeight: 1.25 }}&gt;测试金字塔&lt;/Text&gt;&#10;        &lt;Text style={{ fontSize: 26, color: '#4A5568', lineHeight: 1.5 }}&gt;三层怎么分：越往下越便宜，越要写得多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单元测试 · 测一个函数、一个模块，快、好写、数量最多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API 测试 · 测接口，发请求看响应，FastAPI 自带 TestClient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端到端测试 · 模拟真实浏览器操作，最慢最脆，只覆盖主流程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TEST PYRAMID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测试金字塔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三层怎么分：越往下越便宜，越要写得多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54483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单元测试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测一个函数、一个模块，快、好写、数量最多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58007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API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测试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测接口，发请求看响应，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FastAPI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自带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TestClient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58864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端到端测试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模拟真实浏览器操作，最慢最脆，只覆盖主流程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10" name="" descr="&lt;Slide&#10;  notes={`某团队用 AI 快速开发了一个系统，上线前人工检查，觉得功能都正常。&#10;&#10;结果上线第二天，用户发现库存扣减在并发场景下会算错——两个人同时买最后一件药品，系统让两个人都成功了。&#10;&#10;为什么人工检查没发现？因为人工检查只测了正常路径，没测&quot;同时发生&quot;。&#10;&#10;所以我们的结论是：AI 写的代码，正常路径很漂亮，边界条件靠运气。测试不是加分项，是生产级的及格线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测试金字塔 · 一个真实翻车案例&lt;/Text&gt;&#10;    &lt;Text style={{ fontSize: 16, color: '#C9D9F2' }}&gt;医院信息系统实验 · 第 8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一个真实翻车案例&lt;/Text&gt;&#10;      &lt;Text style={{ fontSize: 22, color: '#8B97A8' }}&gt;AI 开发的系统 · 上线第二天暴露问题&lt;/Text&gt;&#10;    &lt;/Box&gt;&#10;&#10;    &lt;Box style={{ height: '14px' }} /&gt;&#10;&#10;    &lt;svg width={1200} height={190} viewBox='0 0 1200 190'&gt;&#10;      &lt;line x1='150' y1='96' x2='1050' y2='96' stroke='#D6DCE5' strokeWidth='3' /&gt;&#10;      &lt;line x1='150' y1='96' x2='600' y2='96' stroke='#1E4FA8' strokeWidth='3' /&gt;&#10;      &lt;line x1='600' y1='96' x2='1050' y2='96' stroke='#D9534F' strokeWidth='3' /&gt;&#10;      &lt;circle cx='150' cy='96' r='26' fill='#FFFFFF' stroke='#1E4FA8' strokeWidth='4' /&gt;&#10;      &lt;circle cx='600' cy='96' r='26' fill='#FFFFFF' stroke='#1E4FA8' strokeWidth='4' /&gt;&#10;      &lt;circle cx='1050' cy='96' r='30' fill='#D9534F' /&gt;&#10;      &lt;text x='150' y='96' text-anchor='middle' dominant-baseline='central' font-size='22' font-weight='bold' fill='#1E4FA8'&gt;Ⅰ&lt;/text&gt;&#10;      &lt;text x='600' y='96' text-anchor='middle' dominant-baseline='central' font-size='22' font-weight='bold' fill='#1E4FA8'&gt;Ⅱ&lt;/text&gt;&#10;      &lt;text x='1050' y='96' text-anchor='middle' dominant-baseline='central' font-size='24' font-weight='bold' fill='#FFFFFF'&gt;Ⅲ&lt;/text&gt;&#10;      &lt;text x='150' y='48' text-anchor='middle' font-size='30' font-weight='bold' fill='#1A2230'&gt;上线前&lt;/text&gt;&#10;      &lt;text x='600' y='48' text-anchor='middle' font-size='30' font-weight='bold' fill='#1A2230'&gt;上线第二天&lt;/text&gt;&#10;      &lt;text x='1050' y='48' text-anchor='middle' font-size='30' font-weight='bold' fill='#D9534F'&gt;根因&lt;/text&gt;&#10;      &lt;text x='150' y='152' text-anchor='middle' font-size='20' fill='#8B97A8'&gt;人工检查通过&lt;/text&gt;&#10;      &lt;text x='600' y='152' text-anchor='middle' font-size='20' fill='#8B97A8'&gt;并发扣库存算错&lt;/text&gt;&#10;      &lt;text x='1050' y='152' text-anchor='middle' font-size='20' fill='#D9534F'&gt;只测了正常路径&lt;/text&gt;&#10;    &lt;/svg&gt;&#10;&#10;    &lt;Box style={{ height: '18px' }} /&gt;&#10;&#10;    &lt;Box style={{ height: '190px', flexDirection: 'row', gap: 24 }}&gt;&#10;      &lt;Box style={{ flex: 1, background: '#F7F9FC', border: '1px solid #D6DCE5', borderTop: '4px solid #3D7BD9', padding: '18px 20px', gap: 8 }}&gt;&#10;        &lt;Text style={{ fontSize: 26, color: '#1A2230', fontWeight: 'bold' }}&gt;① 人工检查：&quot;都正常&quot;&lt;/Text&gt;&#10;        &lt;Text style={{ fontSize: 21, color: '#4A5568', lineHeight: 1.45 }}&gt;上线前人工逐项点击检查，结论是&quot;功能都正常&quot;，一次并发都没跑过。&lt;/Text&gt;&#10;      &lt;/Box&gt;&#10;      &lt;Box style={{ flex: 1, background: '#F7F9FC', border: '1px solid #D6DCE5', borderTop: '4px solid #1E4FA8', padding: '18px 20px', gap: 8 }}&gt;&#10;        &lt;Text style={{ fontSize: 26, color: '#1A2230', fontWeight: 'bold' }}&gt;② 并发扣库存算错&lt;/Text&gt;&#10;        &lt;Text style={{ fontSize: 21, color: '#4A5568', lineHeight: 1.45 }}&gt;两个人同时买最后一件药品，系统让&lt;span style={{ fontWeight: 'bold', color: '#D9534F' }}&gt;两个人都成功&lt;/span&gt;——最后一件药品被卖出两次。&lt;/Text&gt;&#10;      &lt;/Box&gt;&#10;      &lt;Box style={{ flex: 1, background: '#E8EFF8', border: '1px solid #3D7BD9', borderTop: '4px solid #D9534F', padding: '18px 20px', gap: 8 }}&gt;&#10;        &lt;Text style={{ fontSize: 26, color: '#1A2230', fontWeight: 'bold' }}&gt;③ 只测了正常路径&lt;/Text&gt;&#10;        &lt;Text style={{ fontSize: 21, color: '#4A5568', lineHeight: 1.45 }}&gt;人工检查只验证&quot;一个人下单&quot;，&lt;span style={{ fontWeight: 'bold', color: '#D9534F' }}&gt;没测&quot;同时发生&quot;&lt;/span&gt;的并发场景。&lt;/Text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结论：AI 正常路径很漂亮，边界条件靠运气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测试金字塔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一个真实翻车案例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7432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一个真实翻车案例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3448050" y="1019175"/>
            <a:ext cx="3381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开发的系统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上线第二天暴露问题</a:t>
            </a:r>
            <a:endParaRPr/>
          </a:p>
        </p:txBody>
      </p:sp>
      <p:pic>
        <p:nvPicPr>
          <p:cNvPr id="2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809750"/>
          </a:xfrm>
          <a:prstGeom prst="rect">
            <a:avLst/>
          </a:prstGeom>
          <a:ln/>
        </p:spPr>
      </p:pic>
      <p:sp>
        <p:nvSpPr>
          <p:cNvPr id="219" name=""/>
          <p:cNvSpPr/>
          <p:nvPr/>
        </p:nvSpPr>
        <p:spPr>
          <a:xfrm rot="0" flipH="0" flipV="0">
            <a:off x="381000" y="3524250"/>
            <a:ext cx="3657600" cy="1809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3810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5715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人工检查：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都正常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571500" y="4076700"/>
            <a:ext cx="32766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上线前人工逐项点击检查，结论是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功能都正常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，一次并发都没跑过。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4267200" y="3524250"/>
            <a:ext cx="3657600" cy="18097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42672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44577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②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并发扣库存算错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457700" y="4076700"/>
            <a:ext cx="32766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两个人同时买最后一件药品，系统让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两个人都成功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——最后一件药品被卖出两次。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8153400" y="3524250"/>
            <a:ext cx="3657600" cy="18097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8" name=""/>
          <p:cNvSpPr/>
          <p:nvPr/>
        </p:nvSpPr>
        <p:spPr>
          <a:xfrm rot="0" flipH="0" flipV="0">
            <a:off x="8153400" y="3486150"/>
            <a:ext cx="3657600" cy="1847850"/>
          </a:xfrm>
          <a:custGeom>
            <a:pathLst>
              <a:path w="384" h="19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3439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③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只测了正常路径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343900" y="4076700"/>
            <a:ext cx="32766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人工检查只验证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一个人下单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没测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同时发生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的并发场景。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381000" y="54102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571500" y="55721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42950" y="5476875"/>
            <a:ext cx="3867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结论：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正常路径很漂亮，边界条件靠运气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36" name="" descr="&lt;Slide&#10;  notes={`测试分三层，从下往上，越往下越便宜、越要写得多。&#10;&#10;第一层，单元测试。测一个函数、一个模块。比如划价计算，数量乘以单价，边界情况是数量为 0、单价为 0。再比如号源扣减：剩余 1 个时再挂一个号，必须失败。单元测试快、好写，是数量最多的一层。&#10;&#10;第二层，API 测试。测接口，发请求看响应。FastAPI 自带 TestClient，写起来非常快。&#10;&#10;第三层，端到端测试，也就是 E2E。模拟真实用户操作浏览器。我们用 Playwright，它能录制你的操作自动生成脚本。E2E 最接近真实，但最慢、最脆，所以只覆盖主流程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测试金字塔 · 三层分别测什么&lt;/Text&gt;&#10;    &lt;Text style={{ fontSize: 16, color: '#C9D9F2' }}&gt;医院信息系统实验 · 第 8 课&lt;/Text&gt;&#10;  &lt;/Box&gt;&#10;&#10;  &lt;Box style={{ width: '1280px', height: '552px', flexDirection: 'row', padding: '24px 40px 0px 40px', gap: 30 }}&gt;&#10;    &lt;Box style={{ width: '760px', height: '528px', background: '#F7F9FC', border: '1px solid #D6DCE5', padding: '26px 30px', gap: 16 }}&gt;&#10;      &lt;Box style={{ flexDirection: 'row', alignItems: 'center', gap: 14 }}&gt;&#10;        &lt;Box style={{ width: 44, height: 44, background: '#1E4FA8', alignItems: 'center', justifyContent: 'center' }}&gt;&#10;          &lt;Text style={{ fontSize: 22, color: '#FFFFFF', fontWeight: 'bold' }}&gt;T&lt;/Text&gt;&#10;        &lt;/Box&gt;&#10;        &lt;Text style={{ fontSize: 32, color: '#1A2230', fontWeight: 'bold' }}&gt;测试金字塔的三层&lt;/Text&gt;&#10;      &lt;/Box&gt;&#10;&#10;      &lt;Box style={{ flexDirection: 'row', gap: 14 }}&gt;&#10;        &lt;Box style={{ width: 36, height: 36, background: '#1E4FA8', alignItems: 'center', justifyContent: 'center' }}&gt;&#10;          &lt;Text style={{ fontSize: 19, color: '#FFFFFF', fontWeight: 'bold' }}&gt;1&lt;/Text&gt;&#10;        &lt;/Box&gt;&#10;        &lt;Box style={{ flex: 1, gap: 6 }}&gt;&#10;          &lt;Text style={{ fontSize: 26, color: '#1A2230', fontWeight: 'bold' }}&gt;单元测试 · 测一个函数、一个模块&lt;/Text&gt;&#10;          &lt;Text style={{ fontSize: 21, color: '#4A5568', lineHeight: 1.5 }}&gt;比如划价计算：数量 × 单价，边界是数量为 0、单价为 0。&lt;span style={{ fontWeight: 'bold', color: '#1E4FA8' }}&gt;快、好写，是数量最多的一层&lt;/span&gt;。&lt;/Text&gt;&#10;        &lt;/Box&gt;&#10;      &lt;/Box&gt;&#10;&#10;      &lt;Box style={{ flexDirection: 'row', gap: 14 }}&gt;&#10;        &lt;Box style={{ width: 36, height: 36, background: '#3D7BD9', alignItems: 'center', justifyContent: 'center' }}&gt;&#10;          &lt;Text style={{ fontSize: 19, color: '#FFFFFF', fontWeight: 'bold' }}&gt;2&lt;/Text&gt;&#10;        &lt;/Box&gt;&#10;        &lt;Box style={{ flex: 1, gap: 6 }}&gt;&#10;          &lt;Text style={{ fontSize: 26, color: '#1A2230', fontWeight: 'bold' }}&gt;API 测试 · 测接口&lt;/Text&gt;&#10;          &lt;Text style={{ fontSize: 21, color: '#4A5568', lineHeight: 1.5 }}&gt;发一个请求，看返回的响应。&lt;span style={{ fontWeight: 'bold', color: '#1E4FA8' }}&gt;FastAPI 自带 TestClient&lt;/span&gt;，写起来非常快。&lt;/Text&gt;&#10;        &lt;/Box&gt;&#10;      &lt;/Box&gt;&#10;&#10;      &lt;Box style={{ flexDirection: 'row', gap: 14 }}&gt;&#10;        &lt;Box style={{ width: 36, height: 36, background: '#D9534F', alignItems: 'center', justifyContent: 'center' }}&gt;&#10;          &lt;Text style={{ fontSize: 19, color: '#FFFFFF', fontWeight: 'bold' }}&gt;3&lt;/Text&gt;&#10;        &lt;/Box&gt;&#10;        &lt;Box style={{ flex: 1, gap: 6 }}&gt;&#10;          &lt;Text style={{ fontSize: 26, color: '#1A2230', fontWeight: 'bold' }}&gt;端到端测试 E2E · 模拟真实浏览器&lt;/Text&gt;&#10;          &lt;Text style={{ fontSize: 21, color: '#4A5568', lineHeight: 1.5 }}&gt;打开页面、登录、点挂号、点收费、看结果。用 &lt;span style={{ fontWeight: 'bold', color: '#D9534F' }}&gt;Playwright&lt;/span&gt;，它能录制你的操作自动生成脚本。最接近真实，但&lt;span style={{ fontWeight: 'bold', color: '#D9534F' }}&gt;最慢、最脆，只覆盖主流程&lt;/span&gt;。&lt;/Text&gt;&#10;        &lt;/Box&gt;&#10;      &lt;/Box&gt;&#10;    &lt;/Box&gt;&#10;&#10;    &lt;Box style={{ width: '410px', height: '528px', background: '#E8EFF8', border: '1px solid #3D7BD9', padding: '26px 24px', justifyContent: 'space-between' }}&gt;&#10;      &lt;Box style={{ gap: 12 }}&gt;&#10;        &lt;Text style={{ fontSize: 16, color: '#3D7BD9', letterSpacing: 2 }}&gt;TEST PYRAMID RATIO&lt;/Text&gt;&#10;        &lt;Text style={{ fontSize: 34, color: '#0E3F8C', fontWeight: 'bold', lineHeight: 1.2 }}&gt;越往下越便宜&lt;br /&gt;越要写得多&lt;/Text&gt;&#10;        &lt;Box style={{ width: 80, height: 5, background: '#FFC107' }} /&gt;&#10;      &lt;/Box&gt;&#10;&#10;      &lt;svg width={362} height={240} viewBox='0 0 362 240'&gt;&#10;        &lt;path d='M140 20 L222 20 L262 80 L100 80 Z' fill='#D9534F' /&gt;&#10;        &lt;text x='181' y='50' text-anchor='middle' font-size='19' font-weight='bold' fill='#FFFFFF'&gt;E2E 端到端&lt;/text&gt;&#10;        &lt;text x='181' y='70' text-anchor='middle' font-size='14' fill='#FFFFFF'&gt;最慢最脆 · 只测主流程&lt;/text&gt;&#10;        &lt;path d='M100 86 L262 86 L307 150 L55 150 Z' fill='#3D7BD9' /&gt;&#10;        &lt;text x='181' y='116' text-anchor='middle' font-size='19' font-weight='bold' fill='#FFFFFF'&gt;API 测试&lt;/text&gt;&#10;        &lt;text x='181' y='136' text-anchor='middle' font-size='14' fill='#FFFFFF'&gt;发请求 · 看响应&lt;/text&gt;&#10;        &lt;path d='M55 156 L307 156 L352 225 L10 225 Z' fill='#1E4FA8' /&gt;&#10;        &lt;text x='181' y='190' text-anchor='middle' font-size='22' font-weight='bold' fill='#FFFFFF'&gt;单元测试&lt;/text&gt;&#10;        &lt;text x='181' y='212' text-anchor='middle' font-size='15' fill='#C9D9F2'&gt;快 · 好写 · 数量最多&lt;/text&gt;&#10;      &lt;/svg&gt;&#10;&#10;      &lt;Text style={{ fontSize: 19, color: '#4A5568', lineHeight: 1.5 }}&gt;从上往下：越接近真实越贵，越应该少写；越接近代码越便宜，越应该多写。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测试金字塔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三层分别测什么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381000" y="914400"/>
            <a:ext cx="7239000" cy="50292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66750" y="1162050"/>
            <a:ext cx="419100" cy="4191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809625" y="124777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T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1219200" y="1190625"/>
            <a:ext cx="24384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1A2230"/>
                </a:solidFill>
                <a:latin typeface="Microsoft YaHei"/>
                <a:ea typeface="Microsoft YaHei"/>
              </a:rPr>
              <a:t>测试金字塔的三层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66750" y="1733550"/>
            <a:ext cx="342900" cy="3429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81050" y="180022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1143000" y="1733550"/>
            <a:ext cx="6191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单元测试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测一个函数、一个模块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43000" y="2095500"/>
            <a:ext cx="61912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比如划价计算：数量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×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单价，边界是数量为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、单价为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0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快、好写，是数量最多的一层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66750" y="2971800"/>
            <a:ext cx="342900" cy="3429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781050" y="30384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143000" y="2971800"/>
            <a:ext cx="6191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API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测试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测接口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43000" y="3333750"/>
            <a:ext cx="61912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发一个请求，看返回的响应。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FastAPI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自带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TestClient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，写起来非常快。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66750" y="4210050"/>
            <a:ext cx="342900" cy="3429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781050" y="427672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43000" y="4210050"/>
            <a:ext cx="6191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端到端测试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E2E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模拟真实浏览器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43000" y="4572000"/>
            <a:ext cx="619125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打开页面、登录、点挂号、点收费、看结果。用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Playwright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，它能录制你的操作自动生成脚本。最接近真实，但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最慢、最脆，只覆盖主流程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7905750" y="914400"/>
            <a:ext cx="390525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134350" y="1162050"/>
            <a:ext cx="3448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3D7BD9"/>
                </a:solidFill>
                <a:latin typeface="Microsoft YaHei"/>
                <a:ea typeface="Microsoft YaHei"/>
              </a:rPr>
              <a:t>TEST PYRAMID RATIO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134350" y="1466850"/>
            <a:ext cx="3448050" cy="933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越往下越便宜</a:t>
            </a:r>
            <a:endParaRPr/>
          </a:p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越要写得多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8134350" y="251460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pic>
        <p:nvPicPr>
          <p:cNvPr id="2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134350" y="2657475"/>
            <a:ext cx="3448050" cy="2286000"/>
          </a:xfrm>
          <a:prstGeom prst="rect">
            <a:avLst/>
          </a:prstGeom>
          <a:ln/>
        </p:spPr>
      </p:pic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134350" y="5038725"/>
            <a:ext cx="34480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从上往下：越接近真实越贵，越应该少写；越接近代码越便宜，越应该多写。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5" name="" descr="&lt;Slide&#10;  notes={`三层各测什么，我给你们具体到能直接动手的例子。&#10;&#10;单元测试：测一个函数。划价计算，数量乘以单价；号源扣减，剩余 1 个时再挂一个号，必须失败。边界情况是数量为 0、单价为 0。&#10;&#10;API 测试：测接口。挂号正常返回排队号、号源不足返回 409、未登录返回 401。&#10;&#10;端到端测试：模拟真实用户操作浏览器，登录、挂号、收费、发药，用 Playwright 跑一遍主流程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测试金字塔 · 三层各测什么&lt;/Text&gt;&#10;    &lt;Text style={{ fontSize: 16, color: '#C9D9F2' }}&gt;医院信息系统实验 · 第 8 课&lt;/Text&gt;&#10;  &lt;/Box&gt;&#10;&#10;  &lt;Box style={{ width: '1280px', height: '552px', padding: '24px 40px 0px 40px' }}&gt;&#10;    &lt;Box style={{ height: '470px', flexDirection: 'row', gap: 24 }}&gt;&#10;      &lt;Box style={{ flex: 1, background: '#FFFFFF', border: '1px solid #D6DCE5', borderTop: '6px solid #1E4FA8', padding: '24px 22px', justifyContent: 'space-between' }}&gt;&#10;        &lt;Box style={{ gap: 12 }}&gt;&#10;          &lt;Text style={{ fontSize: 48, color: '#1E4FA8', fontWeight: 'bold', lineHeight: 1 }}&gt;01&lt;/Text&gt;&#10;          &lt;svg width={64} height={64} viewBox='0 0 64 64'&gt;&#10;            &lt;rect x='6' y='6' width='52' height='52' rx='6' fill='#E8EFF8' stroke='#1E4FA8' strokeWidth='3' /&gt;&#10;            &lt;path d='M25 22 L15 32 L25 42' fill='none' stroke='#1E4FA8' strokeWidth='4' strokeLinecap='round' strokeLinejoin='round' /&gt;&#10;            &lt;path d='M39 22 L49 32 L39 42' fill='none' stroke='#1E4FA8' strokeWidth='4' strokeLinecap='round' strokeLinejoin='round' /&gt;&#10;            &lt;path d='M34 18 L30 46' fill='none' stroke='#3D7BD9' strokeWidth='3' strokeLinecap='round' /&gt;&#10;          &lt;/svg&gt;&#10;          &lt;Text style={{ fontSize: 27, color: '#1A2230', fontWeight: 'bold', lineHeight: 1.3 }}&gt;单元测试&lt;/Text&gt;&#10;          &lt;Text style={{ fontSize: 21, color: '#4A5568', lineHeight: 1.5 }}&gt;测&lt;span style={{ fontWeight: 'bold', color: '#1E4FA8' }}&gt;一个函数、一个模块&lt;/span&gt;，不连数据库、不启服务，跑得最快。&lt;/Text&gt;&#10;          &lt;Box style={{ height: 1, background: '#D6DCE5' }} /&gt;&#10;          &lt;Box style={{ flexDirection: 'row', alignItems: 'center', gap: 10 }}&gt;&#10;            &lt;Box style={{ width: 8, height: 8, background: '#1E4FA8' }} /&gt;&#10;            &lt;Text style={{ fontSize: 21, color: '#1A2230' }}&gt;划价计算：数量 × 单价&lt;/Text&gt;&#10;          &lt;/Box&gt;&#10;          &lt;Box style={{ flexDirection: 'row', alignItems: 'center', gap: 10 }}&gt;&#10;            &lt;Box style={{ width: 8, height: 8, background: '#1E4FA8' }} /&gt;&#10;            &lt;Text style={{ fontSize: 21, color: '#1A2230' }}&gt;号源扣减：剩 1 个必失败&lt;/Text&gt;&#10;          &lt;/Box&gt;&#10;          &lt;Box style={{ flexDirection: 'row', alignItems: 'center', gap: 10 }}&gt;&#10;            &lt;Box style={{ width: 8, height: 8, background: '#1E4FA8' }} /&gt;&#10;            &lt;Text style={{ fontSize: 21, color: '#1A2230' }}&gt;边界：数量为 0、单价为 0&lt;/Text&gt;&#10;          &lt;/Box&gt;&#10;        &lt;/Box&gt;&#10;        &lt;Box style={{ background: '#E8EFF8', padding: '10px 14px' }}&gt;&#10;          &lt;Text style={{ fontSize: 20, color: '#1E4FA8', fontWeight: 'bold' }}&gt;数量最多的一层&lt;/Text&gt;&#10;        &lt;/Box&gt;&#10;      &lt;/Box&gt;&#10;&#10;      &lt;Box style={{ flex: 1, background: '#FFFFFF', border: '1px solid #D6DCE5', borderTop: '6px solid #3D7BD9', padding: '24px 22px', justifyContent: 'space-between' }}&gt;&#10;        &lt;Box style={{ gap: 12 }}&gt;&#10;          &lt;Text style={{ fontSize: 48, color: '#3D7BD9', fontWeight: 'bold', lineHeight: 1 }}&gt;02&lt;/Text&gt;&#10;          &lt;svg width={64} height={64} viewBox='0 0 64 64'&gt;&#10;            &lt;rect x='4' y='14' width='24' height='16' rx='3' fill='#E8EFF8' stroke='#3D7BD9' strokeWidth='3' /&gt;&#10;            &lt;rect x='36' y='34' width='24' height='16' rx='3' fill='#E8EFF8' stroke='#3D7BD9' strokeWidth='3' /&gt;&#10;            &lt;path d='M30 22 L34 22 L34 42 L36 42' fill='none' stroke='#1E4FA8' strokeWidth='3' /&gt;&#10;            &lt;path d='M32 38 L38 42 L32 46 Z' fill='#1E4FA8' /&gt;&#10;            &lt;path d='M34 42 L28 42 L28 22 L26 22' fill='none' stroke='#3D7BD9' strokeWidth='3' /&gt;&#10;            &lt;path d='M32 26 L26 22 L32 18 Z' fill='#3D7BD9' /&gt;&#10;          &lt;/svg&gt;&#10;          &lt;Text style={{ fontSize: 27, color: '#1A2230', fontWeight: 'bold', lineHeight: 1.3 }}&gt;API 测试&lt;/Text&gt;&#10;          &lt;Text style={{ fontSize: 21, color: '#4A5568', lineHeight: 1.5 }}&gt;测接口：&lt;span style={{ fontWeight: 'bold', color: '#1E4FA8' }}&gt;发一个请求，看返回的响应&lt;/span&gt;与状态码。&lt;/Text&gt;&#10;          &lt;Box style={{ height: 1, background: '#D6DCE5' }} /&gt;&#10;          &lt;Box style={{ flexDirection: 'row', alignItems: 'center', gap: 10 }}&gt;&#10;            &lt;Box style={{ width: 8, height: 8, background: '#3D7BD9' }} /&gt;&#10;            &lt;Text style={{ fontSize: 21, color: '#1A2230' }}&gt;挂号正常 → 返回排队号&lt;/Text&gt;&#10;          &lt;/Box&gt;&#10;          &lt;Box style={{ flexDirection: 'row', alignItems: 'center', gap: 10 }}&gt;&#10;            &lt;Box style={{ width: 8, height: 8, background: '#3D7BD9' }} /&gt;&#10;            &lt;Text style={{ fontSize: 21, color: '#1A2230' }}&gt;号源不足 → 返回 409&lt;/Text&gt;&#10;          &lt;/Box&gt;&#10;          &lt;Box style={{ flexDirection: 'row', alignItems: 'center', gap: 10 }}&gt;&#10;            &lt;Box style={{ width: 8, height: 8, background: '#3D7BD9' }} /&gt;&#10;            &lt;Text style={{ fontSize: 21, color: '#1A2230' }}&gt;未登录 → 返回 401&lt;/Text&gt;&#10;          &lt;/Box&gt;&#10;        &lt;/Box&gt;&#10;        &lt;Box style={{ background: '#E8EFF8', padding: '10px 14px' }}&gt;&#10;          &lt;Text style={{ fontSize: 20, color: '#1E4FA8', fontWeight: 'bold' }}&gt;TestClient 开箱即用&lt;/Text&gt;&#10;        &lt;/Box&gt;&#10;      &lt;/Box&gt;&#10;&#10;      &lt;Box style={{ flex: 1, background: '#FFFFFF', border: '1px solid #D6DCE5', borderTop: '6px solid #D9534F', padding: '24px 22px', justifyContent: 'space-between' }}&gt;&#10;        &lt;Box style={{ gap: 12 }}&gt;&#10;          &lt;Text style={{ fontSize: 48, color: '#D9534F', fontWeight: 'bold', lineHeight: 1 }}&gt;03&lt;/Text&gt;&#10;          &lt;svg width={64} height={64} viewBox='0 0 64 64'&gt;&#10;            &lt;rect x='5' y='10' width='54' height='44' rx='5' fill='#FDECEA' stroke='#D9534F' strokeWidth='3' /&gt;&#10;            &lt;line x1='5' y1='21' x2='59' y2='21' stroke='#D9534F' strokeWidth='3' /&gt;&#10;            &lt;circle cx='12' cy='15.5' r='2' fill='#D9534F' /&gt;&#10;            &lt;circle cx='19' cy='15.5' r='2' fill='#D9534F' /&gt;&#10;            &lt;circle cx='26' cy='15.5' r='2' fill='#D9534F' /&gt;&#10;            &lt;path d='M20 30 L30 42 L26 42 L34 52' fill='none' stroke='#1E4FA8' strokeWidth='3' strokeLinecap='round' strokeLinejoin='round' /&gt;&#10;            &lt;path d='M18 28 L20 34 L26 34 Z' fill='#1E4FA8' /&gt;&#10;          &lt;/svg&gt;&#10;          &lt;Text style={{ fontSize: 27, color: '#1A2230', fontWeight: 'bold', lineHeight: 1.3 }}&gt;端到端测试 E2E&lt;/Text&gt;&#10;          &lt;Text style={{ fontSize: 21, color: '#4A5568', lineHeight: 1.5 }}&gt;模拟&lt;span style={{ fontWeight: 'bold', color: '#D9534F' }}&gt;真实用户操作浏览器&lt;/span&gt;：打开页面、登录、点挂号、点收费、看结果。&lt;/Text&gt;&#10;          &lt;Box style={{ height: 1, background: '#D6DCE5' }} /&gt;&#10;          &lt;Box style={{ flexDirection: 'row', alignItems: 'center', gap: 10 }}&gt;&#10;            &lt;Box style={{ width: 8, height: 8, background: '#D9534F' }} /&gt;&#10;            &lt;Text style={{ fontSize: 21, color: '#1A2230' }}&gt;登录 → 挂号 → 收费 → 发药&lt;/Text&gt;&#10;          &lt;/Box&gt;&#10;          &lt;Box style={{ flexDirection: 'row', alignItems: 'center', gap: 10 }}&gt;&#10;            &lt;Box style={{ width: 8, height: 8, background: '#D9534F' }} /&gt;&#10;            &lt;Text style={{ fontSize: 21, color: '#1A2230' }}&gt;Playwright 可录制生成脚本&lt;/Text&gt;&#10;          &lt;/Box&gt;&#10;          &lt;Box style={{ flexDirection: 'row', alignItems: 'center', gap: 10 }}&gt;&#10;            &lt;Box style={{ width: 8, height: 8, background: '#D9534F' }} /&gt;&#10;            &lt;Text style={{ fontSize: 21, color: '#1A2230' }}&gt;最慢最脆 · 只覆盖主流程&lt;/Text&gt;&#10;          &lt;/Box&gt;&#10;        &lt;/Box&gt;&#10;        &lt;Box style={{ background: '#FDECEA', padding: '10px 14px' }}&gt;&#10;          &lt;Text style={{ fontSize: 20, color: '#D9534F', fontWeight: 'bold' }}&gt;最接近真实，但最脆弱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记住：单元测试写最多，E2E 只覆盖主流程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测试金字塔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三层各测什么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381000" y="971550"/>
            <a:ext cx="3657600" cy="4781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381000" y="914400"/>
            <a:ext cx="3657600" cy="4838700"/>
          </a:xfrm>
          <a:custGeom>
            <a:pathLst>
              <a:path w="384" h="508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905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1E4FA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866900"/>
            <a:ext cx="609600" cy="609600"/>
          </a:xfrm>
          <a:prstGeom prst="rect">
            <a:avLst/>
          </a:prstGeom>
          <a:ln/>
        </p:spPr>
      </p:pic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905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单元测试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90550" y="3114675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测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一个函数、一个模块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，不连数据库、不启服务，跑得最快。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90550" y="3952875"/>
            <a:ext cx="3238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590550" y="41624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762000" y="4076700"/>
            <a:ext cx="20764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划价计算：数量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×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单价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590550" y="452437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62000" y="4438650"/>
            <a:ext cx="22383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号源扣减：剩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1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个必失败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590550" y="4886325"/>
            <a:ext cx="762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62000" y="4800600"/>
            <a:ext cx="2362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边界：数量为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、单价为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0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590550" y="50482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723900" y="51435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数量最多的一层</a:t>
            </a:r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4267200" y="971550"/>
            <a:ext cx="3657600" cy="47815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6" name=""/>
          <p:cNvSpPr/>
          <p:nvPr/>
        </p:nvSpPr>
        <p:spPr>
          <a:xfrm rot="0" flipH="0" flipV="0">
            <a:off x="4267200" y="914400"/>
            <a:ext cx="3657600" cy="4838700"/>
          </a:xfrm>
          <a:custGeom>
            <a:pathLst>
              <a:path w="384" h="508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4767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2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1866900"/>
            <a:ext cx="609600" cy="609600"/>
          </a:xfrm>
          <a:prstGeom prst="rect">
            <a:avLst/>
          </a:prstGeom>
          <a:ln/>
        </p:spPr>
      </p:pic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4767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API </a:t>
            </a: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测试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476750" y="3114675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测接口：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发一个请求，看返回的响应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与状态码。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4476750" y="3952875"/>
            <a:ext cx="3238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292" name=""/>
          <p:cNvSpPr/>
          <p:nvPr/>
        </p:nvSpPr>
        <p:spPr>
          <a:xfrm rot="0" flipH="0" flipV="0">
            <a:off x="4476750" y="4162425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4648200" y="4076700"/>
            <a:ext cx="21240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挂号正常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返回排队号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4476750" y="4524375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648200" y="4438650"/>
            <a:ext cx="1933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号源不足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返回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409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4476750" y="4886325"/>
            <a:ext cx="76200" cy="762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648200" y="4800600"/>
            <a:ext cx="17335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未登录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返回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401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4476750" y="504825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610100" y="514350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TestClient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开箱即用</a:t>
            </a:r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8153400" y="97155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1" name=""/>
          <p:cNvSpPr/>
          <p:nvPr/>
        </p:nvSpPr>
        <p:spPr>
          <a:xfrm rot="0" flipH="0" flipV="0">
            <a:off x="8153400" y="914400"/>
            <a:ext cx="3657600" cy="5200650"/>
          </a:xfrm>
          <a:custGeom>
            <a:pathLst>
              <a:path w="384" h="546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8362950" y="1200150"/>
            <a:ext cx="3238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9534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3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62950" y="1866900"/>
            <a:ext cx="609600" cy="6096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8362950" y="2590800"/>
            <a:ext cx="3238500" cy="4095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025" b="1">
                <a:solidFill>
                  <a:srgbClr val="1A2230"/>
                </a:solidFill>
                <a:latin typeface="Microsoft YaHei"/>
                <a:ea typeface="Microsoft YaHei"/>
              </a:rPr>
              <a:t>端到端测试</a:t>
            </a:r>
            <a:r>
              <a:rPr lang="en-US" sz="2025" b="1">
                <a:solidFill>
                  <a:srgbClr val="1A2230"/>
                </a:solidFill>
                <a:latin typeface="Microsoft YaHei"/>
                <a:ea typeface="Microsoft YaHei"/>
              </a:rPr>
              <a:t> E2E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62950" y="3114675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模拟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真实用户操作浏览器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：打开页面、登录、点挂号、点收费、看结果。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8362950" y="4314825"/>
            <a:ext cx="3238500" cy="9525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8362950" y="4524375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8534400" y="4438650"/>
            <a:ext cx="2562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登录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挂号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收费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发药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8362950" y="4886325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534400" y="4800600"/>
            <a:ext cx="2466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Playwright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可录制生成脚本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8362950" y="5248275"/>
            <a:ext cx="76200" cy="7620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8534400" y="5162550"/>
            <a:ext cx="2171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最慢最脆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只覆盖主流程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8362950" y="5410200"/>
            <a:ext cx="3238500" cy="4191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496300" y="55054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最接近真实，但最脆弱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381000" y="55054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571500" y="56959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742950" y="5600700"/>
            <a:ext cx="4000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记住：单元测试写最多，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E2E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只覆盖主流程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20" name="" descr="&lt;Slide&#10;  notes={`三层讲完了，接下来是怎么干。&#10;&#10;这一章我讲两件事：一个是 AI 辅助的 TDD，先写测试再写实现；一个是 AI Code Review，用 AI 给 AI 写的代码挑毛病。&#10;&#10;先说 TDD。它的妙处在于：测试是需求的可执行版本。你先把&quot;什么算对&quot;写成测试，AI 按测试写代码，跑偏的概率就大大降低了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AI-ASSISTED TDD &amp;amp; CODE REVIEW&lt;/Text&gt;&#10;        &lt;Text style={{ fontSize: 56, color: '#1A2230', fontWeight: 'bold', lineHeight: 1.25 }}&gt;三层实战&lt;/Text&gt;&#10;        &lt;Text style={{ fontSize: 26, color: '#4A5568', lineHeight: 1.5 }}&gt;AI 辅助 TDD，加上 AI Code Review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AI 辅助 TDD · 生成测试 → 跑红 → 写实现直到绿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Code Review 三道防线 · AI 写、AI 审、你复核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审查报告的结论必须你签字，出事是你的责任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AI-ASSISTED TDD &amp; CODE REVIEW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三层实战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辅助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TDD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，加上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AI Code Review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47625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辅助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TDD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生成测试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跑红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写实现直到绿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45720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Code Review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三道防线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写、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审、你复核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43815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审查报告的结论必须你签字，出事是你的责任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34" name="" descr="&lt;Slide&#10;  notes={`今天还要学一个工作流：AI 辅助的 TDD。TDD 就是先写测试，再写实现。用 AI 怎么玩？&#10;&#10;第一步，让 AI 生成测试。提示词就这一句：为划价函数写单元测试，覆盖正常、边界、异常。&#10;&#10;第二步，跑测试。此时实现还没写，所以测试是红的，也就是失败。&#10;&#10;第三步，让 AI 写实现，一直写到测试变绿。这个流程的妙处在于，测试是需求的可执行版本，AI 按测试写代码，跑偏的概率就大大降低了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三层实战 · AI 辅助 TDD 三步&lt;/Text&gt;&#10;    &lt;Text style={{ fontSize: 16, color: '#C9D9F2' }}&gt;医院信息系统实验 · 第 8 课&lt;/Text&gt;&#10;  &lt;/Box&gt;&#10;&#10;  &lt;Box style={{ width: '1280px', height: '552px', flexDirection: 'row', padding: '24px 40px 0px 40px', gap: 30 }}&gt;&#10;    &lt;Box style={{ width: '360px', height: '528px', background: '#0E3F8C', padding: '30px 28px', justifyContent: 'space-between' }}&gt;&#10;      &lt;Box style={{ gap: 14 }}&gt;&#10;        &lt;Text style={{ fontSize: 17, color: '#7FA3D6', letterSpacing: 2 }}&gt;AI-ASSISTED TDD&lt;/Text&gt;&#10;        &lt;Text style={{ fontSize: 44, color: '#FFFFFF', fontWeight: 'bold', lineHeight: 1.2 }}&gt;先写测试&lt;br /&gt;再写实现&lt;/Text&gt;&#10;        &lt;Box style={{ width: 80, height: 5, background: '#FFC107' }} /&gt;&#10;      &lt;/Box&gt;&#10;      &lt;Text style={{ fontSize: 22, color: '#C9D9F2', lineHeight: 1.6 }}&gt;&#10;        测试是需求的可执行版本：AI 按测试写代码，跑偏的概率大大降低。&#10;      &lt;/Text&gt;&#10;      &lt;Box style={{ gap: 8 }}&gt;&#10;        &lt;Box style={{ height: 1, background: '#3D7BD9' }} /&gt;&#10;        &lt;Text style={{ fontSize: 20, color: '#8FAED8' }}&gt;红 → 绿 → 重构，循环往复&lt;/Text&gt;&#10;      &lt;/Box&gt;&#10;    &lt;/Box&gt;&#10;&#10;    &lt;Box style={{ width: '810px', height: '528px' }}&gt;&#10;      &lt;Box style={{ height: '280px', gap: 12, justifyContent: 'space-between' }}&gt;&#10;        &lt;Box style={{ flexDirection: 'row', alignItems: 'flex-start', gap: 14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Box style={{ flex: 1, gap: 4 }}&gt;&#10;            &lt;Text style={{ fontSize: 25, color: '#1A2230', fontWeight: 'bold', lineHeight: 1.35 }}&gt;让 AI 生成测试&lt;/Text&gt;&#10;            &lt;Text style={{ fontSize: 20, color: '#4A5568', lineHeight: 1.45 }}&gt;提示词就一句话：为划价函数写单元测试，覆盖正常、边界、异常。&lt;/Text&gt;&#10;          &lt;/Box&gt;&#10;        &lt;/Box&gt;&#10;        &lt;Box style={{ flexDirection: 'row', alignItems: 'flex-start', gap: 14 }}&gt;&#10;          &lt;Box style={{ width: 34, height: 34, background: '#D9534F', alignItems: 'center', justifyContent: 'center' }}&gt;&#10;            &lt;Text style={{ fontSize: 18, color: '#FFFFFF', fontWeight: 'bold' }}&gt;2&lt;/Text&gt;&#10;          &lt;/Box&gt;&#10;          &lt;Box style={{ flex: 1, gap: 4 }}&gt;&#10;            &lt;Text style={{ fontSize: 25, color: '#1A2230', fontWeight: 'bold', lineHeight: 1.35 }}&gt;跑测试 —— 红&lt;/Text&gt;&#10;            &lt;Text style={{ fontSize: 20, color: '#4A5568', lineHeight: 1.45 }}&gt;此时实现还没写，测试必然失败，这是对的，说明测试真的在测东西。&lt;/Text&gt;&#10;          &lt;/Box&gt;&#10;        &lt;/Box&gt;&#10;        &lt;Box style={{ flexDirection: 'row', alignItems: 'flex-start', gap: 14 }}&gt;&#10;          &lt;Box style={{ width: 34, height: 34, background: '#3D7BD9', alignItems: 'center', justifyContent: 'center' }}&gt;&#10;            &lt;Text style={{ fontSize: 18, color: '#FFFFFF', fontWeight: 'bold' }}&gt;3&lt;/Text&gt;&#10;          &lt;/Box&gt;&#10;          &lt;Box style={{ flex: 1, gap: 4 }}&gt;&#10;            &lt;Text style={{ fontSize: 25, color: '#1A2230', fontWeight: 'bold', lineHeight: 1.35 }}&gt;让 AI 写实现 —— 绿&lt;/Text&gt;&#10;            &lt;Text style={{ fontSize: 20, color: '#4A5568', lineHeight: 1.45 }}&gt;把失败的用例丢回给 AI，让它改实现，一直改到全部通过为止。&lt;/Text&gt;&#10;          &lt;/Box&gt;&#10;        &lt;/Box&gt;&#10;      &lt;/Box&gt;&#10;&#10;      &lt;Box style={{ height: '16px' }} /&gt;&#10;&#10;      &lt;Box style={{ height: '232px', background: '#F7F9FC', border: '1px solid #D6DCE5', padding: '14px 16px' }}&gt;&#10;        &lt;CodeBlock&#10;          code={`# 1 生成测试的提示词&#10;为 @backend/app/services/pricing.py 的划价函数&#10;编写 pytest 单元测试，覆盖：正常计算（数量 × 单价）、&#10;数量为 0、药品不存在、单价为 0。先列用例清单再写代码。&#10;&#10;# 2 跑测试：实现还没写，结果必然是红&#10;pytest tests/test_pricing.py -v&#10;# 3 让 AI 写实现，一直写到全绿&#10;pytest tests/ -q        →        4 passed`}&#10;          language='python'&#10;          width={778}&#10;          fontSize={14}&#10;          theme='github-light'&#10;          background='#FFFFFF'&#10;        /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819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三层实战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辅助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TDD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三步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AI-ASSISTED TDD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2895600" cy="1209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先写测试</a:t>
            </a:r>
            <a:endParaRPr/>
          </a:p>
          <a:p>
            <a:pPr>
              <a:lnSpc>
                <a:spcPct val="12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再写实现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47700" y="2876550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647700" y="3533775"/>
            <a:ext cx="28956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测试是需求的可执行版本：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AI 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按测试写代码，跑偏的概率大大降低。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647700" y="5343525"/>
            <a:ext cx="28956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647700" y="5429250"/>
            <a:ext cx="2895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红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绿</a:t>
            </a:r>
            <a:r>
              <a:rPr lang="en-US" sz="150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8FAED8"/>
                </a:solidFill>
                <a:latin typeface="Microsoft YaHei"/>
                <a:ea typeface="Microsoft YaHei"/>
              </a:rPr>
              <a:t>重构，循环往复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4095750" y="91440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200525" y="9715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552950" y="914400"/>
            <a:ext cx="7258050" cy="390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让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生成测试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4552950" y="1343025"/>
            <a:ext cx="72580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提示词就一句话：为划价函数写单元测试，覆盖正常、边界、异常。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095750" y="1866900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200525" y="19240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552950" y="1866900"/>
            <a:ext cx="7258050" cy="390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跑测试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红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4552950" y="2295525"/>
            <a:ext cx="72580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此时实现还没写，测试必然失败，这是对的，说明测试真的在测东西。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4095750" y="2819400"/>
            <a:ext cx="323850" cy="3238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4200525" y="287655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4552950" y="2819400"/>
            <a:ext cx="7258050" cy="39052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让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写实现</a:t>
            </a:r>
            <a:r>
              <a:rPr lang="en-US" sz="1875" b="1">
                <a:solidFill>
                  <a:srgbClr val="1A2230"/>
                </a:solidFill>
                <a:latin typeface="Microsoft YaHei"/>
                <a:ea typeface="Microsoft YaHei"/>
              </a:rPr>
              <a:t> —— </a:t>
            </a: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绿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552950" y="3248025"/>
            <a:ext cx="72580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把失败的用例丢回给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AI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，让它改实现，一直改到全部通过为止。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4095750" y="3733800"/>
            <a:ext cx="7715250" cy="22098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4248150" y="3867150"/>
            <a:ext cx="74104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2" name=""/>
          <p:cNvSpPr txBox="1"/>
          <p:nvPr/>
        </p:nvSpPr>
        <p:spPr>
          <a:xfrm rot="0" flipH="0" flipV="0">
            <a:off x="4400550" y="4000500"/>
            <a:ext cx="71056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1 生成测试的提示词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为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@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backend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app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services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pricing.py 的划价函数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编写 pytest 单元测试，覆盖：正常计算（数量 × 单价）、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数量为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、药品不存在、单价为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。先列用例清单再写代码。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5E7EB"/>
                </a:solidFill>
                <a:latin typeface="Menlo"/>
                <a:ea typeface="Menlo"/>
              </a:rPr>
              <a:t> 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2 跑测试：实现还没写，结果必然是红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pytest tests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test_pricing.py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v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3 让 AI 写实现，一直写到全绿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pytest tests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/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D73A49"/>
                </a:solidFill>
                <a:latin typeface="Menlo"/>
                <a:ea typeface="Menlo"/>
              </a:rPr>
              <a:t>-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q        →       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4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passed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63" name="" descr="&lt;Slide&#10;  notes={`再看 Code Review。提示词是这样写的：请审查最近 5 次提交的代码，重点看错误处理是否完整、是否有重复代码、事务使用是否正确、命名是否清晰，输出问题列表加修改建议，按严重程度排序。&#10;&#10;注意，Code Review 的意义不是找茬，是第二双眼睛。AI 写代码、AI 审查、你复核，这是三道防线。&#10;&#10;我要强调一句：审查报告的结论必须你签字。出事了是你的责任，不是 AI 的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三层实战 · Code Review 三道防线&lt;/Text&gt;&#10;    &lt;Text style={{ fontSize: 16, color: '#C9D9F2' }}&gt;医院信息系统实验 · 第 8 课&lt;/Text&gt;&#10;  &lt;/Box&gt;&#10;&#10;  &lt;Box style={{ width: '1280px', height: '552px', padding: '24px 40px 0px 40px' }}&gt;&#10;    &lt;svg width={1200} height={310} viewBox='0 0 1200 310'&gt;&#10;      &lt;rect x='30' y='55' width='330' height='150' rx='10' fill='#F7F9FC' stroke='#D6DCE5' strokeWidth='2' /&gt;&#10;      &lt;rect x='30' y='55' width='330' height='6' rx='3' fill='#3D7BD9' /&gt;&#10;      &lt;circle cx='70' cy='95' r='18' fill='#3D7BD9' /&gt;&#10;      &lt;text x='70' y='95' text-anchor='middle' dominant-baseline='central' font-size='17' font-weight='bold' fill='#FFFFFF'&gt;1&lt;/text&gt;&#10;      &lt;text x='195' y='132' text-anchor='middle' font-size='32' font-weight='bold' fill='#1A2230'&gt;AI 写代码&lt;/text&gt;&#10;      &lt;text x='195' y='166' text-anchor='middle' font-size='21' fill='#4A5568'&gt;按你的提示词生成实现&lt;/text&gt;&#10;      &lt;text x='195' y='190' text-anchor='middle' font-size='18' fill='#8B97A8'&gt;第一道：产出&lt;/text&gt;&#10;&#10;      &lt;path d='M366 130 L424 130' stroke='#1E4FA8' strokeWidth='3' /&gt;&#10;      &lt;path d='M418 122 L428 130 L418 138 Z' fill='#1E4FA8' /&gt;&#10;&#10;      &lt;rect x='435' y='55' width='330' height='150' rx='10' fill='#E8EFF8' stroke='#3D7BD9' strokeWidth='2' /&gt;&#10;      &lt;rect x='435' y='55' width='330' height='6' rx='3' fill='#1E4FA8' /&gt;&#10;      &lt;circle cx='475' cy='95' r='18' fill='#1E4FA8' /&gt;&#10;      &lt;text x='475' y='95' text-anchor='middle' dominant-baseline='central' font-size='17' font-weight='bold' fill='#FFFFFF'&gt;2&lt;/text&gt;&#10;      &lt;text x='600' y='132' text-anchor='middle' font-size='32' font-weight='bold' fill='#1E4FA8'&gt;AI 审查&lt;/text&gt;&#10;      &lt;text x='600' y='166' text-anchor='middle' font-size='21' fill='#4A5568'&gt;输出问题列表 + 修改建议&lt;/text&gt;&#10;      &lt;text x='600' y='190' text-anchor='middle' font-size='18' fill='#4A5568'&gt;第二道：挑毛病&lt;/text&gt;&#10;&#10;      &lt;path d='M771 130 L829 130' stroke='#1E4FA8' strokeWidth='3' /&gt;&#10;      &lt;path d='M823 122 L833 130 L823 138 Z' fill='#1E4FA8' /&gt;&#10;&#10;      &lt;rect x='840' y='55' width='330' height='150' rx='10' fill='#1E4FA8' /&gt;&#10;      &lt;circle cx='880' cy='95' r='18' fill='#FFC107' /&gt;&#10;      &lt;text x='880' y='95' text-anchor='middle' dominant-baseline='central' font-size='17' font-weight='bold' fill='#0E3F8C'&gt;3&lt;/text&gt;&#10;      &lt;text x='1005' y='132' text-anchor='middle' font-size='32' font-weight='bold' fill='#FFFFFF'&gt;你复核&lt;/text&gt;&#10;      &lt;text x='1005' y='166' text-anchor='middle' font-size='21' fill='#C9D9F2'&gt;确认问题真实存在并修复&lt;/text&gt;&#10;      &lt;text x='1005' y='190' text-anchor='middle' font-size='18' fill='#C9D9F2'&gt;第三道：签字负责&lt;/text&gt;&#10;&#10;      &lt;path d='M195 250 L1005 250' stroke='#D6DCE5' strokeWidth='2' strokeDasharray='6 5' /&gt;&#10;      &lt;rect x='500' y='234' width='200' height='32' rx='4' fill='#FFC107' /&gt;&#10;      &lt;text x='600' y='256' text-anchor='middle' font-size='19' font-weight='bold' fill='#0E3F8C'&gt;三道防线 · 缺一不可&lt;/text&gt;&#10;    &lt;/svg&gt;&#10;&#10;    &lt;Box style={{ height: '18px' }} /&gt;&#10;&#10;    &lt;Box style={{ height: '200px', flexDirection: 'row', gap: 24 }}&gt;&#10;      &lt;Box style={{ flex: 1, background: '#F7F9FC', border: '1px solid #D6DCE5', borderLeft: '6px solid #1E4FA8', padding: '20px 24px', gap: 12 }}&gt;&#10;        &lt;Box style={{ flexDirection: 'row', alignItems: 'center', gap: 10 }}&gt;&#10;          &lt;Box style={{ width: 10, height: 10, background: '#1E4FA8' }} /&gt;&#10;          &lt;Text style={{ fontSize: 26, color: '#1A2230', fontWeight: 'bold' }}&gt;错误处理是否完整&lt;/Text&gt;&#10;        &lt;/Box&gt;&#10;        &lt;Text style={{ fontSize: 21, color: '#4A5568', lineHeight: 1.55 }}&gt;&#10;          异常有没有被接住？失败时返回的状态码和提示是否明确。&lt;span style={{ fontWeight: 'bold', color: '#1E4FA8' }}&gt;AI 最常漏掉的就是异常分支&lt;/span&gt;。&#10;        &lt;/Text&gt;&#10;      &lt;/Box&gt;&#10;      &lt;Box style={{ flex: 1, background: '#F7F9FC', border: '1px solid #D6DCE5', borderLeft: '6px solid #3D7BD9', padding: '20px 24px', gap: 12 }}&gt;&#10;        &lt;Box style={{ flexDirection: 'row', alignItems: 'center', gap: 10 }}&gt;&#10;          &lt;Box style={{ width: 10, height: 10, background: '#3D7BD9' }} /&gt;&#10;          &lt;Text style={{ fontSize: 26, color: '#1A2230', fontWeight: 'bold' }}&gt;是否有重复代码&lt;/Text&gt;&#10;        &lt;/Box&gt;&#10;        &lt;Text style={{ fontSize: 21, color: '#4A5568', lineHeight: 1.55 }}&gt;&#10;          同一段逻辑被复制到多处，改一处漏一处，这是&lt;span style={{ fontWeight: 'bold', color: '#3D7BD9' }}&gt;上线后的定时炸弹&lt;/span&gt;。&#10;        &lt;/Text&gt;&#10;      &lt;/Box&gt;&#10;      &lt;Box style={{ flex: 1, background: '#E8EFF8', border: '1px solid #3D7BD9', borderLeft: '6px solid #D9534F', padding: '20px 24px', gap: 12 }}&gt;&#10;        &lt;Box style={{ flexDirection: 'row', alignItems: 'center', gap: 10 }}&gt;&#10;          &lt;Box style={{ width: 10, height: 10, background: '#D9534F' }} /&gt;&#10;          &lt;Text style={{ fontSize: 26, color: '#1A2230', fontWeight: 'bold' }}&gt;事务使用与命名&lt;/Text&gt;&#10;        &lt;/Box&gt;&#10;        &lt;Text style={{ fontSize: 21, color: '#4A5568', lineHeight: 1.55 }}&gt;&#10;          扣号源、扣库存有没有放进事务，失败会不会回滚；&lt;span style={{ fontWeight: 'bold', color: '#D9534F' }}&gt;变量与函数名是否一看就懂&lt;/span&gt;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5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295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三层实战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Code Review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三道防线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3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2952750"/>
          </a:xfrm>
          <a:prstGeom prst="rect">
            <a:avLst/>
          </a:prstGeom>
          <a:ln/>
        </p:spPr>
      </p:pic>
      <p:sp>
        <p:nvSpPr>
          <p:cNvPr id="369" name=""/>
          <p:cNvSpPr/>
          <p:nvPr/>
        </p:nvSpPr>
        <p:spPr>
          <a:xfrm rot="0" flipH="0" flipV="0">
            <a:off x="438150" y="4038600"/>
            <a:ext cx="3657600" cy="19240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0" name=""/>
          <p:cNvSpPr/>
          <p:nvPr/>
        </p:nvSpPr>
        <p:spPr>
          <a:xfrm rot="0" flipH="0" flipV="0">
            <a:off x="381000" y="4038600"/>
            <a:ext cx="3714750" cy="1924050"/>
          </a:xfrm>
          <a:custGeom>
            <a:pathLst>
              <a:path w="390" h="202">
                <a:moveTo>
                  <a:pt x="0" y="0"/>
                </a:moveTo>
                <a:lnTo>
                  <a:pt x="6" y="0"/>
                </a:lnTo>
                <a:lnTo>
                  <a:pt x="6" y="202"/>
                </a:lnTo>
                <a:lnTo>
                  <a:pt x="0" y="202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666750" y="4333875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57250" y="4229100"/>
            <a:ext cx="19812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错误处理是否完整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666750" y="4648200"/>
            <a:ext cx="314325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异常有没有被接住？失败时返回的状态码和提示是否明确。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最常漏掉的就是异常分支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4324350" y="4038600"/>
            <a:ext cx="3657600" cy="1905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75" name=""/>
          <p:cNvSpPr/>
          <p:nvPr/>
        </p:nvSpPr>
        <p:spPr>
          <a:xfrm rot="0" flipH="0" flipV="0">
            <a:off x="4267200" y="4038600"/>
            <a:ext cx="3714750" cy="1905000"/>
          </a:xfrm>
          <a:custGeom>
            <a:pathLst>
              <a:path w="390" h="200">
                <a:moveTo>
                  <a:pt x="0" y="0"/>
                </a:moveTo>
                <a:lnTo>
                  <a:pt x="6" y="0"/>
                </a:lnTo>
                <a:lnTo>
                  <a:pt x="6" y="200"/>
                </a:lnTo>
                <a:lnTo>
                  <a:pt x="0" y="200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76" name=""/>
          <p:cNvSpPr/>
          <p:nvPr/>
        </p:nvSpPr>
        <p:spPr>
          <a:xfrm rot="0" flipH="0" flipV="0">
            <a:off x="4552950" y="4333875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4743450" y="42291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是否有重复代码</a:t>
            </a:r>
            <a:endParaRPr/>
          </a:p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4552950" y="4648200"/>
            <a:ext cx="31432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同一段逻辑被复制到多处，改一处漏一处，这是</a:t>
            </a:r>
            <a:r>
              <a:rPr lang="zh-CN" sz="1575" b="1">
                <a:solidFill>
                  <a:srgbClr val="3D7BD9"/>
                </a:solidFill>
                <a:latin typeface="Microsoft YaHei"/>
                <a:ea typeface="Microsoft YaHei"/>
              </a:rPr>
              <a:t>上线后的定时炸弹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8210550" y="4038600"/>
            <a:ext cx="3657600" cy="19240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80" name=""/>
          <p:cNvSpPr/>
          <p:nvPr/>
        </p:nvSpPr>
        <p:spPr>
          <a:xfrm rot="0" flipH="0" flipV="0">
            <a:off x="8153400" y="4038600"/>
            <a:ext cx="3714750" cy="1924050"/>
          </a:xfrm>
          <a:custGeom>
            <a:pathLst>
              <a:path w="390" h="202">
                <a:moveTo>
                  <a:pt x="0" y="0"/>
                </a:moveTo>
                <a:lnTo>
                  <a:pt x="6" y="0"/>
                </a:lnTo>
                <a:lnTo>
                  <a:pt x="6" y="202"/>
                </a:lnTo>
                <a:lnTo>
                  <a:pt x="0" y="202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81" name=""/>
          <p:cNvSpPr/>
          <p:nvPr/>
        </p:nvSpPr>
        <p:spPr>
          <a:xfrm rot="0" flipH="0" flipV="0">
            <a:off x="8439150" y="4333875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8629650" y="42291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事务使用与命名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439150" y="4648200"/>
            <a:ext cx="314325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扣号源、扣库存有没有放进事务，失败会不会回滚；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变量与函数名是否一看就懂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&#10;  notes={`现在轮到你们，目标是三层测试至少各写一组。&#10;&#10;第一，划价、扣库存、挂号事务三个函数，要有单元测试。&#10;&#10;第二，挂号、收费两个接口，要有 API 测试。&#10;&#10;第三，一条 E2E 主流程：登录、挂号、收费、发药，用 Playwright 跑通。&#10;&#10;跑完之后，把 pytest 全绿的截图发到群里。做完的组做加分项：把覆盖率报告跑出来，目标 70% 以上，让 AI 帮你补没覆盖到的分支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三层实战 · 学生实操四步&lt;/Text&gt;&#10;    &lt;Text style={{ fontSize: 16, color: '#C9D9F2' }}&gt;医院信息系统实验 · 第 8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学生实操四步&lt;/Text&gt;&#10;      &lt;Text style={{ fontSize: 22, color: '#8B97A8' }}&gt;建议用时 35 分钟 · 做完截图发群&lt;/Text&gt;&#10;    &lt;/Box&gt;&#10;&#10;    &lt;Box style={{ height: '14px' }} /&gt;&#10;&#10;    &lt;svg width={1200} height={140} viewBox='0 0 1200 140'&gt;&#10;      &lt;rect x='140' y='42' width='940' height='8' rx='4' fill='#E5E7EB' /&gt;&#10;      &lt;rect x='140' y='42' width='940' height='8' rx='4' fill='#1E4FA8' opacity='0.25' /&gt;&#10;      &lt;circle cx='140' cy='46' r='30' fill='#FFFFFF' stroke='#3D7BD9' strokeWidth='4' /&gt;&#10;      &lt;text x='140' y='47' text-anchor='middle' dominant-baseline='central' font-size='24' font-weight='bold' fill='#3D7BD9'&gt;1&lt;/text&gt;&#10;      &lt;circle cx='453' cy='46' r='30' fill='#FFFFFF' stroke='#3D7BD9' strokeWidth='4' /&gt;&#10;      &lt;text x='453' y='47' text-anchor='middle' dominant-baseline='central' font-size='24' font-weight='bold' fill='#3D7BD9'&gt;2&lt;/text&gt;&#10;      &lt;circle cx='766' cy='46' r='30' fill='#FFFFFF' stroke='#1E4FA8' strokeWidth='4' /&gt;&#10;      &lt;text x='766' y='47' text-anchor='middle' dominant-baseline='central' font-size='24' font-weight='bold' fill='#1E4FA8'&gt;3&lt;/text&gt;&#10;      &lt;circle cx='1080' cy='46' r='34' fill='#1E4FA8' /&gt;&#10;      &lt;text x='1080' y='47' text-anchor='middle' dominant-baseline='central' font-size='26' font-weight='bold' fill='#FFFFFF'&gt;4&lt;/text&gt;&#10;      &lt;text x='140' y='112' text-anchor='middle' font-size='24' font-weight='bold' fill='#1A2230'&gt;单元测试&lt;/text&gt;&#10;      &lt;text x='453' y='112' text-anchor='middle' font-size='24' font-weight='bold' fill='#1A2230'&gt;API 测试&lt;/text&gt;&#10;      &lt;text x='766' y='112' text-anchor='middle' font-size='24' font-weight='bold' fill='#1A2230'&gt;E2E 主流程&lt;/text&gt;&#10;      &lt;text x='1080' y='112' text-anchor='middle' font-size='24' font-weight='bold' fill='#1E4FA8'&gt;全绿截图&lt;/text&gt;&#10;    &lt;/svg&gt;&#10;&#10;    &lt;Box style={{ height: '16px' }} /&gt;&#10;&#10;    &lt;Box style={{ height: '238px', flexDirection: 'row', gap: 20 }}&gt;&#10;      &lt;Box style={{ flex: 1, background: '#F7F9FC', border: '1px solid #D6DCE5', borderTop: '4px solid #3D7BD9', padding: '18px 18px', gap: 8 }}&gt;&#10;        &lt;Text style={{ fontSize: 24, color: '#1A2230', fontWeight: 'bold', lineHeight: 1.3 }}&gt;① 单元测试&lt;/Text&gt;&#10;        &lt;Text style={{ fontSize: 20, color: '#4A5568', lineHeight: 1.5 }}&gt;划价、扣库存、挂号事务&lt;span style={{ fontWeight: 'bold', color: '#1E4FA8' }}&gt;三个函数&lt;/span&gt;各写一组。&lt;/Text&gt;&#10;        &lt;Box style={{ background: '#E8EFF8', padding: '8px 12px' }}&gt;&#10;          &lt;Text style={{ fontSize: 18, color: '#1E4FA8' }}&gt;验收：三个函数全绿&lt;/Text&gt;&#10;        &lt;/Box&gt;&#10;      &lt;/Box&gt;&#10;      &lt;Box style={{ flex: 1, background: '#F7F9FC', border: '1px solid #D6DCE5', borderTop: '4px solid #3D7BD9', padding: '18px 18px', gap: 8 }}&gt;&#10;        &lt;Text style={{ fontSize: 24, color: '#1A2230', fontWeight: 'bold', lineHeight: 1.3 }}&gt;② API 测试&lt;/Text&gt;&#10;        &lt;Text style={{ fontSize: 20, color: '#4A5568', lineHeight: 1.5 }}&gt;挂号、收费&lt;span style={{ fontWeight: 'bold', color: '#1E4FA8' }}&gt;两个接口&lt;/span&gt;，用 TestClient 发请求看响应。&lt;/Text&gt;&#10;        &lt;Box style={{ background: '#E8EFF8', padding: '8px 12px' }}&gt;&#10;          &lt;Text style={{ fontSize: 18, color: '#1E4FA8' }}&gt;验收：状态码有断言&lt;/Text&gt;&#10;        &lt;/Box&gt;&#10;      &lt;/Box&gt;&#10;      &lt;Box style={{ flex: 1, background: '#F7F9FC', border: '1px solid #D6DCE5', borderTop: '4px solid #3D7BD9', padding: '18px 18px', gap: 8 }}&gt;&#10;        &lt;Text style={{ fontSize: 24, color: '#1A2230', fontWeight: 'bold', lineHeight: 1.3 }}&gt;③ E2E 主流程&lt;/Text&gt;&#10;        &lt;Text style={{ fontSize: 20, color: '#4A5568', lineHeight: 1.5 }}&gt;登录 → 挂号 → 收费 → 发药，&lt;span style={{ fontWeight: 'bold', color: '#1E4FA8' }}&gt;Playwright&lt;/span&gt; 跑通一遍。&lt;/Text&gt;&#10;        &lt;Box style={{ background: '#E8EFF8', padding: '8px 12px' }}&gt;&#10;          &lt;Text style={{ fontSize: 18, color: '#1E4FA8' }}&gt;验收：主流程不报错&lt;/Text&gt;&#10;        &lt;/Box&gt;&#10;      &lt;/Box&gt;&#10;      &lt;Box style={{ flex: 1, background: '#E8EFF8', border: '1px solid #3D7BD9', borderTop: '4px solid #1E4FA8', padding: '18px 18px', gap: 8 }}&gt;&#10;        &lt;Text style={{ fontSize: 24, color: '#1A2230', fontWeight: 'bold', lineHeight: 1.3 }}&gt;④ pytest 全绿&lt;/Text&gt;&#10;        &lt;Text style={{ fontSize: 20, color: '#4A5568', lineHeight: 1.5 }}&gt;跑完把&lt;span style={{ fontWeight: 'bold', color: '#1E4FA8' }}&gt;全绿截图&lt;/span&gt;发群，红的一条都不许留。&lt;/Text&gt;&#10;        &lt;Box style={{ background: '#FFFFFF', padding: '8px 12px' }}&gt;&#10;          &lt;Text style={{ fontSize: 18, color: '#1E4FA8', fontWeight: 'bold' }}&gt;截图要能看到用例条数&lt;/Text&gt;&#10;        &lt;/Box&gt;&#10;      &lt;/Box&gt;&#10;    &lt;/Box&gt;&#10;&#10;    &lt;Box style={{ height: '12px' }} /&gt;&#10;&#10;    &lt;Box style={{ height: '40px', background: '#1E4FA8', flexDirection: 'row', alignItems: 'center', padding: '0px 20px', gap: 12 }}&gt;&#10;      &lt;Box style={{ width: 6, height: 6, background: '#FFC107' }} /&gt;&#10;      &lt;Text style={{ fontSize: 21, color: '#FFFFFF' }}&gt;加分项：覆盖率报告跑出来，目标 70% 以上——让 AI 帮你补没覆盖到的分支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400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三层实战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学生实操四步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学生实操四步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762250" y="1019175"/>
            <a:ext cx="3067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建议用时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35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分钟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做完截图发群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33350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3028950"/>
            <a:ext cx="2714625" cy="22669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2990850"/>
            <a:ext cx="2714625" cy="2305050"/>
          </a:xfrm>
          <a:custGeom>
            <a:pathLst>
              <a:path w="285" h="242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52450" y="3200400"/>
            <a:ext cx="23717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单元测试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52450" y="3638550"/>
            <a:ext cx="23717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划价、扣库存、挂号事务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三个函数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各写一组。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52450" y="4400550"/>
            <a:ext cx="2371725" cy="361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66750" y="44767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验收：三个函数全绿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3286125" y="3028950"/>
            <a:ext cx="2714625" cy="22669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" name=""/>
          <p:cNvSpPr/>
          <p:nvPr/>
        </p:nvSpPr>
        <p:spPr>
          <a:xfrm rot="0" flipH="0" flipV="0">
            <a:off x="3286125" y="2990850"/>
            <a:ext cx="2714625" cy="2305050"/>
          </a:xfrm>
          <a:custGeom>
            <a:pathLst>
              <a:path w="285" h="242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3457575" y="3200400"/>
            <a:ext cx="23717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② API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测试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457575" y="3638550"/>
            <a:ext cx="23717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挂号、收费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两个接口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，用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TestClient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发请求看响应。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3457575" y="4400550"/>
            <a:ext cx="2371725" cy="361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3571875" y="44767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验收：状态码有断言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191250" y="3028950"/>
            <a:ext cx="2714625" cy="2286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191250" y="2990850"/>
            <a:ext cx="2714625" cy="2324100"/>
          </a:xfrm>
          <a:custGeom>
            <a:pathLst>
              <a:path w="285" h="244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362700" y="3200400"/>
            <a:ext cx="23717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③ E2E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主流程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362700" y="3638550"/>
            <a:ext cx="2371725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登录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挂号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收费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→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发药，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Playwright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跑通一遍。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362700" y="4743450"/>
            <a:ext cx="2371725" cy="361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477000" y="48196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E4FA8"/>
                </a:solidFill>
                <a:latin typeface="Microsoft YaHei"/>
                <a:ea typeface="Microsoft YaHei"/>
              </a:rPr>
              <a:t>验收：主流程不报错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9096375" y="3028950"/>
            <a:ext cx="2714625" cy="22669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45" name=""/>
          <p:cNvSpPr/>
          <p:nvPr/>
        </p:nvSpPr>
        <p:spPr>
          <a:xfrm rot="0" flipH="0" flipV="0">
            <a:off x="9096375" y="2990850"/>
            <a:ext cx="2714625" cy="2305050"/>
          </a:xfrm>
          <a:custGeom>
            <a:pathLst>
              <a:path w="285" h="242">
                <a:moveTo>
                  <a:pt x="0" y="0"/>
                </a:moveTo>
                <a:lnTo>
                  <a:pt x="285" y="0"/>
                </a:lnTo>
                <a:lnTo>
                  <a:pt x="285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9267825" y="3200400"/>
            <a:ext cx="23717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④ pytest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全绿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267825" y="3638550"/>
            <a:ext cx="237172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跑完把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全绿截图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发群，红的一条都不许留。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9267825" y="4400550"/>
            <a:ext cx="2371725" cy="361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9382125" y="4476750"/>
            <a:ext cx="2143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E4FA8"/>
                </a:solidFill>
                <a:latin typeface="Microsoft YaHei"/>
                <a:ea typeface="Microsoft YaHei"/>
              </a:rPr>
              <a:t>截图要能看到用例条数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381000" y="5372100"/>
            <a:ext cx="11430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71500" y="5534025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42950" y="5438775"/>
            <a:ext cx="68865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加分项：覆盖率报告跑出来，目标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70%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以上——让</a:t>
            </a:r>
            <a:r>
              <a:rPr lang="en-US" sz="1575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FFFFFF"/>
                </a:solidFill>
                <a:latin typeface="Microsoft YaHei"/>
                <a:ea typeface="Microsoft YaHei"/>
              </a:rPr>
              <a:t>帮你补没覆盖到的分支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5" name="" descr="&lt;Slide&#10;  notes={`实操就到这里。&#10;&#10;最后一段，我把你们最常问的三个问题一次答清楚：测试写这么多时间够不够、E2E 为什么时好时坏、覆盖率 100% 是不是就等于好测试。&#10;&#10;然后布置今天的作业，一共两项，验收标准我一会说清楚。&#10;&#10;记住一句话：审查报告的结论必须你签字。出事了是你的责任，不是 AI 的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Q&amp;amp;A &amp;amp; ASSIGNMENT&lt;/Text&gt;&#10;        &lt;Text style={{ fontSize: 56, color: '#1A2230', fontWeight: 'bold', lineHeight: 1.25 }}&gt;答疑与作业&lt;/Text&gt;&#10;        &lt;Text style={{ fontSize: 26, color: '#4A5568', lineHeight: 1.5 }}&gt;把疑问一次说清，把今天要交的东西说明白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三个高频问题：时间不够 / E2E 不稳定 / 覆盖率迷思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两项作业：三层测试落地 / AI Code Review 报告&lt;/Text&gt;&#10;        &lt;/Box&gt;&#10;        &lt;Box style={{ flexDirection: 'row', alignItems: 'flex-start', gap: 14 }}&gt;&#10;          &lt;Box style={{ width: 10, height: 10, background: '#D9534F', marginTop: 12 }} /&gt;&#10;          &lt;Text style={{ fontSize: 23, color: '#1A2230', lineHeight: 1.5 }}&gt;期末验收现场跑测试，跑挂的组直接扣质量分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Q&amp;A &amp; ASSIGNMENT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答疑与作业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把疑问一次说清，把今天要交的东西说明白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50482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三个高频问题：时间不够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E2E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不稳定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覆盖率迷思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47720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两项作业：三层测试落地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/ AI Code Review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43815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期末验收现场跑测试，跑挂的组直接扣质量分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69" name="" descr="&lt;Slide&#10;  notes={`你们问得最多的有三个问题，我一起答。&#10;&#10;第一，&quot;测试写这么多，开发时间不够怎么办？&quot;让 AI 写测试，你只负责定测什么。测试清单是你定的，代码是 AI 写的，速度不会慢。&#10;&#10;第二，&quot;E2E 测试老是时好时坏？&quot;正常，E2E 天生脆弱。规则是：只测主流程，跑挂先看是不是环境问题，比如数据库状态、端口，再怀疑代码。排查方法让 AI 帮你找。&#10;&#10;第三，&quot;覆盖率 100% 就是好测试吗？&quot;不是。覆盖率是手段不是目标，测了不等于测对。关键路径可信，比覆盖率数字重要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常见问题应答&lt;/Text&gt;&#10;    &lt;Text style={{ fontSize: 16, color: '#C9D9F2' }}&gt;医院信息系统实验 · 第 8 课&lt;/Text&gt;&#10;  &lt;/Box&gt;&#10;&#10;  &lt;Box style={{ width: '1280px', height: '552px', flexDirection: 'row', padding: '24px 40px 0px 40px', gap: 30 }}&gt;&#10;    &lt;Box style={{ width: '360px', height: '528px', background: '#E8EFF8', border: '1px solid #D6DCE5', padding: '28px 26px', justifyContent: 'space-between' }}&gt;&#10;      &lt;Box style={{ gap: 14 }}&gt;&#10;        &lt;Text style={{ fontSize: 17, color: '#3D7BD9', letterSpacing: 2 }}&gt;FAQ&lt;/Text&gt;&#10;        &lt;Text style={{ fontSize: 42, color: '#1A2230', fontWeight: 'bold', lineHeight: 1.2 }}&gt;常见问题&lt;br /&gt;应答&lt;/Text&gt;&#10;        &lt;Box style={{ width: 80, height: 5, background: '#1E4FA8' }} /&gt;&#10;      &lt;/Box&gt;&#10;&#10;      &lt;Box style={{ gap: 12 }}&gt;&#10;        &lt;Box style={{ background: '#FFFFFF', padding: '10px 16px', borderRadius: 20, alignItems: 'center' }}&gt;&#10;          &lt;Text style={{ fontSize: 20, color: '#1E4FA8', fontWeight: 'bold' }}&gt;时间不够&lt;/Text&gt;&#10;        &lt;/Box&gt;&#10;        &lt;Box style={{ background: '#FFFFFF', padding: '10px 16px', borderRadius: 20, alignItems: 'center' }}&gt;&#10;          &lt;Text style={{ fontSize: 20, color: '#1E4FA8', fontWeight: 'bold' }}&gt;E2E 不稳定&lt;/Text&gt;&#10;        &lt;/Box&gt;&#10;        &lt;Box style={{ background: '#FFFFFF', padding: '10px 16px', borderRadius: 20, alignItems: 'center' }}&gt;&#10;          &lt;Text style={{ fontSize: 20, color: '#1E4FA8', fontWeight: 'bold' }}&gt;覆盖率迷思&lt;/Text&gt;&#10;        &lt;/Box&gt;&#10;      &lt;/Box&gt;&#10;&#10;      &lt;Text style={{ fontSize: 20, color: '#4A5568', lineHeight: 1.5 }}&gt;&#10;        这三个问题每年都被问，答案都指向同一件事：先想清楚&quot;测什么&quot;，再谈&quot;怎么测&quot;。&#10;      &lt;/Text&gt;&#10;    &lt;/Box&gt;&#10;&#10;    &lt;Box style={{ width: '810px', height: '528px', gap: 9 }}&gt;&#10;      &lt;Box style={{ height: '170px', background: '#F7F9FC', border: '1px solid #D6DCE5', borderLeft: '6px solid #D9534F', padding: '18px 22px', justifyContent: 'space-between' }}&gt;&#10;        &lt;Text style={{ fontSize: 24, color: '#1A2230', fontWeight: 'bold', lineHeight: 1.4 }}&gt;&#10;          Q：测试写这么多，开发时间不够怎么办？&#10;        &lt;/Text&gt;&#10;        &lt;Text style={{ fontSize: 21, color: '#4A5568', lineHeight: 1.5 }}&gt;&#10;          A：让 AI 写测试，&lt;span style={{ color: '#1E4FA8', fontWeight: 'bold' }}&gt;你只负责定&quot;测什么&quot;&lt;/span&gt;。测试清单（正常 / 边界 / 异常）是你定的，代码是 AI 写的，速度不会慢。&#10;        &lt;/Text&gt;&#10;      &lt;/Box&gt;&#10;&#10;      &lt;Box style={{ height: '170px', background: '#F7F9FC', border: '1px solid #D6DCE5', borderLeft: '6px solid #1E4FA8', padding: '18px 22px', justifyContent: 'space-between' }}&gt;&#10;        &lt;Text style={{ fontSize: 24, color: '#1A2230', fontWeight: 'bold', lineHeight: 1.4 }}&gt;&#10;          Q：E2E 测试老是时好时坏，怎么办？&#10;        &lt;/Text&gt;&#10;        &lt;Text style={{ fontSize: 21, color: '#4A5568', lineHeight: 1.5 }}&gt;&#10;          A：正常，E2E 天生脆弱。规则是&lt;span style={{ color: '#1E4FA8', fontWeight: 'bold' }}&gt;只测主流程&lt;/span&gt;；跑挂先看是不是环境问题（数据库状态、端口），再怀疑代码，排查让 AI 帮你。&#10;        &lt;/Text&gt;&#10;      &lt;/Box&gt;&#10;&#10;      &lt;Box style={{ height: '170px', background: '#F7F9FC', border: '1px solid #D6DCE5', borderLeft: '6px solid #FFC107', padding: '18px 22px', justifyContent: 'space-between' }}&gt;&#10;        &lt;Text style={{ fontSize: 24, color: '#1A2230', fontWeight: 'bold', lineHeight: 1.4 }}&gt;&#10;          Q：覆盖率 100% 就是好测试吗？&#10;        &lt;/Text&gt;&#10;        &lt;Text style={{ fontSize: 21, color: '#4A5568', lineHeight: 1.5 }}&gt;&#10;          A：不是。&lt;span style={{ color: '#1A2230', fontWeight: 'bold' }}&gt;覆盖率是手段不是目标，测了不等于测对&lt;/span&gt;。关键路径（钱、库存、号源）可信，比覆盖率数字重要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常见问题应答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28650" y="11811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28650" y="1514475"/>
            <a:ext cx="2933700" cy="1152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常见问题</a:t>
            </a:r>
            <a:endParaRPr/>
          </a:p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应答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28650" y="2800350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" name=""/>
          <p:cNvSpPr/>
          <p:nvPr/>
        </p:nvSpPr>
        <p:spPr>
          <a:xfrm rot="0" flipH="0" flipV="0">
            <a:off x="628650" y="30099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714500" y="3105150"/>
            <a:ext cx="762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时间不够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28650" y="35433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609725" y="363855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E2E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不稳定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28650" y="407670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619250" y="4171950"/>
            <a:ext cx="952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覆盖率迷思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628650" y="4648200"/>
            <a:ext cx="29337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这三个问题每年都被问，答案都指向同一件事：先想清楚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测什么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，再谈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怎么测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4152900" y="91440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6" name=""/>
          <p:cNvSpPr/>
          <p:nvPr/>
        </p:nvSpPr>
        <p:spPr>
          <a:xfrm rot="0" flipH="0" flipV="0">
            <a:off x="4095750" y="91440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62450" y="108585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：测试写这么多，开发时间不够怎么办？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4362450" y="163830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写测试，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你只负责定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测什么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。测试清单（正常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边界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/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异常）是你定的，代码是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写的，速度不会慢。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152900" y="2619375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4095750" y="2619375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4362450" y="2790825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E2E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测试老是时好时坏，怎么办？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362450" y="3343275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：正常，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E2E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天生脆弱。规则是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只测主流程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；跑挂先看是不是环境问题（数据库状态、端口），再怀疑代码，排查让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帮你。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4152900" y="432435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4" name=""/>
          <p:cNvSpPr/>
          <p:nvPr/>
        </p:nvSpPr>
        <p:spPr>
          <a:xfrm rot="0" flipH="0" flipV="0">
            <a:off x="4095750" y="432435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362450" y="449580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：覆盖率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 100%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就是好测试吗？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362450" y="504825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：不是。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覆盖率是手段不是目标，测了不等于测对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。关键路径（钱、库存、号源）可信，比覆盖率数字重要。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9" name="" descr="&lt;Slide&#10;  notes={`请记住今天这句话：测试不是加分项，是生产级的及格线。&#10;&#10;为什么？因为 AI 写的代码有个特点——正常路径很漂亮，边界条件靠运气。它不会主动想到&quot;库存只剩 1 件时两个人同时来买&quot;。所以 AI 写的代码，更需要测试。&#10;&#10;还有一点：不要被覆盖率数字骗了。覆盖率高不代表测对了。钱、库存、号源这几条关键路径可信，比任何百分比都重要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核心主张 · 测试与代码质量&lt;/Text&gt;&#10;    &lt;Text style={{ fontSize: 16, color: '#C9D9F2' }}&gt;医院信息系统实验 · 第 8 课&lt;/Text&gt;&#10;  &lt;/Box&gt;&#10;&#10;  &lt;Box style={{ width: '1280px', height: '552px', padding: '24px 40px 0px 40px' }}&gt;&#10;    &lt;Box style={{ height: '300px', background: '#0E3F8C', padding: '34px 44px', justifyContent: 'space-between' }}&gt;&#10;      &lt;Box style={{ flexDirection: 'row', alignItems: 'center', gap: 16 }}&gt;&#10;        &lt;Box style={{ width: 8, height: 30, background: '#FFC107' }} /&gt;&#10;        &lt;Text style={{ fontSize: 19, color: '#8FAED8', letterSpacing: 2 }}&gt;KEY MESSAGE OF THIS LESSON&lt;/Text&gt;&#10;      &lt;/Box&gt;&#10;&#10;      &lt;Text style={{ fontSize: 76, color: '#FFFFFF', fontWeight: 'bold', lineHeight: 1.18 }}&gt;&#10;        测试不是加分项&lt;br /&gt;是生产级的及格线&#10;      &lt;/Text&gt;&#10;&#10;      &lt;Box style={{ flexDirection: 'row', alignItems: 'center', gap: 20 }}&gt;&#10;        &lt;Box style={{ width: 100, height: 5, background: '#FFC107' }} /&gt;&#10;        &lt;Text style={{ fontSize: 24, color: '#C9D9F2' }}&gt;正常路径很漂亮，边界条件靠运气&lt;/Text&gt;&#10;      &lt;/Box&gt;&#10;    &lt;/Box&gt;&#10;&#10;    &lt;Box style={{ height: '18px' }} /&gt;&#10;&#10;    &lt;Box style={{ height: '210px', flexDirection: 'row', gap: 24 }}&gt;&#10;      &lt;Box style={{ flex: 1, background: '#F7F9FC', border: '1px solid #D6DCE5', borderTop: '4px solid #1E4FA8', padding: '20px 22px', gap: 10 }}&gt;&#10;        &lt;Box style={{ flexDirection: 'row', alignItems: 'center', gap: 10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Text style={{ fontSize: 26, color: '#1A2230', fontWeight: 'bold' }}&gt;AI 写的代码更需要测试&lt;/Text&gt;&#10;        &lt;/Box&gt;&#10;        &lt;Text style={{ fontSize: 21, color: '#4A5568', lineHeight: 1.5 }}&gt;&#10;          它不会主动想到&quot;库存只剩 1 件时两个人同时来买&quot;。&lt;span style={{ fontWeight: 'bold', color: '#1E4FA8' }}&gt;边界条件靠运气&lt;/span&gt;，测试就是把运气变成确定性。&#10;        &lt;/Text&gt;&#10;      &lt;/Box&gt;&#10;      &lt;Box style={{ flex: 1, background: '#F7F9FC', border: '1px solid #D6DCE5', borderTop: '4px solid #D9534F', padding: '20px 22px', gap: 10 }}&gt;&#10;        &lt;Box style={{ flexDirection: 'row', alignItems: 'center', gap: 10 }}&gt;&#10;          &lt;Box style={{ width: 34, height: 34, background: '#D9534F', alignItems: 'center', justifyContent: 'center' }}&gt;&#10;            &lt;Text style={{ fontSize: 18, color: '#FFFFFF', fontWeight: 'bold' }}&gt;2&lt;/Text&gt;&#10;          &lt;/Box&gt;&#10;          &lt;Text style={{ fontSize: 26, color: '#1A2230', fontWeight: 'bold' }}&gt;关键路径可信 &amp;gt; 覆盖率数字&lt;/Text&gt;&#10;        &lt;/Box&gt;&#10;        &lt;Text style={{ fontSize: 21, color: '#4A5568', lineHeight: 1.5 }}&gt;&#10;          &lt;span style={{ fontWeight: 'bold', color: '#D9534F' }}&gt;钱、库存、号源&lt;/span&gt;这三条路径必须有测试兜底，这比一个漂亮的百分比重要得多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1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676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本课核心主张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测试与代码质量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381000" y="914400"/>
            <a:ext cx="11430000" cy="2857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800100" y="123825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28700" y="1276350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8FAED8"/>
                </a:solidFill>
                <a:latin typeface="Microsoft YaHei"/>
                <a:ea typeface="Microsoft YaHei"/>
              </a:rPr>
              <a:t>KEY MESSAGE OF THIS LESSON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00100" y="1524000"/>
            <a:ext cx="10591800" cy="2057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测试不是加分项</a:t>
            </a:r>
            <a:endParaRPr/>
          </a:p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是生产级的及格线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800100" y="3695700"/>
            <a:ext cx="952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1943100" y="3581400"/>
            <a:ext cx="34290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正常路径很漂亮，边界条件靠运气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3810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3810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2" name=""/>
          <p:cNvSpPr/>
          <p:nvPr/>
        </p:nvSpPr>
        <p:spPr>
          <a:xfrm rot="0" flipH="0" flipV="0">
            <a:off x="590550" y="417195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953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009650" y="4181475"/>
            <a:ext cx="2581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写的代码更需要测试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590550" y="459105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它不会主动想到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库存只剩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1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件时两个人同时来买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边界条件靠运气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，测试就是把运气变成确定性。</a:t>
            </a:r>
            <a:endParaRPr/>
          </a:p>
        </p:txBody>
      </p:sp>
      <p:sp>
        <p:nvSpPr>
          <p:cNvPr id="116" name=""/>
          <p:cNvSpPr/>
          <p:nvPr/>
        </p:nvSpPr>
        <p:spPr>
          <a:xfrm rot="0" flipH="0" flipV="0">
            <a:off x="6210300" y="39814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210300" y="3943350"/>
            <a:ext cx="5600700" cy="2038350"/>
          </a:xfrm>
          <a:custGeom>
            <a:pathLst>
              <a:path w="588" h="21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6419850" y="4171950"/>
            <a:ext cx="323850" cy="323850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5246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838950" y="4181475"/>
            <a:ext cx="3067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关键路径可信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&gt;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覆盖率数字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419850" y="4591050"/>
            <a:ext cx="5181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钱、库存、号源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这三条路径必须有测试兜底，这比一个漂亮的百分比重要得多。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24" name="" descr="&lt;Slide&#10;  notes={`作业两项。&#10;&#10;第一，三层测试落地。单元测试、API 测试、E2E 各写一组，把 pytest 或 vitest 全绿的截图交上来。&#10;&#10;第二，AI Code Review 报告。至少发现 3 个真实问题并修复，报告里要写清&quot;AI 发现、人工确认、修复方式&quot;这三步。&#10;&#10;这两份东西，期末验收我会现场跑测试，跑挂的组直接扣质量分。所以别只交截图，得真能跑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答疑与作业 · 作业布置&lt;/Text&gt;&#10;    &lt;Text style={{ fontSize: 16, color: '#C9D9F2' }}&gt;医院信息系统实验 · 第 8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本节课作业（两项）&lt;/Text&gt;&#10;      &lt;Text style={{ fontSize: 22, color: '#8B97A8' }}&gt;提交至课程群公告指定入口&lt;/Text&gt;&#10;    &lt;/Box&gt;&#10;&#10;    &lt;Box style={{ height: '14px' }} /&gt;&#10;&#10;    &lt;svg width={1200} height={130} viewBox='0 0 1200 130'&gt;&#10;      &lt;rect x='300' y='42' width='600' height='8' rx='4' fill='#E5E7EB' /&gt;&#10;      &lt;rect x='300' y='42' width='600' height='8' rx='4' fill='#1E4FA8' opacity='0.25' /&gt;&#10;      &lt;circle cx='300' cy='46' r='30' fill='#1E4FA8' /&gt;&#10;      &lt;text x='300' y='47' text-anchor='middle' dominant-baseline='central' font-size='24' font-weight='bold' fill='#FFFFFF'&gt;1&lt;/text&gt;&#10;      &lt;circle cx='900' cy='46' r='34' fill='#D9534F' /&gt;&#10;      &lt;text x='900' y='47' text-anchor='middle' dominant-baseline='central' font-size='26' font-weight='bold' fill='#FFFFFF'&gt;2&lt;/text&gt;&#10;      &lt;text x='300' y='106' text-anchor='middle' font-size='24' font-weight='bold' fill='#1A2230'&gt;三层测试落地&lt;/text&gt;&#10;      &lt;text x='900' y='106' text-anchor='middle' font-size='24' font-weight='bold' fill='#D9534F'&gt;AI Code Review 报告&lt;/text&gt;&#10;    &lt;/svg&gt;&#10;&#10;    &lt;Box style={{ height: '16px' }} /&gt;&#10;&#10;    &lt;Box style={{ height: '250px', flexDirection: 'row', gap: 24 }}&gt;&#10;      &lt;Box style={{ flex: 1, background: '#F7F9FC', border: '1px solid #D6DCE5', borderTop: '4px solid #1E4FA8', padding: '22px 24px', gap: 12 }}&gt;&#10;        &lt;Text style={{ fontSize: 26, color: '#1A2230', fontWeight: 'bold' }}&gt;① 三层测试落地&lt;/Text&gt;&#10;        &lt;Text style={{ fontSize: 21, color: '#4A5568', lineHeight: 1.5 }}&gt;&#10;          单元测试、API 测试、E2E 各写一组，提交 &lt;span style={{ fontWeight: 'bold', color: '#1E4FA8' }}&gt;pytest / vitest 全绿截图&lt;/span&gt;。三层缺一层，本项不算完成。&#10;        &lt;/Text&gt;&#10;        &lt;Box style={{ background: '#E8EFF8', padding: '10px 14px' }}&gt;&#10;          &lt;Text style={{ fontSize: 19, color: '#1E4FA8' }}&gt;验收点：截图能看到用例条数与通过状态&lt;/Text&gt;&#10;        &lt;/Box&gt;&#10;      &lt;/Box&gt;&#10;      &lt;Box style={{ flex: 1, background: '#E8EFF8', border: '1px solid #3D7BD9', borderTop: '4px solid #D9534F', padding: '22px 24px', gap: 12 }}&gt;&#10;        &lt;Text style={{ fontSize: 26, color: '#1A2230', fontWeight: 'bold' }}&gt;② AI Code Review 报告&lt;/Text&gt;&#10;        &lt;Text style={{ fontSize: 21, color: '#4A5568', lineHeight: 1.5 }}&gt;&#10;          至少发现 &lt;span style={{ fontWeight: 'bold', color: '#D9534F' }}&gt;3 个真实问题并修复&lt;/span&gt;，报告写清&quot;&lt;span style={{ fontWeight: 'bold', color: '#1E4FA8' }}&gt;AI 发现 → 人工确认 → 修复方式&lt;/span&gt;&quot;三步。&#10;        &lt;/Text&gt;&#10;        &lt;Box style={{ background: '#FFFFFF', padding: '10px 14px' }}&gt;&#10;          &lt;Text style={{ fontSize: 19, color: '#D9534F', fontWeight: 'bold' }}&gt;编造的问题不算数，必须是真实缺陷&lt;/Text&gt;&#10;        &lt;/Box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期末验收现场跑测试，跑挂的组直接扣质量分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答疑与作业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作业布置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30861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本节课作业（两项）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790950" y="1019175"/>
            <a:ext cx="2514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提交至课程群公告指定入口</a:t>
            </a:r>
            <a:endParaRPr/>
          </a:p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238250"/>
          </a:xfrm>
          <a:prstGeom prst="rect">
            <a:avLst/>
          </a:prstGeom>
          <a:ln/>
        </p:spPr>
      </p:pic>
      <p:sp>
        <p:nvSpPr>
          <p:cNvPr id="133" name=""/>
          <p:cNvSpPr/>
          <p:nvPr/>
        </p:nvSpPr>
        <p:spPr>
          <a:xfrm rot="0" flipH="0" flipV="0">
            <a:off x="381000" y="2933700"/>
            <a:ext cx="5600700" cy="2381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381000" y="2895600"/>
            <a:ext cx="5600700" cy="2419350"/>
          </a:xfrm>
          <a:custGeom>
            <a:pathLst>
              <a:path w="588" h="25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314325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①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三层测试落地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3562350"/>
            <a:ext cx="5143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单元测试、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API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测试、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E2E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各写一组，提交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pytest / vitest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全绿截图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。三层缺一层，本项不算完成。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4400550"/>
            <a:ext cx="5143500" cy="4095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4495800"/>
            <a:ext cx="4876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4FA8"/>
                </a:solidFill>
                <a:latin typeface="Microsoft YaHei"/>
                <a:ea typeface="Microsoft YaHei"/>
              </a:rPr>
              <a:t>验收点：截图能看到用例条数与通过状态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6210300" y="2933700"/>
            <a:ext cx="5600700" cy="23812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6210300" y="2895600"/>
            <a:ext cx="5600700" cy="2419350"/>
          </a:xfrm>
          <a:custGeom>
            <a:pathLst>
              <a:path w="588" h="254">
                <a:moveTo>
                  <a:pt x="0" y="0"/>
                </a:moveTo>
                <a:lnTo>
                  <a:pt x="588" y="0"/>
                </a:lnTo>
                <a:lnTo>
                  <a:pt x="588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438900" y="3143250"/>
            <a:ext cx="5143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② AI Code Review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38900" y="3562350"/>
            <a:ext cx="5143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至少发现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3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个真实问题并修复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，报告写清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发现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人工确认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→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修复方式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三步。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438900" y="4400550"/>
            <a:ext cx="5143500" cy="4095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572250" y="4495800"/>
            <a:ext cx="4876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D9534F"/>
                </a:solidFill>
                <a:latin typeface="Microsoft YaHei"/>
                <a:ea typeface="Microsoft YaHei"/>
              </a:rPr>
              <a:t>编造的问题不算数，必须是真实缺陷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381000" y="53911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571500" y="55816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42950" y="5486400"/>
            <a:ext cx="4191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期末验收现场跑测试，跑挂的组直接扣质量分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50" name="" descr="&lt;Slide&#10;  notes={`今天就到这里。&#10;&#10;回去把三层测试补齐，覆盖率往 70% 以上冲，AI Code Review 报告别拖到交作业前一晚——真实问题要靠时间跑出来。&#10;&#10;记住今天这句话：AI 负责写，你们负责测。&#10;&#10;下节课我们讲部署与运维，把系统真正放到服务器上去跑。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circle cx='520' cy='180' r='130' fill='#1E4FA8' opacity='0.45' /&gt;&#10;    &lt;circle cx='520' cy='180' r='70' fill='#FFC107' opacity='0.35' /&gt;&#10;    &lt;path d='M446 176 l22 22 l52 -52' fill='none' stroke='#FFFFFF' strokeWidth='11' strokeLinecap='round' strokeLinejoin='round' opacity='0.9' /&gt;&#10;    &lt;rect x='330' y='560' width='240' height='8' rx='4' fill='#FFFFFF' opacity='0.15' /&gt;&#10;    &lt;rect x='330' y='590' width='170' height='8' rx='4' fill='#FFFFFF' opacity='0.12' /&gt;&#10;    &lt;rect x='330' y='620' width='280' height='8' rx='4' fill='#FFFFFF' opacity='0.15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8 课 · 小结&lt;/Text&gt;&#10;      &lt;/Box&gt;&#10;      &lt;Text style={{ fontSize: 58, color: '#FFFFFF', fontWeight: 'bold', lineHeight: 1.25 }}&gt;AI 负责写&lt;br /&gt;你们负责测&lt;/Text&gt;&#10;    &lt;/Box&gt;&#10;&#10;    &lt;Box style={{ width: '520px', gap: 14 }}&gt;&#10;      &lt;Box style={{ height: 2, background: '#3D7BD9' }} /&gt;&#10;      &lt;Text style={{ fontSize: 26, color: '#C9D9F2', lineHeight: 1.5 }}&gt;下节课预告&lt;/Text&gt;&#10;      &lt;Text style={{ fontSize: 38, color: '#FFFFFF', fontWeight: 'bold', lineHeight: 1.3 }}&gt;第 9 课 部署与运维&lt;/Text&gt;&#10;      &lt;Text style={{ fontSize: 22, color: '#8FAED8', lineHeight: 1.5 }}&gt;把系统真正放到服务器上跑起来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主讲教师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53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15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8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1657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43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负责写</a:t>
            </a:r>
            <a:endParaRPr/>
          </a:p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你们负责测</a:t>
            </a:r>
            <a:endParaRPr/>
          </a:p>
        </p:txBody>
      </p:sp>
      <p:sp>
        <p:nvSpPr>
          <p:cNvPr id="156" name=""/>
          <p:cNvSpPr/>
          <p:nvPr/>
        </p:nvSpPr>
        <p:spPr>
          <a:xfrm rot="0" flipH="0" flipV="0">
            <a:off x="609600" y="3505200"/>
            <a:ext cx="4953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3657600"/>
            <a:ext cx="4953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下节课预告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4238625"/>
            <a:ext cx="49530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9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部署与运维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4943475"/>
            <a:ext cx="4953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把系统真正放到服务器上跑起来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2026-09-07T00:36:13Z</dcterms:created>
  <dcterms:modified xsi:type="dcterms:W3CDTF">2026-09-07T00:36:13Z</dcterms:modified>
</cp:coreProperties>
</file>
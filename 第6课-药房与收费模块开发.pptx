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同学们好，第六周了。上周各组的主线功能落地，本周我们打通本组的业务闭环。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A 路线是划价、收费、发药；B 路线是医嘱记账、出院结算、摆药；C 路线是病案、统计、报表。上完这课，你们的系统将完整跑通验收演示的主线剧情。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先讲业务规则，这是今天最重要的五分钟：处方到划价到收费到扣库存到发药，五个动作必须串成一条链。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今天这节课分三段走，一共九十分钟。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第一段，我先把业务闭环的规则讲清楚——五个动作怎么串成一条链，哪三个&amp;quot;必须&amp;quot;是底线。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第二段，我当着你们的面演示三步走：药品与库存、处方与收费事务、收费台前端，每一步都是先给方案、验证、再提交。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第三段，讲工程组织的三个规矩，然后你们实操三十五分钟，最后留五分钟做交叉测试。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我们先把业务规则讲透，这是今天最重要的五分钟。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上周各组的主线功能已经落地了，但功能是功能，闭环是闭环。一个按钮能点，不等于一条业务能从头走到尾。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本周你们要把本路线那几个动作串起来：A 路线串划价、收费、发药，B 路线串医嘱记账、出院结算、摆药，C 路线串病案、统计、报表。串完之后，验收演示的主线剧情你们就能完整跑一遍了。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先讲业务规则，这五个动作你们记牢：处方、划价、收费、扣库存、发药。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医生开方的时候就要划价，金额是药品单价乘以数量。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患者缴费的时候做结算。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发药的时候才扣库存，扣的是实际出库的那一笔。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这五个动作必须串成一条链——中间断任何一环，前面几个动作在系统里就都是脏数据。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这条链上有三个&amp;quot;必须&amp;quot;，你们拿笔记一下。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第一，金额计算必须准确。单价以药品档案为准，不是前端传什么你就信什么。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第二，收费和扣库存必须在事务里。钱收了库存没扣，这叫事故，不叫 bug。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第三，库存不足必须拦截发药。库存不够，这一步就停在这，不许出负数。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这三条 AI 不会主动想到，得你们写进提示词里。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这三个&amp;quot;必须&amp;quot;，我一条条拆给你们看。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第一条，金额以药品档案为准。前端传价格等于患者可以自己改价，你在浏览器里改个数字，药价就变了。所以金额必须后端按药品档案单价计算。这个知识点期末考试必考，记住了。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第二条，收费与扣库存是同一个事务，原子操作，要么都成功要么都回滚。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第三条，库存不足拦截发药，业务上返回 400 拦截，技术上库存表加约束数量大于等于零，双保险。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规则讲完了，我演示一遍怎么把这些规则变成代码。老规矩，三步走，每步验证加提交。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第一步，药品与库存管理。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第二步，处方与收费事务，这是今天最核心的一步。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第三步，收费台前端。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B 路线的同学对照着听：把处方换成医嘱，把收费结算换成出院结算，把发药扣库存换成摆药，结构是一模一样的。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看第二步的提示词，我念一遍：新增处方模块，医生为挂号单患者开方，含诊断和药品明细，生成处方后自动划价；收费 API 在事务内完成：创建收费单、标记处方已收费、扣减药品库存。库存不足返回 400。先给方案。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注意最后四个字，先给方案——先看它打算怎么干，再让它动手。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特别注意前面那句&amp;quot;在事务内完成&amp;quot;，还有&amp;quot;库存不足返回 400&amp;quot;。这两句话是我特意写进去的，这就是你们的职责。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验证的时候，开方、收费、查库存，确认扣减是对的，然后再试一次库存不足的场景。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这页是三步走的整体结构，你们对着看。左中右三块，左边是药品与库存管理，中间是处方与收费事务，右边是收费台前端。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中间这块是重点：开方之后自动划价，收费的时候在一个事务里做完三件事——创建收费单、标记处方已收费、扣减库存。库存不够，直接返回 400 拦住。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注意看我刚才的验证动作：我没有一路顺下去就完事，而是专门测了库存不足这个边界场景。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项目走到第六周，文件多了，我们开始讲工程组织。三个规矩。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第一，目录结构写进 AGENTS.md。后端 models、routers、schemas，前端 pages、components、api。AI 每次干活都会先读 AGENTS.md，你把目录规范写进去，它就会遵守。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第二，改表结构不许删库重建。你们一定会遇到要加个字段的时候，正确姿势是让 AI 写迁移脚本：先检查列是否存在，再改表，还得有备份策略。删库重建是开发期偷懒，演示前一天数据全没了，那就是事故。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第三，前后端字段一致性。后端叫 patient_id，前端传 patientId，接口直接 422，这是 vibe coding 项目最常见的翻车点。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现在轮到你们动手，三十五分钟。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目标是药品管理、处方划价、收费结算、发药扣库存，全流程跑通。按我刚才演示的三步走，每步验证再提交，别一口气做完再验。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做完全流程的组，进入交叉测试：两组互换测试账号，互相走一遍挂号、开方、收费、发药的全流程，发现问题写到对方仓库的 Issues 里，至少写三条。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最后五分钟我们收一下，然后布置作业。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你们问得最多的三个问题，我一起答。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第一，&amp;quot;前端传过来的价格直接用了行吗？&amp;quot;不行。前端传价格等于患者可以自己改价。金额必须后端按药品档案单价计算。这个知识点期末考试必考。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第二，&amp;quot;库存扣减出现负数了怎么办？&amp;quot;两个层次。业务上，发药前检查，库存不足就拦截，返回 400；技术上，库存表加约束，数量大于等于零。双保险。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第三，&amp;quot;迁移脚本怎么写？&amp;quot;用教学方案附录 B 的迁移提示词模板，先检查列存在性，再 ALTER TABLE，别删表。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请记住今天这句话：生产级系统不是&amp;quot;能跑&amp;quot;，是&amp;quot;各种边界都不出错&amp;quot;。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正常路径能跑通，那只叫演示版。库存不够的时候会不会出负数？网络断了事务会不会回滚？前端把价格改了后端信不信？这些地方不出错，才叫生产级。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所以你们做功能的时候，要主动问自己一句：这个功能的边界在哪？找到了，就把它写进提示词，让 AI 一次做对。验收的时候，我会随机挑这类场景现场测。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作业两项，听清楚验收标准。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第一，药房收费闭环完成，交全流程演示截图。截图要能看清每一步：开方、划价、收费、发药，我要看到处方明细、金额和库存变化。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第二，交叉测试的 Issues 至少写三条。注意 Issue 的写法，四个要素缺一不可：复现步骤、期望行为、实际行为、相关截图。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本周作业截止前，各组把 Issues 链接发到群里，我挑典型的下周讲。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闭环已经通了，你们的系统现在可以跑完整的验收主线：挂号、开方、划价、收费、发药，一条链走到底。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下一阶段我们做安全加固与部署上线。能跑的系统和敢上线的系统之间，还差权限、数据和环境这三关。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回去先把今天的三步走提交记录整理好，作业按时交。下课。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同学们好，第六周了。上周各组的主线功能落地，本周我们打通本组的业务闭环。&#10;&#10;A 路线是划价、收费、发药；B 路线是医嘱记账、出院结算、摆药；C 路线是病案、统计、报表。上完这课，你们的系统将完整跑通验收演示的主线剧情。&#10;&#10;先讲业务规则，这是今天最重要的五分钟：处方到划价到收费到扣库存到发药，五个动作必须串成一条链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    &lt;rect x='190' y='120' width='250' height='10' rx='5' fill='#FFFFFF' opacity='0.16' /&gt;&#10;    &lt;rect x='190' y='150' width='180' height='10' rx='5' fill='#FFFFFF' opacity='0.13' /&gt;&#10;    &lt;rect x='210' y='180' width='290' height='10' rx='5' fill='#FFFFFF' opacity='0.16' /&gt;&#10;    &lt;rect x='210' y='210' width='150' height='10' rx='5' fill='#FFC107' opacity='0.45' /&gt;&#10;    &lt;rect x='210' y='240' width='240' height='10' rx='5' fill='#FFFFFF' opacity='0.13' /&gt;&#10;    &lt;rect x='190' y='300' width='200' height='10' rx='5' fill='#FFFFFF' opacity='0.16' /&gt;&#10;    &lt;rect x='190' y='330' width='260' height='10' rx='5' fill='#FFFFFF' opacity='0.13' /&gt;&#10;    &lt;rect x='210' y='360' width='170' height='10' rx='5' fill='#3D7BD9' opacity='0.7' /&gt;&#10;    &lt;g transform='translate(430,470)'&gt;&#10;      &lt;rect x='-15' y='-48' width='30' height='96' rx='8' fill='#FFFFFF' opacity='0.18' /&gt;&#10;      &lt;rect x='-48' y='-15' width='96' height='30' rx='8' fill='#FFFFFF' opacity='0.18' /&gt;&#10;    &lt;/g&gt;&#10;    &lt;g transform='translate(455,250) rotate(-32)'&gt;&#10;      &lt;rect x='-72' y='-24' width='144' height='48' rx='24' fill='#FFFFFF' opacity='0.10' /&gt;&#10;      &lt;rect x='-72' y='-24' width='72' height='48' rx='24' fill='#3D7BD9' opacity='0.55' /&gt;&#10;    &lt;/g&gt;&#10;    &lt;circle cx='470' cy='620' r='60' fill='#1E4FA8' opacity='0.5' /&gt;&#10;    &lt;circle cx='470' cy='620' r='30' fill='#FFC107' opacity='0.5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6 课&lt;/Text&gt;&#10;        &lt;/Box&gt;&#10;        &lt;Text style={{ fontSize: 22, color: '#9FBEE6' }}&gt;Pharmacy &amp;amp; Billing&lt;/Text&gt;&#10;      &lt;/Box&gt;&#10;      &lt;Text style={{ fontSize: 58, color: '#FFFFFF', fontWeight: 'bold', lineHeight: 1.2 }}&gt;药房与收费模块开发&lt;/Text&gt;&#10;      &lt;Text style={{ fontSize: 30, color: '#C9D9F2', lineHeight: 1.4 }}&gt;打通业务闭环 · 本周跑通验收主线&lt;/Text&gt;&#10;      &lt;Text style={{ fontSize: 26, color: '#8FAED8', lineHeight: 1.4 }}&gt;处方 → 划价 → 收费 → 扣库存 → 发药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主讲教师&lt;/Text&gt;&#10;      &lt;Box style={{ width: 1, height: 20, background: '#4A6FA8' }} /&gt;&#10;      &lt;Text style={{ fontSize: 18, color: '#8FAED8' }}&gt;2026 年秋季学期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009775"/>
            <a:ext cx="98107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066925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6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724025" y="206692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Pharmacy &amp; Billing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11201400" cy="800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药房与收费模块开发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打通业务闭环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本周跑通验收主线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4295775"/>
            <a:ext cx="112014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>
                <a:solidFill>
                  <a:srgbClr val="8FAED8"/>
                </a:solidFill>
                <a:latin typeface="Microsoft YaHei"/>
                <a:ea typeface="Microsoft YaHei"/>
              </a:rPr>
              <a:t>处方</a:t>
            </a:r>
            <a:r>
              <a:rPr lang="en-US" sz="19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950">
                <a:solidFill>
                  <a:srgbClr val="8FAED8"/>
                </a:solidFill>
                <a:latin typeface="Microsoft YaHei"/>
                <a:ea typeface="Microsoft YaHei"/>
              </a:rPr>
              <a:t>划价</a:t>
            </a:r>
            <a:r>
              <a:rPr lang="en-US" sz="19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950">
                <a:solidFill>
                  <a:srgbClr val="8FAED8"/>
                </a:solidFill>
                <a:latin typeface="Microsoft YaHei"/>
                <a:ea typeface="Microsoft YaHei"/>
              </a:rPr>
              <a:t>收费</a:t>
            </a:r>
            <a:r>
              <a:rPr lang="en-US" sz="19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950">
                <a:solidFill>
                  <a:srgbClr val="8FAED8"/>
                </a:solidFill>
                <a:latin typeface="Microsoft YaHei"/>
                <a:ea typeface="Microsoft YaHei"/>
              </a:rPr>
              <a:t>扣库存</a:t>
            </a:r>
            <a:r>
              <a:rPr lang="en-US" sz="19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950">
                <a:solidFill>
                  <a:srgbClr val="8FAED8"/>
                </a:solidFill>
                <a:latin typeface="Microsoft YaHei"/>
                <a:ea typeface="Microsoft YaHei"/>
              </a:rPr>
              <a:t>发药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09600" y="492442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30765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276600" y="611505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AED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年秋季学期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&#10;  notes={`今天这节课分三段走，一共九十分钟。&#10;&#10;第一段，我先把业务闭环的规则讲清楚——五个动作怎么串成一条链，哪三个&quot;必须&quot;是底线。&#10;&#10;第二段，我当着你们的面演示三步走：药品与库存、处方与收费事务、收费台前端，每一步都是先给方案、验证、再提交。&#10;&#10;第三段，讲工程组织的三个规矩，然后你们实操三十五分钟，最后留五分钟做交叉测试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6 课&lt;/Text&gt;&#10;  &lt;/Box&gt;&#10;&#10;  &lt;Box style={{ width: '1280px', height: '552px', flexDirection: 'row', padding: '24px 40px 0px 40px', gap: 30 }}&gt;&#10;    &lt;Box style={{ width: '42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2 }}&gt;&#10;        &lt;Text style={{ fontSize: 24, color: '#FFFFFF', fontWeight: 'bold', lineHeight: 1.5 }}&gt;90 分钟&lt;/Text&gt;&#10;        &lt;Text style={{ fontSize: 22, color: '#C9D9F2', lineHeight: 1.6 }}&gt;回顾 10 · 闭环讲授 5&lt;/Text&gt;&#10;        &lt;Text style={{ fontSize: 22, color: '#C9D9F2', lineHeight: 1.6 }}&gt;演示 25 · 工程组织 10&lt;/Text&gt;&#10;        &lt;Text style={{ fontSize: 22, color: '#C9D9F2', lineHeight: 1.6 }}&gt;实操 35 · 交叉测试 5&lt;/Text&gt;&#10;      &lt;/Box&gt;&#10;    &lt;/Box&gt;&#10;&#10;    &lt;Box style={{ width: '75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业务闭环规则&lt;/Text&gt;&#10;        &lt;/Box&gt;&#10;        &lt;Text style={{ fontSize: 22, color: '#4A5568', lineHeight: 1.45 }}&gt;五个动作串成一条链：处方、划价、收费、扣库存、发药，以及三个&quot;必须&quot;底线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三步走演示&lt;/Text&gt;&#10;        &lt;/Box&gt;&#10;        &lt;Text style={{ fontSize: 22, color: '#4A5568', lineHeight: 1.45 }}&gt;药品与库存管理、处方与收费事务、收费台前端，每步先给方案、验证、再提交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工程组织与作业&lt;/Text&gt;&#10;        &lt;/Box&gt;&#10;        &lt;Text style={{ fontSize: 22, color: '#4A5568', lineHeight: 1.45 }}&gt;目录结构、迁移脚本、字段一致三规矩，跑通闭环并完成交叉测试与作业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381000" y="914400"/>
            <a:ext cx="4000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390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390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3048000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85800" y="3609975"/>
            <a:ext cx="33909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90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85800" y="4143375"/>
            <a:ext cx="33909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回顾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10 ·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闭环讲授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5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4667250"/>
            <a:ext cx="33909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演示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25 ·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工程组织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10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85800" y="5191125"/>
            <a:ext cx="33909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35 ·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交叉测试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5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724400" y="914400"/>
            <a:ext cx="7143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667250" y="914400"/>
            <a:ext cx="7200900" cy="1562100"/>
          </a:xfrm>
          <a:custGeom>
            <a:pathLst>
              <a:path w="75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4972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048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486400" y="115252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业务闭环规则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972050" y="1581150"/>
            <a:ext cx="6591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五个动作串成一条链：处方、划价、收费、扣库存、发药，以及三个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必须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底线。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724400" y="2647950"/>
            <a:ext cx="7143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4667250" y="2647950"/>
            <a:ext cx="7200900" cy="1562100"/>
          </a:xfrm>
          <a:custGeom>
            <a:pathLst>
              <a:path w="75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4972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048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486400" y="288607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三步走演示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972050" y="3314700"/>
            <a:ext cx="6591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药品与库存管理、处方与收费事务、收费台前端，每步先给方案、验证、再提交。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724400" y="4381500"/>
            <a:ext cx="7143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667250" y="4381500"/>
            <a:ext cx="7200900" cy="1562100"/>
          </a:xfrm>
          <a:custGeom>
            <a:pathLst>
              <a:path w="75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4972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048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486400" y="4619625"/>
            <a:ext cx="1866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工程组织与作业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972050" y="5048250"/>
            <a:ext cx="6591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目录结构、迁移脚本、字段一致三规矩，跑通闭环并完成交叉测试与作业。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0" name="" descr="&lt;Slide&#10;  notes={`我们先把业务规则讲透，这是今天最重要的五分钟。&#10;&#10;上周各组的主线功能已经落地了，但功能是功能，闭环是闭环。一个按钮能点，不等于一条业务能从头走到尾。&#10;&#10;本周你们要把本路线那几个动作串起来：A 路线串划价、收费、发药，B 路线串医嘱记账、出院结算、摆药，C 路线串病案、统计、报表。串完之后，验收演示的主线剧情你们就能完整跑一遍了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BUSINESS CLOSED LOOP&lt;/Text&gt;&#10;        &lt;Text style={{ fontSize: 56, color: '#1A2230', fontWeight: 'bold', lineHeight: 1.25 }}&gt;业务闭环&lt;/Text&gt;&#10;        &lt;Text style={{ fontSize: 26, color: '#4A5568', lineHeight: 1.5 }}&gt;五个动作必须串成一条链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A/B/C 三条路线本周各自打通：A 划价、收费、发药；B 医嘱记账、出院结算、摆药；C 病案、统计、报表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上完这课，你们的系统将完整跑通验收演示的主线剧情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这些规则 AI 不会主动想到，得你们自己写进提示词里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838700" y="1333500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BUSINESS CLOSED LOOP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838700" y="1695450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业务闭环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838700" y="2628900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五个动作必须串成一条链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838700" y="334327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48387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67300" y="3629025"/>
            <a:ext cx="67437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A/B/C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三条路线本周各自打通：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划价、收费、发药；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B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医嘱记账、出院结算、摆药；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C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病案、统计、报表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838700" y="46863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067300" y="4572000"/>
            <a:ext cx="52578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上完这课，你们的系统将完整跑通验收演示的主线剧情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838700" y="52387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067300" y="5124450"/>
            <a:ext cx="51720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这些规则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不会主动想到，得你们自己写进提示词里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4" name="" descr="&lt;Slide&#10;  notes={`先讲业务规则，这五个动作你们记牢：处方、划价、收费、扣库存、发药。&#10;&#10;医生开方的时候就要划价，金额是药品单价乘以数量。&#10;&#10;患者缴费的时候做结算。&#10;&#10;发药的时候才扣库存，扣的是实际出库的那一笔。&#10;&#10;这五个动作必须串成一条链——中间断任何一环，前面几个动作在系统里就都是脏数据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业务闭环规则 · 五个动作一条链&lt;/Text&gt;&#10;    &lt;Text style={{ fontSize: 16, color: '#C9D9F2' }}&gt;医院信息系统实验 · 第 6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处方 → 划价 → 收费 → 扣库存 → 发药&lt;/Text&gt;&#10;      &lt;Text style={{ fontSize: 22, color: '#8B97A8' }}&gt;一条链，不许断&lt;/Text&gt;&#10;    &lt;/Box&gt;&#10;&#10;    &lt;Box style={{ height: '14px' }} /&gt;&#10;&#10;    &lt;svg width={1200} height={176} viewBox='0 0 1200 176'&gt;&#10;      &lt;line x1='100' y1='88' x2='1150' y2='88' stroke='#D6DCE5' strokeWidth='3' /&gt;&#10;      &lt;line x1='100' y1='88' x2='1150' y2='88' stroke='#1E4FA8' strokeWidth='3' /&gt;&#10;      &lt;circle cx='100' cy='88' r='24' fill='#FFFFFF' stroke='#3D7BD9' strokeWidth='4' /&gt;&#10;      &lt;circle cx='362' cy='88' r='24' fill='#FFFFFF' stroke='#3D7BD9' strokeWidth='4' /&gt;&#10;      &lt;circle cx='625' cy='88' r='24' fill='#FFFFFF' stroke='#3D7BD9' strokeWidth='4' /&gt;&#10;      &lt;circle cx='888' cy='88' r='24' fill='#FFFFFF' stroke='#3D7BD9' strokeWidth='4' /&gt;&#10;      &lt;circle cx='1150' cy='88' r='28' fill='#1E4FA8' /&gt;&#10;      &lt;text x='100' y='89' text-anchor='middle' dominant-baseline='central' font-size='22' font-weight='bold' fill='#3D7BD9'&gt;1&lt;/text&gt;&#10;      &lt;text x='362' y='89' text-anchor='middle' dominant-baseline='central' font-size='22' font-weight='bold' fill='#3D7BD9'&gt;2&lt;/text&gt;&#10;      &lt;text x='625' y='89' text-anchor='middle' dominant-baseline='central' font-size='22' font-weight='bold' fill='#3D7BD9'&gt;3&lt;/text&gt;&#10;      &lt;text x='888' y='89' text-anchor='middle' dominant-baseline='central' font-size='22' font-weight='bold' fill='#3D7BD9'&gt;4&lt;/text&gt;&#10;      &lt;text x='1150' y='89' text-anchor='middle' dominant-baseline='central' font-size='24' font-weight='bold' fill='#FFFFFF'&gt;5&lt;/text&gt;&#10;      &lt;text x='100' y='42' text-anchor='middle' font-size='26' font-weight='bold' fill='#1A2230'&gt;处方&lt;/text&gt;&#10;      &lt;text x='362' y='42' text-anchor='middle' font-size='26' font-weight='bold' fill='#1A2230'&gt;划价&lt;/text&gt;&#10;      &lt;text x='625' y='42' text-anchor='middle' font-size='26' font-weight='bold' fill='#1A2230'&gt;收费&lt;/text&gt;&#10;      &lt;text x='888' y='42' text-anchor='middle' font-size='26' font-weight='bold' fill='#1A2230'&gt;扣库存&lt;/text&gt;&#10;      &lt;text x='1150' y='42' text-anchor='middle' font-size='26' font-weight='bold' fill='#0E3F8C'&gt;发药&lt;/text&gt;&#10;      &lt;text x='100' y='142' text-anchor='middle' font-size='19' fill='#8B97A8'&gt;医生开方&lt;/text&gt;&#10;      &lt;text x='362' y='142' text-anchor='middle' font-size='19' fill='#4A5568'&gt;药品单价 × 数量&lt;/text&gt;&#10;      &lt;text x='625' y='142' text-anchor='middle' font-size='19' fill='#4A5568'&gt;患者缴费结算&lt;/text&gt;&#10;      &lt;text x='888' y='142' text-anchor='middle' font-size='19' fill='#4A5568'&gt;发药时扣减&lt;/text&gt;&#10;      &lt;text x='1150' y='142' text-anchor='middle' font-size='19' fill='#1E4FA8'&gt;出库交付患者&lt;/text&gt;&#10;    &lt;/svg&gt;&#10;&#10;    &lt;Box style={{ height: '16px' }} /&gt;&#10;&#10;    &lt;Box style={{ height: '220px', flexDirection: 'row', gap: 24 }}&gt;&#10;      &lt;Box style={{ flex: 1, background: '#F7F9FC', border: '1px solid #D6DCE5', borderTop: '4px solid #1E4FA8', padding: '18px 20px', gap: 10 }}&gt;&#10;        &lt;Text style={{ fontSize: 26, color: '#1A2230', fontWeight: 'bold' }}&gt;A 路线 · 划价收费发药&lt;/Text&gt;&#10;        &lt;Text style={{ fontSize: 21, color: '#4A5568', lineHeight: 1.5 }}&gt;门诊闭环：开方后自动划价，患者缴费后扣库存并发药。&lt;/Text&gt;&#10;        &lt;Box style={{ background: '#E8EFF8', padding: '8px 12px' }}&gt;&#10;          &lt;Text style={{ fontSize: 19, color: '#1E4FA8' }}&gt;本周目标：门诊全流程一次跑通&lt;/Text&gt;&#10;        &lt;/Box&gt;&#10;      &lt;/Box&gt;&#10;      &lt;Box style={{ flex: 1, background: '#F7F9FC', border: '1px solid #D6DCE5', borderTop: '4px solid #3D7BD9', padding: '18px 20px', gap: 10 }}&gt;&#10;        &lt;Text style={{ fontSize: 26, color: '#1A2230', fontWeight: 'bold' }}&gt;B 路线 · 记账结算摆药&lt;/Text&gt;&#10;        &lt;Text style={{ fontSize: 21, color: '#4A5568', lineHeight: 1.5 }}&gt;住院闭环：医嘱逐条记账，出院一次性结算，摆药时扣库存。&lt;/Text&gt;&#10;        &lt;Box style={{ background: '#E8EFF8', padding: '8px 12px' }}&gt;&#10;          &lt;Text style={{ fontSize: 19, color: '#1E4FA8' }}&gt;本周目标：住院全流程一次跑通&lt;/Text&gt;&#10;        &lt;/Box&gt;&#10;      &lt;/Box&gt;&#10;      &lt;Box style={{ flex: 1, background: '#E8EFF8', border: '1px solid #3D7BD9', borderTop: '4px solid #0E3F8C', padding: '18px 20px', gap: 10 }}&gt;&#10;        &lt;Text style={{ fontSize: 26, color: '#1A2230', fontWeight: 'bold' }}&gt;C 路线 · 病案统计报表&lt;/Text&gt;&#10;        &lt;Text style={{ fontSize: 21, color: '#4A5568', lineHeight: 1.5 }}&gt;数据闭环：把跑通的业务数据沉淀成病案，再统计成报表。&lt;/Text&gt;&#10;        &lt;Box style={{ background: '#FFFFFF', padding: '8px 12px' }}&gt;&#10;          &lt;Text style={{ fontSize: 19, color: '#0E3F8C', fontWeight: 'bold' }}&gt;本周目标：统计口径与业务一致&lt;/Text&gt;&#10;        &lt;/Box&gt;&#10;      &lt;/Box&gt;&#10;    &lt;/Box&gt;&#10;&#10;    &lt;Box style={{ height: '12px' }} /&gt;&#10;&#10;    &lt;Box style={{ height: '42px', background: '#1E4FA8', flexDirection: 'row', alignItems: 'center', padding: '0px 20px', gap: 12 }}&gt;&#10;      &lt;Box style={{ width: 6, height: 6, background: '#FFC107' }} /&gt;&#10;      &lt;Text style={{ fontSize: 21, color: '#FFFFFF', fontWeight: 'bold' }}&gt;五个动作串成一条链：断在任何一环，前面几个动作都白做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业务闭环规则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五个动作一条链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5962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处方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划价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收费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扣库存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发药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667500" y="1019175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一条链，不许断</a:t>
            </a:r>
            <a:endParaRPr/>
          </a:p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676400"/>
          </a:xfrm>
          <a:prstGeom prst="rect">
            <a:avLst/>
          </a:prstGeom>
          <a:ln/>
        </p:spPr>
      </p:pic>
      <p:sp>
        <p:nvSpPr>
          <p:cNvPr id="223" name=""/>
          <p:cNvSpPr/>
          <p:nvPr/>
        </p:nvSpPr>
        <p:spPr>
          <a:xfrm rot="0" flipH="0" flipV="0">
            <a:off x="381000" y="3371850"/>
            <a:ext cx="3657600" cy="2095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381000" y="3333750"/>
            <a:ext cx="3657600" cy="2133600"/>
          </a:xfrm>
          <a:custGeom>
            <a:pathLst>
              <a:path w="384" h="22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A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路线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划价收费发药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1500" y="39433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门诊闭环：开方后自动划价，患者缴费后扣库存并发药。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71500" y="4762500"/>
            <a:ext cx="32766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85800" y="48387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本周目标：门诊全流程一次跑通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267200" y="3371850"/>
            <a:ext cx="3657600" cy="2095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4267200" y="3333750"/>
            <a:ext cx="3657600" cy="2133600"/>
          </a:xfrm>
          <a:custGeom>
            <a:pathLst>
              <a:path w="384" h="22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457700" y="35433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B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路线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记账结算摆药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457700" y="39433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住院闭环：医嘱逐条记账，出院一次性结算，摆药时扣库存。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457700" y="4762500"/>
            <a:ext cx="32766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572000" y="48387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本周目标：住院全流程一次跑通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8153400" y="3371850"/>
            <a:ext cx="3657600" cy="2095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8153400" y="3333750"/>
            <a:ext cx="3657600" cy="2133600"/>
          </a:xfrm>
          <a:custGeom>
            <a:pathLst>
              <a:path w="384" h="22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343900" y="35433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C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路线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病案统计报表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343900" y="39433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数据闭环：把跑通的业务数据沉淀成病案，再统计成报表。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343900" y="4762500"/>
            <a:ext cx="32766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458200" y="48387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本周目标：统计口径与业务一致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81000" y="5543550"/>
            <a:ext cx="11430000" cy="4000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571500" y="571500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2950" y="5619750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五个动作串成一条链：断在任何一环，前面几个动作都白做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46" name="" descr="&lt;Slide&#10;  notes={`这条链上有三个&quot;必须&quot;，你们拿笔记一下。&#10;&#10;第一，金额计算必须准确。单价以药品档案为准，不是前端传什么你就信什么。&#10;&#10;第二，收费和扣库存必须在事务里。钱收了库存没扣，这叫事故，不叫 bug。&#10;&#10;第三，库存不足必须拦截发药。库存不够，这一步就停在这，不许出负数。&#10;&#10;这三条 AI 不会主动想到，得你们写进提示词里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业务闭环规则 · 三个&quot;必须&quot;&lt;/Text&gt;&#10;    &lt;Text style={{ fontSize: 16, color: '#C9D9F2' }}&gt;医院信息系统实验 · 第 6 课&lt;/Text&gt;&#10;  &lt;/Box&gt;&#10;&#10;  &lt;Box style={{ width: '1280px', height: '552px', flexDirection: 'row', padding: '24px 40px 0px 40px', gap: 24 }}&gt;&#10;    &lt;Box style={{ width: '760px', height: '528px', gap: 15 }}&gt;&#10;      &lt;Box style={{ height: '166px', background: '#F7F9FC', border: '1px solid #D6DCE5', borderLeft: '6px solid #D9534F', padding: '20px 24px', gap: 10 }}&gt;&#10;        &lt;Box style={{ flexDirection: 'row', alignItems: 'center', gap: 14 }}&gt;&#10;          &lt;Box style={{ width: 38, height: 38, background: '#D9534F', alignItems: 'center', justifyContent: 'center' }}&gt;&#10;            &lt;Text style={{ fontSize: 22, color: '#FFFFFF', fontWeight: 'bold' }}&gt;1&lt;/Text&gt;&#10;          &lt;/Box&gt;&#10;          &lt;Text style={{ fontSize: 26, color: '#1A2230', fontWeight: 'bold' }}&gt;金额计算必须准确&lt;/Text&gt;&#10;        &lt;/Box&gt;&#10;        &lt;Text style={{ fontSize: 22, color: '#4A5568', lineHeight: 1.5 }}&gt;单价以药品档案为准，不是前端传什么信什么。金额只能由后端算。&lt;/Text&gt;&#10;      &lt;/Box&gt;&#10;&#10;      &lt;Box style={{ height: '166px', background: '#F7F9FC', border: '1px solid #D6DCE5', borderLeft: '6px solid #FFC107', padding: '20px 24px', gap: 10 }}&gt;&#10;        &lt;Box style={{ flexDirection: 'row', alignItems: 'center', gap: 14 }}&gt;&#10;          &lt;Box style={{ width: 38, height: 38, background: '#FFC107', alignItems: 'center', justifyContent: 'center' }}&gt;&#10;            &lt;Text style={{ fontSize: 22, color: '#1A2230', fontWeight: 'bold' }}&gt;2&lt;/Text&gt;&#10;          &lt;/Box&gt;&#10;          &lt;Text style={{ fontSize: 26, color: '#1A2230', fontWeight: 'bold' }}&gt;收费和扣库存必须在事务里&lt;/Text&gt;&#10;        &lt;/Box&gt;&#10;        &lt;Text style={{ fontSize: 22, color: '#4A5568', lineHeight: 1.5 }}&gt;钱收了库存没扣，等于事故。要么都成功，要么都回滚。&lt;/Text&gt;&#10;      &lt;/Box&gt;&#10;&#10;      &lt;Box style={{ height: '166px', background: '#F7F9FC', border: '1px solid #D6DCE5', borderLeft: '6px solid #1E4FA8', padding: '20px 24px', gap: 10 }}&gt;&#10;        &lt;Box style={{ flexDirection: 'row', alignItems: 'center', gap: 14 }}&gt;&#10;          &lt;Box style={{ width: 38, height: 38, background: '#1E4FA8', alignItems: 'center', justifyContent: 'center' }}&gt;&#10;            &lt;Text style={{ fontSize: 22, color: '#FFFFFF', fontWeight: 'bold' }}&gt;3&lt;/Text&gt;&#10;          &lt;/Box&gt;&#10;          &lt;Text style={{ fontSize: 26, color: '#1A2230', fontWeight: 'bold' }}&gt;库存不足必须拦截发药&lt;/Text&gt;&#10;        &lt;/Box&gt;&#10;        &lt;Text style={{ fontSize: 22, color: '#4A5568', lineHeight: 1.5 }}&gt;库存不够就返回 400 拦截，不允许出库，更不允许扣成负数。&lt;/Text&gt;&#10;      &lt;/Box&gt;&#10;    &lt;/Box&gt;&#10;&#10;    &lt;Box style={{ width: '416px', height: '528px', background: '#E8EFF8', border: '1px solid #D6DCE5', borderTop: '6px solid #1E4FA8', padding: '28px 26px', justifyContent: 'space-between' }}&gt;&#10;      &lt;Box style={{ gap: 14 }}&gt;&#10;        &lt;Text style={{ fontSize: 17, color: '#3D7BD9', fontWeight: 'bold', letterSpacing: 2 }}&gt;WHY AI MISSES IT&lt;/Text&gt;&#10;        &lt;Text style={{ fontSize: 30, color: '#1A2230', fontWeight: 'bold', lineHeight: 1.25 }}&gt;为什么 AI 不会主动想到&lt;/Text&gt;&#10;        &lt;Box style={{ width: 80, height: 5, background: '#FFC107' }} /&gt;&#10;      &lt;/Box&gt;&#10;&#10;      &lt;Text style={{ fontSize: 23, color: '#4A5568', lineHeight: 1.6 }}&gt;&#10;        它只懂代码，不懂医院业务。它知道怎么写一个扣库存的函数，却不知道&lt;span style={{ fontWeight: 'bold', color: '#D9534F' }}&gt;&quot;钱收了库存没扣&quot;&lt;/span&gt;在医院里叫事故。业务规则必须由你写进提示词，AI 才会照做。&#10;      &lt;/Text&gt;&#10;&#10;      &lt;Box style={{ background: '#FFFFFF', border: '1px solid #D6DCE5', padding: '14px 16px' }}&gt;&#10;        &lt;Text style={{ fontSize: 21, color: '#1E4FA8', fontWeight: 'bold', lineHeight: 1.5 }}&gt;边界与规则是你们的职责，不是 AI 的默认动作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业务闭环规则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三个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必须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438150" y="914400"/>
            <a:ext cx="7239000" cy="1581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381000" y="914400"/>
            <a:ext cx="7296150" cy="1581150"/>
          </a:xfrm>
          <a:custGeom>
            <a:pathLst>
              <a:path w="766" h="166">
                <a:moveTo>
                  <a:pt x="0" y="0"/>
                </a:moveTo>
                <a:lnTo>
                  <a:pt x="6" y="0"/>
                </a:lnTo>
                <a:lnTo>
                  <a:pt x="6" y="166"/>
                </a:lnTo>
                <a:lnTo>
                  <a:pt x="0" y="16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66750" y="1104900"/>
            <a:ext cx="361950" cy="3619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81050" y="11620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62050" y="1133475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金额计算必须准确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66750" y="1562100"/>
            <a:ext cx="67246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单价以药品档案为准，不是前端传什么信什么。金额只能由后端算。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438150" y="2638425"/>
            <a:ext cx="7239000" cy="1581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381000" y="2638425"/>
            <a:ext cx="7296150" cy="1581150"/>
          </a:xfrm>
          <a:custGeom>
            <a:pathLst>
              <a:path w="766" h="166">
                <a:moveTo>
                  <a:pt x="0" y="0"/>
                </a:moveTo>
                <a:lnTo>
                  <a:pt x="6" y="0"/>
                </a:lnTo>
                <a:lnTo>
                  <a:pt x="6" y="166"/>
                </a:lnTo>
                <a:lnTo>
                  <a:pt x="0" y="16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66750" y="2828925"/>
            <a:ext cx="361950" cy="3619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81050" y="288607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62050" y="2857500"/>
            <a:ext cx="2971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收费和扣库存必须在事务里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6750" y="3286125"/>
            <a:ext cx="67246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钱收了库存没扣，等于事故。要么都成功，要么都回滚。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438150" y="4362450"/>
            <a:ext cx="7239000" cy="1581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381000" y="4362450"/>
            <a:ext cx="7296150" cy="1581150"/>
          </a:xfrm>
          <a:custGeom>
            <a:pathLst>
              <a:path w="766" h="166">
                <a:moveTo>
                  <a:pt x="0" y="0"/>
                </a:moveTo>
                <a:lnTo>
                  <a:pt x="6" y="0"/>
                </a:lnTo>
                <a:lnTo>
                  <a:pt x="6" y="166"/>
                </a:lnTo>
                <a:lnTo>
                  <a:pt x="0" y="16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666750" y="4552950"/>
            <a:ext cx="361950" cy="3619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81050" y="46101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62050" y="4581525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库存不足必须拦截发药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66750" y="5010150"/>
            <a:ext cx="67246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库存不够就返回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400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拦截，不允许出库，更不允许扣成负数。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848600" y="971550"/>
            <a:ext cx="3962400" cy="49720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7848600" y="914400"/>
            <a:ext cx="3962400" cy="5029200"/>
          </a:xfrm>
          <a:custGeom>
            <a:pathLst>
              <a:path w="416" h="528">
                <a:moveTo>
                  <a:pt x="0" y="0"/>
                </a:moveTo>
                <a:lnTo>
                  <a:pt x="416" y="0"/>
                </a:lnTo>
                <a:lnTo>
                  <a:pt x="416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096250" y="1238250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3D7BD9"/>
                </a:solidFill>
                <a:latin typeface="Microsoft YaHei"/>
                <a:ea typeface="Microsoft YaHei"/>
              </a:rPr>
              <a:t>WHY AI MISSES IT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96250" y="1571625"/>
            <a:ext cx="34671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为什么</a:t>
            </a: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不会主动想到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8096250" y="213360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096250" y="2381250"/>
            <a:ext cx="3467100" cy="2105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它只懂代码，不懂医院业务。它知道怎么写一个扣库存的函数，却不知道</a:t>
            </a:r>
            <a:r>
              <a:rPr lang="en-US" sz="172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钱收了库存没扣</a:t>
            </a:r>
            <a:r>
              <a:rPr lang="en-US" sz="172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在医院里叫事故。业务规则必须由你写进提示词，</a:t>
            </a:r>
            <a:r>
              <a:rPr lang="en-US" sz="172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才会照做。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8096250" y="4686300"/>
            <a:ext cx="34671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48650" y="4819650"/>
            <a:ext cx="31623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边界与规则是你们的职责，不是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的默认动作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9" name="" descr="&lt;Slide&#10;  notes={`这三个&quot;必须&quot;，我一条条拆给你们看。&#10;&#10;第一条，金额以药品档案为准。前端传价格等于患者可以自己改价，你在浏览器里改个数字，药价就变了。所以金额必须后端按药品档案单价计算。这个知识点期末考试必考，记住了。&#10;&#10;第二条，收费与扣库存是同一个事务，原子操作，要么都成功要么都回滚。&#10;&#10;第三条，库存不足拦截发药，业务上返回 400 拦截，技术上库存表加约束数量大于等于零，双保险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业务闭环规则 · 三个&quot;必须&quot;与边界测试&lt;/Text&gt;&#10;    &lt;Text style={{ fontSize: 16, color: '#C9D9F2' }}&gt;医院信息系统实验 · 第 6 课&lt;/Text&gt;&#10;  &lt;/Box&gt;&#10;&#10;  &lt;Box style={{ width: '1280px', height: '552px', padding: '24px 40px 0px 40px' }}&gt;&#10;    &lt;Box style={{ height: '470px', flexDirection: 'row', gap: 24 }}&gt;&#10;      &lt;Box style={{ flex: 1, background: '#FFFFFF', border: '1px solid #D6DCE5', borderTop: '6px solid #D9534F', padding: '24px 22px', justifyContent: 'space-between' }}&gt;&#10;        &lt;Box style={{ gap: 12 }}&gt;&#10;          &lt;Text style={{ fontSize: 48, color: '#D9534F', fontWeight: 'bold', lineHeight: 1 }}&gt;01&lt;/Text&gt;&#10;          &lt;svg width={64} height={64} viewBox='0 0 64 64'&gt;&#10;            &lt;circle cx='32' cy='32' r='27' fill='#FDECEA' stroke='#D9534F' strokeWidth='3' /&gt;&#10;            &lt;text x='32' y='34' text-anchor='middle' dominant-baseline='central' font-size='32' font-weight='bold' fill='#D9534F'&gt;¥&lt;/text&gt;&#10;          &lt;/svg&gt;&#10;          &lt;Text style={{ fontSize: 27, color: '#1A2230', fontWeight: 'bold', lineHeight: 1.3 }}&gt;金额以药品档案为准&lt;/Text&gt;&#10;          &lt;Text style={{ fontSize: 21, color: '#4A5568', lineHeight: 1.5 }}&gt;&#10;            前端传价格 &lt;span style={{ fontWeight: 'bold', color: '#D9534F' }}&gt;= 患者可以自己改价&lt;/span&gt;。金额必须由后端按药品档案单价计算，这个知识点期末考试必考。&#10;          &lt;/Text&gt;&#10;        &lt;/Box&gt;&#10;        &lt;Box style={{ background: '#FDECEA', padding: '10px 14px' }}&gt;&#10;          &lt;Text style={{ fontSize: 20, color: '#D9534F', fontWeight: 'bold' }}&gt;→ 前端只传药品与数量&lt;/Text&gt;&#10;        &lt;/Box&gt;&#10;      &lt;/Box&gt;&#10;&#10;      &lt;Box style={{ flex: 1, background: '#FFFFFF', border: '1px solid #D6DCE5', borderTop: '6px solid #FFC107', padding: '24px 22px', justifyContent: 'space-between' }}&gt;&#10;        &lt;Box style={{ gap: 12 }}&gt;&#10;          &lt;Text style={{ fontSize: 48, color: '#FFC107', fontWeight: 'bold', lineHeight: 1 }}&gt;02&lt;/Text&gt;&#10;          &lt;svg width={64} height={64} viewBox='0 0 64 64'&gt;&#10;            &lt;ellipse cx='32' cy='32' rx='27' ry='11' fill='none' stroke='#FFC107' strokeWidth='3' /&gt;&#10;            &lt;ellipse cx='32' cy='32' rx='27' ry='11' fill='none' stroke='#FFC107' strokeWidth='3' transform='rotate(60 32 32)' /&gt;&#10;            &lt;ellipse cx='32' cy='32' rx='27' ry='11' fill='none' stroke='#FFC107' strokeWidth='3' transform='rotate(120 32 32)' /&gt;&#10;            &lt;circle cx='32' cy='32' r='7' fill='#FFC107' /&gt;&#10;          &lt;/svg&gt;&#10;          &lt;Text style={{ fontSize: 27, color: '#1A2230', fontWeight: 'bold', lineHeight: 1.3 }}&gt;收费与扣库存同一事务&lt;/Text&gt;&#10;          &lt;Text style={{ fontSize: 21, color: '#4A5568', lineHeight: 1.5 }}&gt;&#10;            &lt;span style={{ fontWeight: 'bold', color: '#1A2230' }}&gt;原子操作&lt;/span&gt;：创建收费单、标记处方已收费、扣减库存，要么都成功，要么都回滚。&#10;          &lt;/Text&gt;&#10;        &lt;/Box&gt;&#10;        &lt;Box style={{ background: '#FFF8E1', padding: '10px 14px' }}&gt;&#10;          &lt;Text style={{ fontSize: 20, color: '#1A2230', fontWeight: 'bold' }}&gt;→ 一个事务，三件事&lt;/Text&gt;&#10;        &lt;/Box&gt;&#10;      &lt;/Box&gt;&#10;&#10;      &lt;Box style={{ flex: 1, background: '#FFFFFF', border: '1px solid #D6DCE5', borderTop: '6px solid #1E4FA8', padding: '24px 22px', justifyContent: 'space-between' }}&gt;&#10;        &lt;Box style={{ gap: 12 }}&gt;&#10;          &lt;Text style={{ fontSize: 48, color: '#1E4FA8', fontWeight: 'bold', lineHeight: 1 }}&gt;03&lt;/Text&gt;&#10;          &lt;svg width={64} height={64} viewBox='0 0 64 64'&gt;&#10;            &lt;rect x='11' y='26' width='42' height='30' rx='4' fill='#E8EFF8' stroke='#1E4FA8' strokeWidth='3' /&gt;&#10;            &lt;path d='M21 26 V17 a11 11 0 0 1 22 0 v9' fill='none' stroke='#1E4FA8' strokeWidth='3' /&gt;&#10;            &lt;circle cx='32' cy='41' r='4' fill='#1E4FA8' /&gt;&#10;            &lt;line x1='41' y1='53' x2='57' y2='61' stroke='#D9534F' strokeWidth='3' strokeLinecap='round' /&gt;&#10;          &lt;/svg&gt;&#10;          &lt;Text style={{ fontSize: 27, color: '#1A2230', fontWeight: 'bold', lineHeight: 1.3 }}&gt;库存不足拦截发药&lt;/Text&gt;&#10;          &lt;Text style={{ fontSize: 21, color: '#4A5568', lineHeight: 1.5 }}&gt;&#10;            业务上返回 &lt;span style={{ fontWeight: 'bold', color: '#1E4FA8' }}&gt;400 拦截&lt;/span&gt;；技术上库存表加约束&lt;span style={{ fontWeight: 'bold', color: '#1E4FA8' }}&gt;&quot;数量 ≥ 0&quot;&lt;/span&gt;，双保险。&#10;          &lt;/Text&gt;&#10;        &lt;/Box&gt;&#10;        &lt;Box style={{ background: '#E8EFF8', padding: '10px 14px' }}&gt;&#10;          &lt;Text style={{ fontSize: 20, color: '#1E4FA8', fontWeight: 'bold' }}&gt;→ 业务拦截 + 数据约束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这三条不是优化项，是底线：写进提示词，让 AI 一次做对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552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业务闭环规则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三个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必须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与边界测试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810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3810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9534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866900"/>
            <a:ext cx="609600" cy="609600"/>
          </a:xfrm>
          <a:prstGeom prst="rect">
            <a:avLst/>
          </a:prstGeom>
          <a:ln/>
        </p:spPr>
      </p:pic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905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金额以药品档案为准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905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前端传价格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=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患者可以自己改价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。金额必须由后端按药品档案单价计算，这个知识点期末考试必考。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90550" y="4743450"/>
            <a:ext cx="3238500" cy="4191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239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前端只传药品与数量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2672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42672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4767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C10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866900"/>
            <a:ext cx="609600" cy="609600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4767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收费与扣库存同一事务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4767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原子操作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：创建收费单、标记处方已收费、扣减库存，要么都成功，要么都回滚。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476750" y="4743450"/>
            <a:ext cx="3238500" cy="4191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6101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一个事务，三件事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1534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81534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629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62950" y="1866900"/>
            <a:ext cx="609600" cy="6096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3629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库存不足拦截发药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62950" y="3114675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业务上返回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400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拦截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；技术上库存表加约束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数量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≥ 0"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，双保险。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362950" y="47434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4963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业务拦截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数据约束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5391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这三条不是优化项，是底线：写进提示词，让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一次做对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13" name="" descr="&lt;Slide&#10;  notes={`规则讲完了，我演示一遍怎么把这些规则变成代码。老规矩，三步走，每步验证加提交。&#10;&#10;第一步，药品与库存管理。&#10;&#10;第二步，处方与收费事务，这是今天最核心的一步。&#10;&#10;第三步，收费台前端。&#10;&#10;B 路线的同学对照着听：把处方换成医嘱，把收费结算换成出院结算，把发药扣库存换成摆药，结构是一模一样的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THREE-STEP DEMO&lt;/Text&gt;&#10;        &lt;Text style={{ fontSize: 56, color: '#1A2230', fontWeight: 'bold', lineHeight: 1.25 }}&gt;三步走&lt;/Text&gt;&#10;        &lt;Text style={{ fontSize: 26, color: '#4A5568', lineHeight: 1.5 }}&gt;以 A 路线闭环为例，每步验证 + 提交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第一步 药品与库存管理 · 药品档案与库存批次效期，CRUD 与库存查询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第二步 处方与收费事务 · 开方自动划价，收费在事务内一次完成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第三步 收费台前端 · 按排队号或挂号单号查询待收费处方并确认收费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THREE-STEP DEMO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三步走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A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路线闭环为例，每步验证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67437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第一步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药品与库存管理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药品档案与库存批次效期，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CRUD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与库存查询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61626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第二步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处方与收费事务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开方自动划价，收费在事务内一次完成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66008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第三步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收费台前端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按排队号或挂号单号查询待收费处方并确认收费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27" name="" descr="&lt;Slide&#10;  notes={`看第二步的提示词，我念一遍：新增处方模块，医生为挂号单患者开方，含诊断和药品明细，生成处方后自动划价；收费 API 在事务内完成：创建收费单、标记处方已收费、扣减药品库存。库存不足返回 400。先给方案。&#10;&#10;注意最后四个字，先给方案——先看它打算怎么干，再让它动手。&#10;&#10;特别注意前面那句&quot;在事务内完成&quot;，还有&quot;库存不足返回 400&quot;。这两句话是我特意写进去的，这就是你们的职责。&#10;&#10;验证的时候，开方、收费、查库存，确认扣减是对的，然后再试一次库存不足的场景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三步走演示 · 第二步 处方与收费事务&lt;/Text&gt;&#10;    &lt;Text style={{ fontSize: 16, color: '#C9D9F2' }}&gt;医院信息系统实验 · 第 6 课&lt;/Text&gt;&#10;  &lt;/Box&gt;&#10;&#10;  &lt;Box style={{ width: '1280px', height: '552px', flexDirection: 'row', padding: '24px 40px 0px 40px', gap: 30 }}&gt;&#10;    &lt;Box style={{ width: '360px', height: '528px', background: '#0E3F8C', padding: '30px 28px', justifyContent: 'space-between' }}&gt;&#10;      &lt;Box style={{ gap: 14 }}&gt;&#10;        &lt;Text style={{ fontSize: 17, color: '#7FA3D6', letterSpacing: 2 }}&gt;STEP 02 · LIVE PROMPT&lt;/Text&gt;&#10;        &lt;Text style={{ fontSize: 40, color: '#FFFFFF', fontWeight: 'bold', lineHeight: 1.25 }}&gt;第二步&lt;br /&gt;处方与收费事务&lt;/Text&gt;&#10;        &lt;Box style={{ width: 80, height: 5, background: '#FFC107' }} /&gt;&#10;      &lt;/Box&gt;&#10;&#10;      &lt;Text style={{ fontSize: 22, color: '#C9D9F2', lineHeight: 1.6 }}&gt;&#10;        注意，我把&lt;span style={{ color: '#FFC107', fontWeight: 'bold' }}&gt;事务&lt;/span&gt;和&lt;span style={{ color: '#FFC107', fontWeight: 'bold' }}&gt;库存扣减&lt;/span&gt;直接写进了需求——这是你们的职责，不是 AI 的默认动作。&#10;      &lt;/Text&gt;&#10;&#10;      &lt;Box style={{ gap: 8 }}&gt;&#10;        &lt;Box style={{ height: 1, background: '#3D7BD9' }} /&gt;&#10;        &lt;Text style={{ fontSize: 20, color: '#8FAED8', lineHeight: 1.5 }}&gt;B 路线组对照：处方换成医嘱，收费结算换成出院结算，发药扣库存换成摆药&lt;/Text&gt;&#10;      &lt;/Box&gt;&#10;    &lt;/Box&gt;&#10;&#10;    &lt;Box style={{ width: '810px', height: '528px' }}&gt;&#10;      &lt;Box style={{ height: '186px', background: '#F7F9FC', border: '1px solid #D6DCE5', borderLeft: '6px solid #1E4FA8', padding: '20px 24px', gap: 10 }}&gt;&#10;        &lt;Text style={{ fontSize: 20, color: '#1E4FA8', fontWeight: 'bold' }}&gt;提示词（原样发给 AI）&lt;/Text&gt;&#10;        &lt;Text style={{ fontSize: 23, color: '#1A2230', lineHeight: 1.5 }}&gt;&#10;          新增处方模块：医生为挂号单患者开方（含诊断、药品明细），生成处方后自动划价；收费 API 在事务内完成：创建收费单、标记处方已收费、扣减药品库存。库存不足返回 400。先给方案。&#10;        &lt;/Text&gt;&#10;      &lt;/Box&gt;&#10;&#10;      &lt;Box style={{ height: '14px' }} /&gt;&#10;&#10;      &lt;Box style={{ height: '96px', background: '#E8EFF8', border: '1px solid #3D7BD9', padding: '16px 22px' }}&gt;&#10;        &lt;Text style={{ fontSize: 21, color: '#1A2230', lineHeight: 1.5 }}&gt;&#10;          验证：开方 → 收费 → 查库存，确认扣减正确；&lt;span style={{ fontWeight: 'bold', color: '#D9534F' }}&gt;再试库存不足场景&lt;/span&gt;。每步验证完 git 提交。&#10;        &lt;/Text&gt;&#10;      &lt;/Box&gt;&#10;&#10;      &lt;Box style={{ height: '14px' }} /&gt;&#10;&#10;      &lt;Box style={{ height: '218px', background: '#F7F9FC', border: '1px solid #D6DCE5', padding: '12px 16px' }}&gt;&#10;        &lt;CodeBlock&#10;          code={`# POST /api/prescriptions/{id}/charge  —— 收费接口&#10;with db.transaction():                 # 一个事务，三件事&#10;    charge = ChargeOrder.create(rx_id, amount)  # ① 创建收费单&#10;    prescription.mark_paid(charge.id)           # ② 标记处方已收费&#10;    for item in prescription.items:             # ③ 扣减药品库存&#10;        if item.drug.stock &lt; item.qty:&#10;            raise HTTPException(400, &quot;库存不足&quot;) # 不足则全部回滚&#10;        item.drug.stock -= item.qty`}&#10;          language='python'&#10;          width={776}&#10;          fontSize={14}&#10;          theme='github-light'&#10;          background='#FFFFFF'&#10;        /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三步走演示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第二步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处方与收费事务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STEP 02 · LIVE PROMPT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11430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第二步</a:t>
            </a:r>
            <a:endParaRPr/>
          </a:p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处方与收费事务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47700" y="2809875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47700" y="3095625"/>
            <a:ext cx="28956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注意，我把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事务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和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库存扣减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直接写进了需求——这是你们的职责，不是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的默认动作。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47700" y="454342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47700" y="4629150"/>
            <a:ext cx="28956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B 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路线组对照：处方换成医嘱，收费结算换成出院结算，发药扣库存换成摆药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152900" y="914400"/>
            <a:ext cx="7715250" cy="17716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4095750" y="914400"/>
            <a:ext cx="7772400" cy="1771650"/>
          </a:xfrm>
          <a:custGeom>
            <a:pathLst>
              <a:path w="816" h="186">
                <a:moveTo>
                  <a:pt x="0" y="0"/>
                </a:moveTo>
                <a:lnTo>
                  <a:pt x="6" y="0"/>
                </a:lnTo>
                <a:lnTo>
                  <a:pt x="6" y="186"/>
                </a:lnTo>
                <a:lnTo>
                  <a:pt x="0" y="18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381500" y="1104900"/>
            <a:ext cx="7200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提示词（原样发给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AI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381500" y="1428750"/>
            <a:ext cx="7200900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新增处方模块：医生为挂号单患者开方（含诊断、药品明细），生成处方后自动划价；收费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在事务内完成：创建收费单、标记处方已收费、扣减药品库存。库存不足返回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400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。先给方案。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4095750" y="2819400"/>
            <a:ext cx="7715250" cy="914400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305300" y="2971800"/>
            <a:ext cx="72961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验证：开方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收费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查库存，确认扣减正确；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再试库存不足场景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。每步验证完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git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提交。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095750" y="3867150"/>
            <a:ext cx="7715250" cy="20764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4248150" y="3981450"/>
            <a:ext cx="7410450" cy="2066925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/>
          <p:cNvSpPr txBox="1"/>
          <p:nvPr/>
        </p:nvSpPr>
        <p:spPr>
          <a:xfrm rot="0" flipH="0" flipV="0">
            <a:off x="4400550" y="4114800"/>
            <a:ext cx="7105650" cy="1800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POST /api/prescriptions/{id}/charge  —— 收费接口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with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db.transaction():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一个事务，三件事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charge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ChargeOrder.create(rx_id, amount)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① 创建收费单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prescription.mark_paid(charge.id)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② 标记处方已收费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item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prescription.items: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③ 扣减药品库存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item.drug.stock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item.qty: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     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raise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HTTPException(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400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"库存不足"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不足则全部回滚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  item.drug.stock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-=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item.qty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0" name="" descr="&lt;Slide&#10;  notes={`这页是三步走的整体结构，你们对着看。左中右三块，左边是药品与库存管理，中间是处方与收费事务，右边是收费台前端。&#10;&#10;中间这块是重点：开方之后自动划价，收费的时候在一个事务里做完三件事——创建收费单、标记处方已收费、扣减库存。库存不够，直接返回 400 拦住。&#10;&#10;注意看我刚才的验证动作：我没有一路顺下去就完事，而是专门测了库存不足这个边界场景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三步走演示 · 闭环结构与边界场景&lt;/Text&gt;&#10;    &lt;Text style={{ fontSize: 16, color: '#C9D9F2' }}&gt;医院信息系统实验 · 第 6 课&lt;/Text&gt;&#10;  &lt;/Box&gt;&#10;&#10;  &lt;Box style={{ width: '1280px', height: '552px', padding: '24px 40px 0px 40px' }}&gt;&#10;    &lt;svg width={1200} height={300} viewBox='0 0 1200 300'&gt;&#10;      &lt;rect x='0' y='26' width='310' height='132' rx='10' fill='#F7F9FC' stroke='#D6DCE5' strokeWidth='2' /&gt;&#10;      &lt;rect x='0' y='26' width='310' height='6' rx='3' fill='#3D7BD9' /&gt;&#10;      &lt;text x='155' y='70' text-anchor='middle' font-size='25' font-weight='bold' fill='#1A2230'&gt;① 药品与库存管理&lt;/text&gt;&#10;      &lt;text x='155' y='104' text-anchor='middle' font-size='18' fill='#4A5568'&gt;药品档案 + 库存批次效期&lt;/text&gt;&#10;      &lt;text x='155' y='130' text-anchor='middle' font-size='18' fill='#8B97A8'&gt;CRUD 与库存查询&lt;/text&gt;&#10;&#10;      &lt;path d='M310 92 L368 92' stroke='#1E4FA8' strokeWidth='3' /&gt;&#10;      &lt;path d='M362 84 L372 92 L362 100 Z' fill='#1E4FA8' /&gt;&#10;&#10;      &lt;rect x='370' y='26' width='460' height='132' rx='10' fill='#1E4FA8' /&gt;&#10;      &lt;text x='600' y='68' text-anchor='middle' font-size='26' font-weight='bold' fill='#FFFFFF'&gt;② 处方与收费事务&lt;/text&gt;&#10;      &lt;text x='600' y='100' text-anchor='middle' font-size='19' fill='#C9D9F2'&gt;开方 → 自动划价 → 收费事务&lt;/text&gt;&#10;      &lt;text x='600' y='130' text-anchor='middle' font-size='18' fill='#C9D9F2'&gt;创建收费单 · 标记处方已收费 · 扣减库存&lt;/text&gt;&#10;&#10;      &lt;path d='M830 92 L888 92' stroke='#1E4FA8' strokeWidth='3' /&gt;&#10;      &lt;path d='M882 84 L892 92 L882 100 Z' fill='#1E4FA8' /&gt;&#10;&#10;      &lt;rect x='890' y='26' width='310' height='132' rx='10' fill='#E8EFF8' stroke='#1E4FA8' strokeWidth='3' /&gt;&#10;      &lt;text x='1045' y='70' text-anchor='middle' font-size='25' font-weight='bold' fill='#1E4FA8'&gt;③ 收费台前端&lt;/text&gt;&#10;      &lt;text x='1045' y='104' text-anchor='middle' font-size='18' fill='#1E4FA8'&gt;按排队号或挂号单号查询&lt;/text&gt;&#10;      &lt;text x='1045' y='130' text-anchor='middle' font-size='18' fill='#4A5568'&gt;展示明细与金额并刷新&lt;/text&gt;&#10;&#10;      &lt;path d='M600 158 L600 176' stroke='#D9534F' strokeWidth='2' strokeDasharray='5 4' /&gt;&#10;      &lt;rect x='470' y='178' width='260' height='36' rx='4' fill='#FDECEA' stroke='#D9534F' strokeWidth='2' /&gt;&#10;      &lt;text x='600' y='202' text-anchor='middle' font-size='18' font-weight='bold' fill='#D9534F'&gt;库存不足 → 返回 400 拦截&lt;/text&gt;&#10;&#10;      &lt;path d='M1045 158 L1045 246 Q1045 270 1021 270 L179 270 Q155 270 155 246 L155 166' fill='none' stroke='#D6DCE5' strokeWidth='2' strokeDasharray='7 5' /&gt;&#10;      &lt;path d='M149 174 L155 160 L161 174 Z' fill='#3D7BD9' /&gt;&#10;      &lt;rect x='470' y='228' width='260' height='30' fill='#FFFFFF' /&gt;&#10;      &lt;text x='600' y='249' text-anchor='middle' font-size='19' font-weight='bold' fill='#1E4FA8'&gt;闭环跑通：数据一致，可重复执行&lt;/text&gt;&#10;    &lt;/svg&gt;&#10;&#10;    &lt;Box style={{ height: '18px' }} /&gt;&#10;&#10;    &lt;Box style={{ height: '210px', flexDirection: 'row', gap: 24 }}&gt;&#10;      &lt;Box style={{ flex: 1, background: '#F7F9FC', border: '1px solid #D6DCE5', borderLeft: '6px solid #1E4FA8', padding: '20px 24px', gap: 12 }}&gt;&#10;        &lt;Text style={{ fontSize: 26, color: '#1A2230', fontWeight: 'bold' }}&gt;我特意测了&quot;库存不足&quot;&lt;/Text&gt;&#10;        &lt;Text style={{ fontSize: 21, color: '#4A5568', lineHeight: 1.55 }}&gt;&#10;          演示到第二步，我没有顺着正常路径往下走，而是&lt;span style={{ fontWeight: 'bold', color: '#1E4FA8' }}&gt;专门构造了一个库存不够的处方&lt;/span&gt;，看系统拦不拦得住。&#10;        &lt;/Text&gt;&#10;      &lt;/Box&gt;&#10;      &lt;Box style={{ flex: 1, background: '#F7F9FC', border: '1px solid #D6DCE5', borderLeft: '6px solid #D9534F', padding: '20px 24px', gap: 12 }}&gt;&#10;        &lt;Text style={{ fontSize: 26, color: '#1A2230', fontWeight: 'bold' }}&gt;验收会随机测这种场景&lt;/Text&gt;&#10;        &lt;Text style={{ fontSize: 21, color: '#4A5568', lineHeight: 1.55 }}&gt;&#10;          &lt;span style={{ fontWeight: 'bold', color: '#D9534F' }}&gt;生产级系统不是&quot;能跑&quot;，是&quot;各种边界都不出错&quot;&lt;/span&gt;。你们验收时，我会随机挑这种边界场景现场测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三步走演示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闭环结构与边界场景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2857500"/>
          </a:xfrm>
          <a:prstGeom prst="rect">
            <a:avLst/>
          </a:prstGeom>
          <a:ln/>
        </p:spPr>
      </p:pic>
      <p:sp>
        <p:nvSpPr>
          <p:cNvPr id="356" name=""/>
          <p:cNvSpPr/>
          <p:nvPr/>
        </p:nvSpPr>
        <p:spPr>
          <a:xfrm rot="0" flipH="0" flipV="0">
            <a:off x="438150" y="39433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381000" y="3943350"/>
            <a:ext cx="5657850" cy="2000250"/>
          </a:xfrm>
          <a:custGeom>
            <a:pathLst>
              <a:path w="594" h="210">
                <a:moveTo>
                  <a:pt x="0" y="0"/>
                </a:moveTo>
                <a:lnTo>
                  <a:pt x="6" y="0"/>
                </a:lnTo>
                <a:lnTo>
                  <a:pt x="6" y="210"/>
                </a:lnTo>
                <a:lnTo>
                  <a:pt x="0" y="21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66750" y="4133850"/>
            <a:ext cx="508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我特意测了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库存不足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66750" y="4552950"/>
            <a:ext cx="50863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演示到第二步，我没有顺着正常路径往下走，而是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专门构造了一个库存不够的处方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，看系统拦不拦得住。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267450" y="39433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6210300" y="3943350"/>
            <a:ext cx="5657850" cy="2000250"/>
          </a:xfrm>
          <a:custGeom>
            <a:pathLst>
              <a:path w="594" h="210">
                <a:moveTo>
                  <a:pt x="0" y="0"/>
                </a:moveTo>
                <a:lnTo>
                  <a:pt x="6" y="0"/>
                </a:lnTo>
                <a:lnTo>
                  <a:pt x="6" y="210"/>
                </a:lnTo>
                <a:lnTo>
                  <a:pt x="0" y="21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496050" y="4133850"/>
            <a:ext cx="508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验收会随机测这种场景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496050" y="4552950"/>
            <a:ext cx="50863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生产级系统不是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能跑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，是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各种边界都不出错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。你们验收时，我会随机挑这种边界场景现场测。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" name="" descr="&lt;Slide&#10;  notes={`项目走到第六周，文件多了，我们开始讲工程组织。三个规矩。&#10;&#10;第一，目录结构写进 AGENTS.md。后端 models、routers、schemas，前端 pages、components、api。AI 每次干活都会先读 AGENTS.md，你把目录规范写进去，它就会遵守。&#10;&#10;第二，改表结构不许删库重建。你们一定会遇到要加个字段的时候，正确姿势是让 AI 写迁移脚本：先检查列是否存在，再改表，还得有备份策略。删库重建是开发期偷懒，演示前一天数据全没了，那就是事故。&#10;&#10;第三，前后端字段一致性。后端叫 patient_id，前端传 patientId，接口直接 422，这是 vibe coding 项目最常见的翻车点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工程组织与作业 · 工程组织三规矩&lt;/Text&gt;&#10;    &lt;Text style={{ fontSize: 16, color: '#C9D9F2' }}&gt;医院信息系统实验 · 第 6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工程组织三规矩&lt;/Text&gt;&#10;      &lt;Text style={{ fontSize: 22, color: '#8B97A8' }}&gt;第六周，文件多了，规矩先立起来&lt;/Text&gt;&#10;    &lt;/Box&gt;&#10;&#10;    &lt;Box style={{ height: '14px' }} /&gt;&#10;&#10;    &lt;svg width={1200} height={128} viewBox='0 0 1200 128'&gt;&#10;      &lt;rect x='60' y='42' width='940' height='8' rx='4' fill='#E5E7EB' /&gt;&#10;      &lt;rect x='60' y='42' width='940' height='8' rx='4' fill='#1E4FA8' opacity='0.25' /&gt;&#10;      &lt;circle cx='100' cy='46' r='30' fill='#1E4FA8' /&gt;&#10;      &lt;text x='100' y='47' text-anchor='middle' dominant-baseline='central' font-size='24' font-weight='bold' fill='#FFFFFF'&gt;1&lt;/text&gt;&#10;      &lt;circle cx='530' cy='46' r='30' fill='#1E4FA8' /&gt;&#10;      &lt;text x='530' y='47' text-anchor='middle' dominant-baseline='central' font-size='24' font-weight='bold' fill='#FFFFFF'&gt;2&lt;/text&gt;&#10;      &lt;circle cx='960' cy='46' r='34' fill='#0E3F8C' /&gt;&#10;      &lt;text x='960' y='47' text-anchor='middle' dominant-baseline='central' font-size='26' font-weight='bold' fill='#FFFFFF'&gt;3&lt;/text&gt;&#10;      &lt;text x='100' y='106' text-anchor='middle' font-size='24' font-weight='bold' fill='#1A2230'&gt;目录结构写进 AGENTS.md&lt;/text&gt;&#10;      &lt;text x='530' y='106' text-anchor='middle' font-size='24' font-weight='bold' fill='#1A2230'&gt;改表结构不许删库重建&lt;/text&gt;&#10;      &lt;text x='960' y='106' text-anchor='middle' font-size='24' font-weight='bold' fill='#0E3F8C'&gt;前后端字段一致性&lt;/text&gt;&#10;    &lt;/svg&gt;&#10;&#10;    &lt;Box style={{ height: '16px' }} /&gt;&#10;&#10;    &lt;Box style={{ height: '264px', flexDirection: 'row', gap: 24 }}&gt;&#10;      &lt;Box style={{ flex: 1, background: '#F7F9FC', border: '1px solid #D6DCE5', borderTop: '4px solid #1E4FA8', padding: '20px 22px', gap: 10 }}&gt;&#10;        &lt;Text style={{ fontSize: 26, color: '#1A2230', fontWeight: 'bold' }}&gt;目录结构写进 AGENTS.md&lt;/Text&gt;&#10;        &lt;Text style={{ fontSize: 21, color: '#4A5568', lineHeight: 1.5 }}&gt;&#10;          后端 models / routers / schemas，前端 pages / components / api；写进 AGENTS.md，AI 每次干活都会读，目录规范它就会遵守。&#10;        &lt;/Text&gt;&#10;        &lt;Box style={{ background: '#E8EFF8', padding: '8px 12px' }}&gt;&#10;          &lt;Text style={{ fontSize: 19, color: '#1E4FA8' }}&gt;AI 每次都读 AGENTS.md&lt;/Text&gt;&#10;        &lt;/Box&gt;&#10;      &lt;/Box&gt;&#10;      &lt;Box style={{ flex: 1, background: '#F7F9FC', border: '1px solid #D6DCE5', borderTop: '4px solid #3D7BD9', padding: '20px 22px', gap: 10 }}&gt;&#10;        &lt;Text style={{ fontSize: 26, color: '#1A2230', fontWeight: 'bold' }}&gt;改表不许删库重建&lt;/Text&gt;&#10;        &lt;Text style={{ fontSize: 21, color: '#4A5568', lineHeight: 1.5 }}&gt;&#10;          要加字段就让 AI 写迁移脚本：检查列是否存在的保护逻辑 + 备份策略。删库重建是开发期偷懒，演示前一天数据全没了就是事故。&#10;        &lt;/Text&gt;&#10;        &lt;Box style={{ background: '#FFF8E1', padding: '8px 12px' }}&gt;&#10;          &lt;Text style={{ fontSize: 19, color: '#1A2230', fontWeight: 'bold' }}&gt;删库重建 = 演示事故&lt;/Text&gt;&#10;        &lt;/Box&gt;&#10;      &lt;/Box&gt;&#10;      &lt;Box style={{ flex: 1, background: '#E8EFF8', border: '1px solid #3D7BD9', borderTop: '4px solid #0E3F8C', padding: '20px 22px', gap: 10 }}&gt;&#10;        &lt;Text style={{ fontSize: 26, color: '#1A2230', fontWeight: 'bold' }}&gt;前后端字段一致性&lt;/Text&gt;&#10;        &lt;Text style={{ fontSize: 21, color: '#4A5568', lineHeight: 1.5 }}&gt;&#10;          后端用 Pydantic schema 定死字段，前端 API 层用 TypeScript 类型对齐；让 AI 生成前端类型定义时引用后端 schema。&#10;        &lt;/Text&gt;&#10;        &lt;Box style={{ background: '#FFFFFF', padding: '8px 12px' }}&gt;&#10;          &lt;Text style={{ fontSize: 19, color: '#0E3F8C', fontWeight: 'bold' }}&gt;patient_id 与 patientId 要对齐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文件多了，规矩先立：目录、迁移、字段，三件事定死了才不翻车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工程组织与作业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工程组织三规矩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工程组织三规矩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105150" y="10191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第六周，文件多了，规矩先立起来</a:t>
            </a:r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19200"/>
          </a:xfrm>
          <a:prstGeom prst="rect">
            <a:avLst/>
          </a:prstGeom>
          <a:ln/>
        </p:spPr>
      </p:pic>
      <p:sp>
        <p:nvSpPr>
          <p:cNvPr id="27" name=""/>
          <p:cNvSpPr/>
          <p:nvPr/>
        </p:nvSpPr>
        <p:spPr>
          <a:xfrm rot="0" flipH="0" flipV="0">
            <a:off x="381000" y="2914650"/>
            <a:ext cx="3657600" cy="3086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381000" y="2876550"/>
            <a:ext cx="3657600" cy="3124200"/>
          </a:xfrm>
          <a:custGeom>
            <a:pathLst>
              <a:path w="384" h="328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90550" y="31051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目录结构写进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AGENTS.md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90550" y="3505200"/>
            <a:ext cx="3238500" cy="1800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后端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models / routers / schemas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，前端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pages / components / api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；写进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AGENTS.md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每次干活都会读，目录规范它就会遵守。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90550" y="5400675"/>
            <a:ext cx="3238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04850" y="5476875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每次都读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> AGENTS.md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267200" y="2914650"/>
            <a:ext cx="3657600" cy="27336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4267200" y="2876550"/>
            <a:ext cx="3657600" cy="2771775"/>
          </a:xfrm>
          <a:custGeom>
            <a:pathLst>
              <a:path w="384" h="291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76750" y="31051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改表不许删库重建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476750" y="3505200"/>
            <a:ext cx="32385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要加字段就让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写迁移脚本：检查列是否存在的保护逻辑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备份策略。删库重建是开发期偷懒，演示前一天数据全没了就是事故。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476750" y="5048250"/>
            <a:ext cx="3238500" cy="371475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91050" y="512445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删库重建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=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演示事故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153400" y="2914650"/>
            <a:ext cx="3657600" cy="27336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153400" y="2876550"/>
            <a:ext cx="3657600" cy="2771775"/>
          </a:xfrm>
          <a:custGeom>
            <a:pathLst>
              <a:path w="384" h="291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62950" y="31051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前后端字段一致性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362950" y="3505200"/>
            <a:ext cx="32385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后端用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Pydantic schema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定死字段，前端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API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层用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TypeScript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类型对齐；让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生成前端类型定义时引用后端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schema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362950" y="5048250"/>
            <a:ext cx="32385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477250" y="512445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patient_id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patientId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要对齐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文件多了，规矩先立：目录、迁移、字段，三件事定死了才不翻车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0" name="" descr="&lt;Slide&#10;  notes={`现在轮到你们动手，三十五分钟。&#10;&#10;目标是药品管理、处方划价、收费结算、发药扣库存，全流程跑通。按我刚才演示的三步走，每步验证再提交，别一口气做完再验。&#10;&#10;做完全流程的组，进入交叉测试：两组互换测试账号，互相走一遍挂号、开方、收费、发药的全流程，发现问题写到对方仓库的 Issues 里，至少写三条。&#10;&#10;最后五分钟我们收一下，然后布置作业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HANDS-ON &amp;amp; HOMEWORK&lt;/Text&gt;&#10;        &lt;Text style={{ fontSize: 56, color: '#1A2230', fontWeight: 'bold', lineHeight: 1.25 }}&gt;实操与作业&lt;/Text&gt;&#10;        &lt;Text style={{ fontSize: 26, color: '#4A5568', lineHeight: 1.5 }}&gt;跑通闭环 + 交叉测试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按演示三步走，每步验证再提交：药品管理 → 处方划价 → 收费结算 → 发药扣库存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跑通的组进入交叉测试：两组互换测试账号，互相走&quot;挂号 → 开方 → 收费 → 发药&quot;全流程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发现的问题写到对方仓库的 Issues 里，至少三条，写清复现步骤与期望行为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838700" y="94297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HANDS-ON &amp; HOMEWORK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838700" y="130492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实操与作业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838700" y="223837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跑通闭环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交叉测试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838700" y="295275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838700" y="33528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067300" y="3238500"/>
            <a:ext cx="67437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按演示三步走，每步验证再提交：药品管理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处方划价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收费结算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发药扣库存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838700" y="429577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067300" y="4181475"/>
            <a:ext cx="67437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跑通的组进入交叉测试：两组互换测试账号，互相走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挂号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开方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收费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发药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全流程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838700" y="52387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067300" y="5124450"/>
            <a:ext cx="67437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发现的问题写到对方仓库的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Issues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里，至少三条，写清复现步骤与期望行为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4" name="" descr="&lt;Slide&#10;  notes={`你们问得最多的三个问题，我一起答。&#10;&#10;第一，&quot;前端传过来的价格直接用了行吗？&quot;不行。前端传价格等于患者可以自己改价。金额必须后端按药品档案单价计算。这个知识点期末考试必考。&#10;&#10;第二，&quot;库存扣减出现负数了怎么办？&quot;两个层次。业务上，发药前检查，库存不足就拦截，返回 400；技术上，库存表加约束，数量大于等于零。双保险。&#10;&#10;第三，&quot;迁移脚本怎么写？&quot;用教学方案附录 B 的迁移提示词模板，先检查列存在性，再 ALTER TABLE，别删表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工程组织与作业 · 常见问题应答&lt;/Text&gt;&#10;    &lt;Text style={{ fontSize: 16, color: '#C9D9F2' }}&gt;医院信息系统实验 · 第 6 课&lt;/Text&gt;&#10;  &lt;/Box&gt;&#10;&#10;  &lt;Box style={{ width: '1280px', height: '552px', flexDirection: 'row', padding: '24px 40px 0px 40px', gap: 30 }}&gt;&#10;    &lt;Box style={{ width: '360px', height: '528px', background: '#E8EFF8', border: '1px solid #D6DCE5', padding: '28px 26px', justifyContent: 'space-between' }}&gt;&#10;      &lt;Box style={{ gap: 14 }}&gt;&#10;        &lt;Text style={{ fontSize: 17, color: '#3D7BD9', letterSpacing: 2 }}&gt;FAQ&lt;/Text&gt;&#10;        &lt;Text style={{ fontSize: 42, color: '#1A2230', fontWeight: 'bold', lineHeight: 1.2 }}&gt;常见问题&lt;br /&gt;应答&lt;/Text&gt;&#10;        &lt;Box style={{ width: 80, height: 5, background: '#1E4FA8' }} /&gt;&#10;      &lt;/Box&gt;&#10;&#10;      &lt;Box style={{ gap: 12 }}&gt;&#10;        &lt;Box style={{ background: '#FFFFFF', padding: '10px 16px', borderRadius: 20, alignItems: 'center' }}&gt;&#10;          &lt;Text style={{ fontSize: 20, color: '#1E4FA8', fontWeight: 'bold' }}&gt;前端传的价格能用吗&lt;/Text&gt;&#10;        &lt;/Box&gt;&#10;        &lt;Box style={{ background: '#FFFFFF', padding: '10px 16px', borderRadius: 20, alignItems: 'center' }}&gt;&#10;          &lt;Text style={{ fontSize: 20, color: '#1E4FA8', fontWeight: 'bold' }}&gt;库存扣成负数怎么办&lt;/Text&gt;&#10;        &lt;/Box&gt;&#10;        &lt;Box style={{ background: '#FFFFFF', padding: '10px 16px', borderRadius: 20, alignItems: 'center' }}&gt;&#10;          &lt;Text style={{ fontSize: 20, color: '#1E4FA8', fontWeight: 'bold' }}&gt;迁移脚本怎么写&lt;/Text&gt;&#10;        &lt;/Box&gt;&#10;      &lt;/Box&gt;&#10;&#10;      &lt;Text style={{ fontSize: 20, color: '#4A5568', lineHeight: 1.5 }}&gt;&#10;        这三类问题每年都被问，答案都指向同一件事：业务规则要写进提示词。&#10;      &lt;/Text&gt;&#10;    &lt;/Box&gt;&#10;&#10;    &lt;Box style={{ width: '810px', height: '528px', gap: 9 }}&gt;&#10;      &lt;Box style={{ height: '170px', background: '#F7F9FC', border: '1px solid #D6DCE5', borderLeft: '6px solid #D9534F', padding: '18px 22px', justifyContent: 'space-between' }}&gt;&#10;        &lt;Text style={{ fontSize: 24, color: '#1A2230', fontWeight: 'bold', lineHeight: 1.4 }}&gt;&#10;          Q：前端传过来的价格，直接用了行吗？&#10;        &lt;/Text&gt;&#10;        &lt;Text style={{ fontSize: 21, color: '#4A5568', lineHeight: 1.5 }}&gt;&#10;          A：不行。&lt;span style={{ fontWeight: 'bold', color: '#D9534F' }}&gt;前端传价格等于患者可以自己改价&lt;/span&gt;。金额必须后端按药品档案单价计算，这个知识点期末考试必考。&#10;        &lt;/Text&gt;&#10;      &lt;/Box&gt;&#10;&#10;      &lt;Box style={{ height: '170px', background: '#F7F9FC', border: '1px solid #D6DCE5', borderLeft: '6px solid #1E4FA8', padding: '18px 22px', justifyContent: 'space-between' }}&gt;&#10;        &lt;Text style={{ fontSize: 24, color: '#1A2230', fontWeight: 'bold', lineHeight: 1.4 }}&gt;&#10;          Q：库存扣减出现负数了怎么办？&#10;        &lt;/Text&gt;&#10;        &lt;Text style={{ fontSize: 21, color: '#4A5568', lineHeight: 1.5 }}&gt;&#10;          A：两个层次。业务上，发药前检查，库存不足就拦截&lt;span style={{ fontWeight: 'bold', color: '#1E4FA8' }}&gt;返回 400&lt;/span&gt;；技术上，库存表加约束&lt;span style={{ fontWeight: 'bold', color: '#1E4FA8' }}&gt;&quot;数量 ≥ 0&quot;&lt;/span&gt;，双保险。&#10;        &lt;/Text&gt;&#10;      &lt;/Box&gt;&#10;&#10;      &lt;Box style={{ height: '170px', background: '#F7F9FC', border: '1px solid #D6DCE5', borderLeft: '6px solid #FFC107', padding: '18px 22px', justifyContent: 'space-between' }}&gt;&#10;        &lt;Text style={{ fontSize: 24, color: '#1A2230', fontWeight: 'bold', lineHeight: 1.4 }}&gt;&#10;          Q：迁移脚本怎么写？&#10;        &lt;/Text&gt;&#10;        &lt;Text style={{ fontSize: 21, color: '#4A5568', lineHeight: 1.5 }}&gt;&#10;          A：用教学方案附录 B 的迁移提示词模板，&lt;span style={{ fontWeight: 'bold', color: '#1A2230' }}&gt;先检查列存在性再 ALTER TABLE&lt;/span&gt;，别删表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工程组织与作业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28650" y="1514475"/>
            <a:ext cx="29337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应答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28650" y="28003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28650" y="30099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238250" y="31051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前端传的价格能用吗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28650" y="35433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238250" y="36385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库存扣成负数怎么办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28650" y="40767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428750" y="41719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迁移脚本怎么写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28650" y="4648200"/>
            <a:ext cx="2933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这三类问题每年都被问，答案都指向同一件事：业务规则要写进提示词。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4152900" y="91440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4095750" y="91440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62450" y="108585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：前端传过来的价格，直接用了行吗？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62450" y="163830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：不行。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前端传价格等于患者可以自己改价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。金额必须后端按药品档案单价计算，这个知识点期末考试必考。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152900" y="2619375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095750" y="2619375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62450" y="2790825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：库存扣减出现负数了怎么办？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62450" y="3343275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：两个层次。业务上，发药前检查，库存不足就拦截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返回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400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；技术上，库存表加约束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数量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≥ 0"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，双保险。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152900" y="432435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4095750" y="432435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362450" y="449580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：迁移脚本怎么写？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362450" y="504825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：用教学方案附录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B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的迁移提示词模板，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先检查列存在性再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ALTER TABLE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，别删表。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&#10;  notes={`请记住今天这句话：生产级系统不是&quot;能跑&quot;，是&quot;各种边界都不出错&quot;。&#10;&#10;正常路径能跑通，那只叫演示版。库存不够的时候会不会出负数？网络断了事务会不会回滚？前端把价格改了后端信不信？这些地方不出错，才叫生产级。&#10;&#10;所以你们做功能的时候，要主动问自己一句：这个功能的边界在哪？找到了，就把它写进提示词，让 AI 一次做对。验收的时候，我会随机挑这类场景现场测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边界意识&lt;/Text&gt;&#10;    &lt;Text style={{ fontSize: 16, color: '#C9D9F2' }}&gt;医院信息系统实验 · 第 6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LESSON&lt;/Text&gt;&#10;      &lt;/Box&gt;&#10;&#10;      &lt;Text style={{ fontSize: 72, color: '#FFFFFF', fontWeight: 'bold', lineHeight: 1.18 }}&gt;&#10;        生产级系统不是&quot;能跑&quot;&lt;br /&gt;是各种边界都不出错&#10;      &lt;/Text&gt;&#10;&#10;      &lt;Box style={{ flexDirection: 'row', alignItems: 'center', gap: 20 }}&gt;&#10;        &lt;Box style={{ width: 100, height: 5, background: '#FFC107' }} /&gt;&#10;        &lt;Text style={{ fontSize: 24, color: '#C9D9F2' }}&gt;能跑通只叫演示版，边界不出错才叫生产级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18px 20px', gap: 8 }}&gt;&#10;        &lt;Box style={{ flexDirection: 'row', alignItems: 'center', gap: 10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26, color: '#1A2230', fontWeight: 'bold' }}&gt;边界场景要主动设计&lt;/Text&gt;&#10;        &lt;/Box&gt;&#10;        &lt;Text style={{ fontSize: 21, color: '#4A5568', lineHeight: 1.5 }}&gt;&#10;          演示时我特意测了库存不足，因为&quot;能跑&quot;和&quot;不出错&quot;根本是两件事。&#10;        &lt;/Text&gt;&#10;      &lt;/Box&gt;&#10;      &lt;Box style={{ flex: 1, background: '#F7F9FC', border: '1px solid #D6DCE5', borderTop: '4px solid #3D7BD9', padding: '18px 20px', gap: 8 }}&gt;&#10;        &lt;Box style={{ flexDirection: 'row', alignItems: 'center', gap: 10 }}&gt;&#10;          &lt;Box style={{ width: 34, height: 34, background: '#3D7BD9', alignItems: 'center', justifyContent: 'center' }}&gt;&#10;            &lt;Text style={{ fontSize: 18, color: '#FFFFFF', fontWeight: 'bold' }}&gt;2&lt;/Text&gt;&#10;          &lt;/Box&gt;&#10;          &lt;Text style={{ fontSize: 26, color: '#1A2230', fontWeight: 'bold' }}&gt;随机测边界是验收常态&lt;/Text&gt;&#10;        &lt;/Box&gt;&#10;        &lt;Text style={{ fontSize: 21, color: '#4A5568', lineHeight: 1.5 }}&gt;&#10;          验收时我会随机挑边界场景现场测，不看你们准备过的那条路径。&#10;        &lt;/Text&gt;&#10;      &lt;/Box&gt;&#10;      &lt;Box style={{ flex: 1, background: '#F7F9FC', border: '1px solid #D6DCE5', borderTop: '4px solid #D9534F', padding: '18px 20px', gap: 8 }}&gt;&#10;        &lt;Box style={{ flexDirection: 'row', alignItems: 'center', gap: 10 }}&gt;&#10;          &lt;Box style={{ width: 34, height: 34, background: '#D9534F', alignItems: 'center', justifyContent: 'center' }}&gt;&#10;            &lt;Text style={{ fontSize: 18, color: '#FFFFFF', fontWeight: 'bold' }}&gt;3&lt;/Text&gt;&#10;          &lt;/Box&gt;&#10;          &lt;Text style={{ fontSize: 26, color: '#1A2230', fontWeight: 'bold' }}&gt;边界测试写进提示词&lt;/Text&gt;&#10;        &lt;/Box&gt;&#10;        &lt;Text style={{ fontSize: 21, color: '#4A5568', lineHeight: 1.5 }}&gt;&#10;          &quot;库存不足返回 400&quot;这类约束要写进需求，AI 才不会漏掉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105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边界意识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LESSON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" y="1524000"/>
            <a:ext cx="10591800" cy="19431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生产级系统不是</a:t>
            </a: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能跑</a:t>
            </a: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18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是各种边界都不出错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800100" y="3581400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943100" y="3467100"/>
            <a:ext cx="434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能跑通只叫演示版，边界不出错才叫生产级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381000" y="3981450"/>
            <a:ext cx="36576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381000" y="3943350"/>
            <a:ext cx="3657600" cy="2038350"/>
          </a:xfrm>
          <a:custGeom>
            <a:pathLst>
              <a:path w="384" h="21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571500" y="415290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76275" y="4210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90600" y="416242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边界场景要主动设计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45529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演示时我特意测了库存不足，因为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能跑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不出错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根本是两件事。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267200" y="3981450"/>
            <a:ext cx="36576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4267200" y="3943350"/>
            <a:ext cx="3657600" cy="2038350"/>
          </a:xfrm>
          <a:custGeom>
            <a:pathLst>
              <a:path w="384" h="21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4457700" y="4152900"/>
            <a:ext cx="323850" cy="3238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562475" y="4210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876800" y="4162425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随机测边界是验收常态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457700" y="45529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验收时我会随机挑边界场景现场测，不看你们准备过的那条路径。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153400" y="3981450"/>
            <a:ext cx="36576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8153400" y="3943350"/>
            <a:ext cx="3657600" cy="2038350"/>
          </a:xfrm>
          <a:custGeom>
            <a:pathLst>
              <a:path w="384" h="21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8343900" y="415290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448675" y="4210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763000" y="416242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边界测试写进提示词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43900" y="45529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库存不足返回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400"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这类约束要写进需求，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才不会漏掉。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5" name="" descr="&lt;Slide&#10;  notes={`作业两项，听清楚验收标准。&#10;&#10;第一，药房收费闭环完成，交全流程演示截图。截图要能看清每一步：开方、划价、收费、发药，我要看到处方明细、金额和库存变化。&#10;&#10;第二，交叉测试的 Issues 至少写三条。注意 Issue 的写法，四个要素缺一不可：复现步骤、期望行为、实际行为、相关截图。&#10;&#10;本周作业截止前，各组把 Issues 链接发到群里，我挑典型的下周讲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工程组织与作业 · 作业布置&lt;/Text&gt;&#10;    &lt;Text style={{ fontSize: 16, color: '#C9D9F2' }}&gt;医院信息系统实验 · 第 6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本节课作业（两项）&lt;/Text&gt;&#10;      &lt;Text style={{ fontSize: 22, color: '#8B97A8' }}&gt;提交至课程群公告指定入口&lt;/Text&gt;&#10;    &lt;/Box&gt;&#10;&#10;    &lt;Box style={{ height: '14px' }} /&gt;&#10;&#10;    &lt;svg width={1200} height={130} viewBox='0 0 1200 130'&gt;&#10;      &lt;rect x='200' y='42' width='800' height='8' rx='4' fill='#E5E7EB' /&gt;&#10;      &lt;rect x='200' y='42' width='800' height='8' rx='4' fill='#1E4FA8' opacity='0.25' /&gt;&#10;      &lt;circle cx='300' cy='46' r='30' fill='#1E4FA8' /&gt;&#10;      &lt;text x='300' y='47' text-anchor='middle' dominant-baseline='central' font-size='24' font-weight='bold' fill='#FFFFFF'&gt;1&lt;/text&gt;&#10;      &lt;circle cx='900' cy='46' r='34' fill='#0E3F8C' /&gt;&#10;      &lt;text x='900' y='47' text-anchor='middle' dominant-baseline='central' font-size='26' font-weight='bold' fill='#FFFFFF'&gt;2&lt;/text&gt;&#10;      &lt;text x='300' y='106' text-anchor='middle' font-size='24' font-weight='bold' fill='#1A2230'&gt;闭环全流程截图&lt;/text&gt;&#10;      &lt;text x='900' y='106' text-anchor='middle' font-size='24' font-weight='bold' fill='#0E3F8C'&gt;Issues 至少三条&lt;/text&gt;&#10;    &lt;/svg&gt;&#10;&#10;    &lt;Box style={{ height: '16px' }} /&gt;&#10;&#10;    &lt;Box style={{ height: '262px', flexDirection: 'row', gap: 24 }}&gt;&#10;      &lt;Box style={{ flex: 1, background: '#F7F9FC', border: '1px solid #D6DCE5', borderTop: '4px solid #1E4FA8', padding: '20px 24px', gap: 10 }}&gt;&#10;        &lt;Text style={{ fontSize: 26, color: '#1A2230', fontWeight: 'bold' }}&gt;① 药房收费闭环完成，全流程演示截图&lt;/Text&gt;&#10;        &lt;Text style={{ fontSize: 21, color: '#4A5568', lineHeight: 1.5 }}&gt;&#10;          截图要覆盖&lt;span style={{ fontWeight: 'bold', color: '#1E4FA8' }}&gt;&quot;开方 → 划价 → 收费 → 发药&quot;&lt;/span&gt;每一步，能看清处方明细、金额与库存变化；我抽查时会让你现场再跑一遍。&#10;        &lt;/Text&gt;&#10;        &lt;Box style={{ background: '#E8EFF8', padding: '8px 12px' }}&gt;&#10;          &lt;Text style={{ fontSize: 19, color: '#1E4FA8' }}&gt;验收点：四步齐全，金额与库存对得上&lt;/Text&gt;&#10;        &lt;/Box&gt;&#10;      &lt;/Box&gt;&#10;      &lt;Box style={{ flex: 1, background: '#E8EFF8', border: '1px solid #3D7BD9', borderTop: '4px solid #0E3F8C', padding: '20px 24px', gap: 10 }}&gt;&#10;        &lt;Text style={{ fontSize: 26, color: '#1A2230', fontWeight: 'bold' }}&gt;② 交叉测试的 Issues 至少写三条&lt;/Text&gt;&#10;        &lt;Text style={{ fontSize: 21, color: '#4A5568', lineHeight: 1.5 }}&gt;&#10;          Issue 要写清&lt;span style={{ fontWeight: 'bold', color: '#1A2230' }}&gt;复现步骤、期望行为、实际行为、相关截图&lt;/span&gt;；各组把 Issues 链接发群里，我挑典型的下周讲。&#10;        &lt;/Text&gt;&#10;        &lt;Box style={{ background: '#FFFFFF', padding: '8px 12px' }}&gt;&#10;          &lt;Text style={{ fontSize: 19, color: '#0E3F8C', fontWeight: 'bold' }}&gt;提交方式：Issues 链接发到课程群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本周作业截止前交齐，Issues 链接发群里，我挑典型的下周讲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工程组织与作业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作业布置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本节课作业（两项）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提交至课程群公告指定入口</a:t>
            </a:r>
            <a:endParaRPr/>
          </a:p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38250"/>
          </a:xfrm>
          <a:prstGeom prst="rect">
            <a:avLst/>
          </a:prstGeom>
          <a:ln/>
        </p:spPr>
      </p:pic>
      <p:sp>
        <p:nvSpPr>
          <p:cNvPr id="134" name=""/>
          <p:cNvSpPr/>
          <p:nvPr/>
        </p:nvSpPr>
        <p:spPr>
          <a:xfrm rot="0" flipH="0" flipV="0">
            <a:off x="381000" y="2933700"/>
            <a:ext cx="5600700" cy="24955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381000" y="2895600"/>
            <a:ext cx="5600700" cy="2533650"/>
          </a:xfrm>
          <a:custGeom>
            <a:pathLst>
              <a:path w="588" h="266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药房收费闭环完成，全流程演示截图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5143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截图要覆盖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开方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划价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收费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发药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每一步，能看清处方明细、金额与库存变化；我抽查时会让你现场再跑一遍。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4705350"/>
            <a:ext cx="5143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23900" y="4781550"/>
            <a:ext cx="491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验收点：四步齐全，金额与库存对得上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210300" y="2933700"/>
            <a:ext cx="5600700" cy="24955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6210300" y="2895600"/>
            <a:ext cx="5600700" cy="2533650"/>
          </a:xfrm>
          <a:custGeom>
            <a:pathLst>
              <a:path w="588" h="266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38900" y="31242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交叉测试的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Issues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至少写三条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438900" y="3524250"/>
            <a:ext cx="5143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Issue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要写清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复现步骤、期望行为、实际行为、相关截图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；各组把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Issues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链接发群里，我挑典型的下周讲。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438900" y="4343400"/>
            <a:ext cx="51435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553200" y="4419600"/>
            <a:ext cx="491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提交方式：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Issues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链接发到课程群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5734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本周作业截止前交齐，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Issues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链接发群里，我挑典型的下周讲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1" name="" descr="&lt;Slide&#10;  notes={`今天就到这里。&#10;&#10;闭环已经通了，你们的系统现在可以跑完整的验收主线：挂号、开方、划价、收费、发药，一条链走到底。&#10;&#10;下一阶段我们做安全加固与部署上线。能跑的系统和敢上线的系统之间，还差权限、数据和环境这三关。&#10;&#10;回去先把今天的三步走提交记录整理好，作业按时交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520' cy='180' r='130' fill='#1E4FA8' opacity='0.45' /&gt;&#10;    &lt;circle cx='520' cy='180' r='70' fill='#FFC107' opacity='0.35' /&gt;&#10;    &lt;rect x='330' y='560' width='240' height='8' rx='4' fill='#FFFFFF' opacity='0.15' /&gt;&#10;    &lt;rect x='330' y='590' width='170' height='8' rx='4' fill='#FFFFFF' opacity='0.12' /&gt;&#10;    &lt;rect x='330' y='620' width='280' height='8' rx='4' fill='#FFFFFF' opacity='0.15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6 课 · 小结&lt;/Text&gt;&#10;      &lt;/Box&gt;&#10;      &lt;Text style={{ fontSize: 52, color: '#FFFFFF', fontWeight: 'bold', lineHeight: 1.25 }}&gt;闭环已通，系统可以跑完整主线了&lt;/Text&gt;&#10;      &lt;Text style={{ fontSize: 24, color: '#8FAED8', lineHeight: 1.5 }}&gt;处方 → 划价 → 收费 → 扣库存 → 发药，一条链走到底&lt;/Text&gt;&#10;    &lt;/Box&gt;&#10;&#10;    &lt;Box style={{ width: '560px', gap: 14 }}&gt;&#10;      &lt;Box style={{ height: 2, background: '#3D7BD9' }} /&gt;&#10;      &lt;Text style={{ fontSize: 26, color: '#C9D9F2', lineHeight: 1.5 }}&gt;下一阶段预告&lt;/Text&gt;&#10;      &lt;Text style={{ fontSize: 38, color: '#FFFFFF', fontWeight: 'bold', lineHeight: 1.3 }}&gt;安全加固与部署上线&lt;/Text&gt;&#10;      &lt;Text style={{ fontSize: 22, color: '#8FAED8', lineHeight: 1.5 }}&gt;把能跑的系统，变成敢上线的系统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2026 年秋季学期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54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15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6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闭环已通，系统可以跑完整主线了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12014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8FAED8"/>
                </a:solidFill>
                <a:latin typeface="Microsoft YaHei"/>
                <a:ea typeface="Microsoft YaHei"/>
              </a:rPr>
              <a:t>处方</a:t>
            </a:r>
            <a:r>
              <a:rPr lang="en-US" sz="180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8FAED8"/>
                </a:solidFill>
                <a:latin typeface="Microsoft YaHei"/>
                <a:ea typeface="Microsoft YaHei"/>
              </a:rPr>
              <a:t>划价</a:t>
            </a:r>
            <a:r>
              <a:rPr lang="en-US" sz="180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8FAED8"/>
                </a:solidFill>
                <a:latin typeface="Microsoft YaHei"/>
                <a:ea typeface="Microsoft YaHei"/>
              </a:rPr>
              <a:t>收费</a:t>
            </a:r>
            <a:r>
              <a:rPr lang="en-US" sz="180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8FAED8"/>
                </a:solidFill>
                <a:latin typeface="Microsoft YaHei"/>
                <a:ea typeface="Microsoft YaHei"/>
              </a:rPr>
              <a:t>扣库存</a:t>
            </a:r>
            <a:r>
              <a:rPr lang="en-US" sz="180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8FAED8"/>
                </a:solidFill>
                <a:latin typeface="Microsoft YaHei"/>
                <a:ea typeface="Microsoft YaHei"/>
              </a:rPr>
              <a:t>发药，一条链走到底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3333750"/>
            <a:ext cx="5334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3486150"/>
            <a:ext cx="533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下一阶段预告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4067175"/>
            <a:ext cx="53340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安全加固与部署上线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4772025"/>
            <a:ext cx="5334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把能跑的系统，变成敢上线的系统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AED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年秋季学期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2026-09-02T00:54:36Z</dcterms:created>
  <dcterms:modified xsi:type="dcterms:W3CDTF">2026-09-02T00:54:36Z</dcterms:modified>
</cp:coreProperties>
</file>
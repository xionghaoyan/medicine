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tableStyles" Target="tableStyles.xml"/><Relationship Id="rId19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第十二周，验收时刻。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这节课我把规则先说清楚，然后按组号顺序，一组一组上台演示。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演示的时候我不看你们做得多花哨，我看三件事：流程是不是真走通了，清单上写&amp;quot;实现&amp;quot;的功能是不是真的能点，还有你们说清楚没有——哪部分是你让 AI 干的，哪部分是你自己改的。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第一组，准备好了就开始。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这节课分三段，九十分钟。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第一段，我先把验收规则宣布清楚：每组七分钟怎么分配、我按什么核验、我会现场抽查哪三件事。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第二段是重头，分组验收，占了六十分钟，按组号顺序一组一组来。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第三段，我们做复盘——vibe coding 十大坑，你们一条条对照自己踩过哪些。最后五分钟结课，我把后面怎么走的三条路交给你们。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先宣布规则，再开始验收。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第一，演示必须按你们组的业务闭环主线走，不是想到哪儿点哪儿。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第二，数据是演示数据没关系，但流程必须真走通——我要看的是你现场点，不是录好的视频。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第三，验收依据是你们第 4 课提交的《功能点清单》。清单上写&amp;quot;实现&amp;quot;的，我逐项核验；没实现的，你得给我一个理由。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A 路线的同学注意听，你们的演示主线是这六步。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第一步登录，把角色权限展示出来，让我看到不同账号看到的菜单不一样。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第二步挂号，我要看到号源被扣减。第三步医生开方，第四步收费，第五步发药——这里我要看到库存扣减，第六步报表。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B、C 路线的组按你们自己的闭环走，逻辑一样：每一步都要有数据变化，不能只是页面跳一下。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规则很简单，我再说一遍时间。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每组七分钟：五分钟演示，两分钟答辩。按组号顺序来，叫到哪组哪组上，别等着点名。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核验方式也说清楚：我手上拿着你们第 4 课交的《功能点清单》，上面标&amp;quot;实现&amp;quot;的条目，我一项一项看。没做出来的，你当场给我一个理由，说清楚卡在哪，我不为难人，但别装作实现了。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两分钟答辩，我就问三个问题，你们现在可以想一想。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第一，你们组最难的一个 bug 是什么，你是怎么让 AI 把它修好的？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第二，哪些代码是你自己动手改的，为什么不让 AI 改？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第三，如果重做一遍，哪里会不一样？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别紧张，我不问你背不背得出命令。你只要讲清楚你让 AI 干了什么、你自己干了什么，就是好答辩。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验收完，我们做一件比验收更重要的事：复盘。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我把这门课大家最常踩的十个坑整理出来了，就在教学方案附录 E 里，一共十条。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我们一条一条过。每念一条，踩过的同学举一下手——别不好意思，这十条我带过的每一届都有人踩，踩过不丢人，重复踩才丢人。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这张是我自己用的验收要点，我念一遍，你们心里有数。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演示必须真实操作，我不接受录好的视频。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越权测试：拿收费员账号去调 admin 下面的接口，必须返回 403。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测试现场跑，pytest 要全绿，E2E 脚本现场跑主流程。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审计日志：你刚才点的那次发药，我到日志里要能查到。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做完了这几条，再说加分项。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这十条我按三层给你们归类，这样好记。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代码层四个：幻觉代码、上下文丢失、越改越乱、数据模型漂移。前三个坑，解法都是同一个——跑一遍再说，小步提交。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工程层三个：安全裸奔、无限加需求、看不懂自己的代码。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协作层三个：额度耗尽、把 AI 输出当最终答案、合规缺失。最后这一条最要命，演示数据必须脱敏，身份证号不能真写。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复盘我们按这四步走。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第一步，我念一条坑，你们对照自己踩过哪些，踩过的举手。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第二步，每组一分钟，说两件事：最大的收获是什么，最大的教训是什么。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第三步，我把后续的三条路摆给你们看。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第四步，资源清单在课程资料里，从开源社区开始往上走。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最后一段，结课。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验收的分数你们过两天就能看到，但我想让你们记住的不是分数。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十二周前，你们大多数人没写过一个能跑的系统；今天，你们手上有一个能部署、有安全、有测试、有文档的东西。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临走前，我把这门课反复强调的三句话再交给你们一次。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这门课我反复强调三句话，今天最后再说一遍，你们带走。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第一句：AI 负责快，你们负责对。它十分钟能写完的东西，对不对是你的责任。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第二句：AI 会犯错，你们会验证。它不会主动告诉你哪一步是猜的，跑一遍才知道。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第三句：工具会过时，判断力不会。今天我们用 OpenCode，明年可能换别的，但你判断一个系统能不能上线的能力，谁也拿不走。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你们现在拥有的能力，十二周前是没有的：把一个想法，变成能部署、有安全、有测试、有文档的系统。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这个能力叫 AI 原生开发，它正在重新定义整个软件行业。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但在你们走出去之前，我把合规的最后一条再钉一遍：演示数据要脱敏，身份证号不能真写。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医疗系统里，这一条不是建议，是红线。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结课之前，还有三件事。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第一，每组一分钟总结：最大的收获是什么，最大的教训是什么。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第二，优秀的我会发到课程公众号，明年这门课的新同学，会看到你们的名字——所以别糊弄最后这一次。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第三，后续三条路我再说一遍：往深了走，RAG、多智能体、MCP；往医院信息化走，FHIR、互联互通、CDSS；往工程走，微服务、可观测性。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下课，感谢大家十二周的坚持。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这十二周，你们从&amp;quot;AI 能写代码吗&amp;quot;走到今天，手上多了一个能部署、有安全、有测试、有文档的系统，这是十二周前你们没有的东西。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后面怎么走，三条路都在课程资料里，从开源社区开始，你们已经站在门口了。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祝你们顺利，下课。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2" Type="http://schemas.openxmlformats.org/officeDocument/2006/relationships/image" Target="media/image7.svg"/><Relationship Id="rId3" Type="http://schemas.openxmlformats.org/officeDocument/2006/relationships/image" Target="media/image8.sv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15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&#10;  notes={`第十二周，验收时刻。&#10;&#10;这节课我把规则先说清楚，然后按组号顺序，一组一组上台演示。&#10;&#10;演示的时候我不看你们做得多花哨，我看三件事：流程是不是真走通了，清单上写&quot;实现&quot;的功能是不是真的能点，还有你们说清楚没有——哪部分是你让 AI 干的，哪部分是你自己改的。&#10;&#10;第一组，准备好了就开始。`}&#10;  style={{ width: '1280px', height: '720px', background: '#0E3F8C', padding: '0px', position: 'relative' }}&#10;&gt;&#10;  &lt;svg width={560} height={720} viewBox='0 0 560 720' style={{ position: 'absolute', top: 0, right: 0 }}&gt;&#10;    &lt;rect x='0' y='0' width='560' height='720' fill='#0E3F8C' /&gt;&#10;    &lt;path d='M120 0 L560 0 L560 720 L300 720 Z' fill='#1E4FA8' opacity='0.55' /&gt;&#10;    &lt;rect x='180' y='150' width='270' height='12' rx='6' fill='#FFFFFF' opacity='0.16' /&gt;&#10;    &lt;rect x='180' y='184' width='200' height='12' rx='6' fill='#FFFFFF' opacity='0.13' /&gt;&#10;    &lt;rect x='200' y='218' width='300' height='12' rx='6' fill='#FFFFFF' opacity='0.16' /&gt;&#10;    &lt;rect x='200' y='252' width='160' height='12' rx='6' fill='#FFC107' opacity='0.45' /&gt;&#10;    &lt;rect x='200' y='286' width='250' height='12' rx='6' fill='#FFFFFF' opacity='0.13' /&gt;&#10;    &lt;rect x='180' y='320' width='210' height='12' rx='6' fill='#FFFFFF' opacity='0.16' /&gt;&#10;    &lt;rect x='180' y='386' width='280' height='12' rx='6' fill='#FFFFFF' opacity='0.13' /&gt;&#10;    &lt;rect x='200' y='420' width='170' height='12' rx='6' fill='#FFFFFF' opacity='0.16' /&gt;&#10;    &lt;rect x='200' y='454' height='12' width='300' rx='6' fill='#FFFFFF' opacity='0.13' /&gt;&#10;    &lt;rect x='200' y='488' width='140' height='12' rx='6' fill='#3D7BD9' opacity='0.7' /&gt;&#10;    &lt;rect x='180' y='522' width='230' height='12' rx='6' fill='#FFFFFF' opacity='0.16' /&gt;&#10;    &lt;rect x='180' y='588' width='180' height='12' rx='6' fill='#FFFFFF' opacity='0.13' /&gt;&#10;    &lt;rect x='200' y='622' width='290' height='12' rx='6' fill='#FFFFFF' opacity='0.16' /&gt;&#10;    &lt;circle cx='470' cy='640' r='60' fill='#1E4FA8' opacity='0.5' /&gt;&#10;    &lt;circle cx='470' cy='640' r='30' fill='#FFC107' opacity='0.5' /&gt;&#10;  &lt;/svg&gt;&#10;&#10;  &lt;Box style={{ width: '1280px', height: '720px', padding: '64px 40px 56px 64px', justifyContent: 'space-between', position: 'relative', zIndex: 2 }}&gt;&#10;    &lt;Box style={{ flexDirection: 'row', alignItems: 'center', gap: 16 }}&gt;&#10;      &lt;Box style={{ width: 6, height: 26, background: '#FFC107' }} /&gt;&#10;      &lt;Text style={{ fontSize: 20, color: '#C9D9F2', fontWeight: 'bold' }}&gt;医院信息系统实验 · AI 智能体与 Vibe Coding 开发实践&lt;/Text&gt;&#10;    &lt;/Box&gt;&#10;&#10;    &lt;Box style={{ gap: 22 }}&gt;&#10;      &lt;Box style={{ flexDirection: 'row', alignItems: 'center', gap: 14 }}&gt;&#10;        &lt;Box style={{ background: '#FFC107', padding: '6px 16px', borderRadius: 4 }}&gt;&#10;          &lt;Text style={{ fontSize: 22, color: '#0E3F8C', fontWeight: 'bold' }}&gt;第 12 课&lt;/Text&gt;&#10;        &lt;/Box&gt;&#10;        &lt;Text style={{ fontSize: 22, color: '#9FBEE6' }}&gt;Final Acceptance &amp;amp; Retrospective&lt;/Text&gt;&#10;      &lt;/Box&gt;&#10;      &lt;Text style={{ fontSize: 60, color: '#FFFFFF', fontWeight: 'bold', lineHeight: 1.2 }}&gt;验收演示与课程复盘&lt;/Text&gt;&#10;      &lt;Text style={{ fontSize: 30, color: '#C9D9F2', lineHeight: 1.4 }}&gt;第 12 课 · 第十二周，验收时刻&lt;/Text&gt;&#10;      &lt;Box style={{ width: 96, height: 5, background: '#FFC107' }} /&gt;&#10;    &lt;/Box&gt;&#10;&#10;    &lt;Box style={{ flexDirection: 'row', alignItems: 'center', gap: 20 }}&gt;&#10;      &lt;Text style={{ fontSize: 18, color: '#8FAED8' }}&gt;湖南中医药大学&lt;/Text&gt;&#10;      &lt;Box style={{ width: 1, height: 20, background: '#4A6FA8' }} /&gt;&#10;      &lt;Text style={{ fontSize: 18, color: '#8FAED8' }}&gt;医院信息系统实验&lt;/Text&gt;&#10;      &lt;Box style={{ width: 1, height: 20, background: '#4A6FA8' }} /&gt;&#10;      &lt;Text style={{ fontSize: 18, color: '#8FAED8' }}&gt;主讲教师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0" y="0"/>
            <a:ext cx="5334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609600" y="609600"/>
            <a:ext cx="57150" cy="2476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19150" y="619125"/>
            <a:ext cx="4800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500" b="1">
                <a:solidFill>
                  <a:srgbClr val="C9D9F2"/>
                </a:solidFill>
                <a:latin typeface="Microsoft YaHei"/>
                <a:ea typeface="Microsoft YaHei"/>
              </a:rPr>
              <a:t> · AI </a:t>
            </a: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智能体与</a:t>
            </a:r>
            <a:r>
              <a:rPr lang="en-US" sz="1500" b="1">
                <a:solidFill>
                  <a:srgbClr val="C9D9F2"/>
                </a:solidFill>
                <a:latin typeface="Microsoft YaHei"/>
                <a:ea typeface="Microsoft YaHei"/>
              </a:rPr>
              <a:t> Vibe Coding </a:t>
            </a: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开发实践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2305050"/>
            <a:ext cx="1114425" cy="371475"/>
          </a:xfrm>
          <a:prstGeom prst="roundRect">
            <a:avLst>
              <a:gd name="adj" fmla="val 10256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2362200"/>
            <a:ext cx="809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 12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857375" y="2362200"/>
            <a:ext cx="3352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9FBEE6"/>
                </a:solidFill>
                <a:latin typeface="Microsoft YaHei"/>
                <a:ea typeface="Microsoft YaHei"/>
              </a:rPr>
              <a:t>Final Acceptance &amp; Retrospective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11201400" cy="828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</a:rPr>
              <a:t>验收演示与课程复盘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3924300"/>
            <a:ext cx="112014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2250">
                <a:solidFill>
                  <a:srgbClr val="C9D9F2"/>
                </a:solidFill>
                <a:latin typeface="Microsoft YaHei"/>
                <a:ea typeface="Microsoft YaHei"/>
              </a:rPr>
              <a:t> 12 </a:t>
            </a:r>
            <a:r>
              <a:rPr lang="zh-CN" sz="225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r>
              <a:rPr lang="en-US" sz="225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2250">
                <a:solidFill>
                  <a:srgbClr val="C9D9F2"/>
                </a:solidFill>
                <a:latin typeface="Microsoft YaHei"/>
                <a:ea typeface="Microsoft YaHei"/>
              </a:rPr>
              <a:t>第十二周，验收时刻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09600" y="4619625"/>
            <a:ext cx="9144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湖南中医药大学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2000250" y="61245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200275" y="61150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3762375" y="61245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962400" y="61150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主讲教师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74" name="" descr="&lt;Slide&#10;  notes={`这节课分三段，九十分钟。&#10;&#10;第一段，我先把验收规则宣布清楚：每组七分钟怎么分配、我按什么核验、我会现场抽查哪三件事。&#10;&#10;第二段是重头，分组验收，占了六十分钟，按组号顺序一组一组来。&#10;&#10;第三段，我们做复盘——vibe coding 十大坑，你们一条条对照自己踩过哪些。最后五分钟结课，我把后面怎么走的三条路交给你们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本节课路线图&lt;/Text&gt;&#10;    &lt;Text style={{ fontSize: 16, color: '#C9D9F2' }}&gt;医院信息系统实验 · 第 12 课&lt;/Text&gt;&#10;  &lt;/Box&gt;&#10;&#10;  &lt;Box style={{ width: '1280px', height: '552px', flexDirection: 'row', padding: '24px 40px 0px 40px', gap: 30 }}&gt;&#10;    &lt;Box style={{ width: '380px', height: '528px', background: '#0E3F8C', padding: '36px 32px', justifyContent: 'space-between' }}&gt;&#10;      &lt;Box style={{ gap: 10 }}&gt;&#10;        &lt;Text style={{ fontSize: 76, color: '#FFFFFF', fontWeight: 'bold', lineHeight: 1.1 }}&gt;目录&lt;/Text&gt;&#10;        &lt;Text style={{ fontSize: 18, color: '#7FA3D6', letterSpacing: 2 }}&gt;CONTENTS&lt;/Text&gt;&#10;      &lt;/Box&gt;&#10;      &lt;Box style={{ width: 64, height: 5, background: '#FFC107' }} /&gt;&#10;      &lt;Box style={{ gap: 12 }}&gt;&#10;        &lt;Text style={{ fontSize: 20, color: '#C9D9F2', lineHeight: 1.6 }}&gt;90 分钟&lt;/Text&gt;&#10;        &lt;Text style={{ fontSize: 20, color: '#C9D9F2', lineHeight: 1.6 }}&gt;规则 10 · 验收 60 · 复盘 15 · 结课 5&lt;/Text&gt;&#10;      &lt;/Box&gt;&#10;    &lt;/Box&gt;&#10;&#10;    &lt;Box style={{ width: '790px', height: '528px', gap: 18 }}&gt;&#10;      &lt;Box style={{ height: '164px', background: '#F7F9FC', border: '1px solid #D6DCE5', borderLeft: '6px solid #1E4FA8', padding: '22px 26px', gap: 8 }}&gt;&#10;        &lt;Box style={{ flexDirection: 'row', alignItems: 'center', gap: 14 }}&gt;&#10;          &lt;Box style={{ width: 40, height: 40, background: '#1E4FA8', alignItems: 'center', justifyContent: 'center' }}&gt;&#10;            &lt;Text style={{ fontSize: 20, color: '#FFFFFF', fontWeight: 'bold' }}&gt;01&lt;/Text&gt;&#10;          &lt;/Box&gt;&#10;          &lt;Text style={{ fontSize: 28, color: '#1A2230', fontWeight: 'bold' }}&gt;验收规则&lt;/Text&gt;&#10;        &lt;/Box&gt;&#10;        &lt;Text style={{ fontSize: 22, color: '#4A5568', lineHeight: 1.45 }}&gt;每组 7 分钟：5 分钟演示 + 2 分钟答辩。7 分钟怎么过，规则先说清。&lt;/Text&gt;&#10;      &lt;/Box&gt;&#10;&#10;      &lt;Box style={{ height: '164px', background: '#F7F9FC', border: '1px solid #D6DCE5', borderLeft: '6px solid #3D7BD9', padding: '22px 26px', gap: 8 }}&gt;&#10;        &lt;Box style={{ flexDirection: 'row', alignItems: 'center', gap: 14 }}&gt;&#10;          &lt;Box style={{ width: 40, height: 40, background: '#3D7BD9', alignItems: 'center', justifyContent: 'center' }}&gt;&#10;            &lt;Text style={{ fontSize: 20, color: '#FFFFFF', fontWeight: 'bold' }}&gt;02&lt;/Text&gt;&#10;          &lt;/Box&gt;&#10;          &lt;Text style={{ fontSize: 28, color: '#1A2230', fontWeight: 'bold' }}&gt;十大坑复盘&lt;/Text&gt;&#10;        &lt;/Box&gt;&#10;        &lt;Text style={{ fontSize: 22, color: '#4A5568', lineHeight: 1.45 }}&gt;vibe coding 十大坑，一条条过，你们对照自己踩过哪些。&lt;/Text&gt;&#10;      &lt;/Box&gt;&#10;&#10;      &lt;Box style={{ height: '164px', background: '#F7F9FC', border: '1px solid #D6DCE5', borderLeft: '6px solid #0E3F8C', padding: '22px 26px', gap: 8 }}&gt;&#10;        &lt;Box style={{ flexDirection: 'row', alignItems: 'center', gap: 14 }}&gt;&#10;          &lt;Box style={{ width: 40, height: 40, background: '#0E3F8C', alignItems: 'center', justifyContent: 'center' }}&gt;&#10;            &lt;Text style={{ fontSize: 20, color: '#FFFFFF', fontWeight: 'bold' }}&gt;03&lt;/Text&gt;&#10;          &lt;/Box&gt;&#10;          &lt;Text style={{ fontSize: 28, color: '#1A2230', fontWeight: 'bold' }}&gt;结课&lt;/Text&gt;&#10;        &lt;/Box&gt;&#10;        &lt;Text style={{ fontSize: 22, color: '#4A5568', lineHeight: 1.45 }}&gt;后续三条路，和这门课反复强调的三句话。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本节课路线图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12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381000" y="914400"/>
            <a:ext cx="3619500" cy="5029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85800" y="1257300"/>
            <a:ext cx="3009900" cy="962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85800" y="2314575"/>
            <a:ext cx="300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7FA3D6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85800" y="3609975"/>
            <a:ext cx="6096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85800" y="4743450"/>
            <a:ext cx="30099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90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85800" y="5229225"/>
            <a:ext cx="30099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规则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10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验收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60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复盘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15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结课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5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4343400" y="91440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4286250" y="91440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4591050" y="1123950"/>
            <a:ext cx="381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667250" y="12001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105400" y="1152525"/>
            <a:ext cx="1066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验收规则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591050" y="1581150"/>
            <a:ext cx="6972300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每组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7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分钟：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5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分钟演示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+ 2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分钟答辩。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7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分钟怎么过，规则先说清。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4343400" y="264795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4286250" y="264795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4591050" y="2857500"/>
            <a:ext cx="381000" cy="381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667250" y="29337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5105400" y="2886075"/>
            <a:ext cx="1333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十大坑复盘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591050" y="3314700"/>
            <a:ext cx="6972300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vibe coding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十大坑，一条条过，你们对照自己踩过哪些。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4343400" y="438150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4286250" y="438150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4591050" y="4591050"/>
            <a:ext cx="381000" cy="381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667250" y="46672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105400" y="4619625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结课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591050" y="5048250"/>
            <a:ext cx="6972300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后续三条路，和这门课反复强调的三句话。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05" name="" descr="&lt;Slide&#10;  notes={`先宣布规则，再开始验收。&#10;&#10;第一，演示必须按你们组的业务闭环主线走，不是想到哪儿点哪儿。&#10;&#10;第二，数据是演示数据没关系，但流程必须真走通——我要看的是你现场点，不是录好的视频。&#10;&#10;第三，验收依据是你们第 4 课提交的《功能点清单》。清单上写&quot;实现&quot;的，我逐项核验；没实现的，你得给我一个理由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1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ACCEPTANCE RULES&lt;/Text&gt;&#10;        &lt;Text style={{ fontSize: 56, color: '#1A2230', fontWeight: 'bold', lineHeight: 1.25 }}&gt;验收规则&lt;/Text&gt;&#10;        &lt;Text style={{ fontSize: 26, color: '#4A5568', lineHeight: 1.5 }}&gt;7 分钟怎么过，我按什么核验&lt;/Text&gt;&#10;      &lt;/Box&gt;&#10;&#10;      &lt;Box style={{ width: '732px', height: '2px', background: '#D6DCE5' }} /&gt;&#10;&#10;      &lt;Box style={{ width: '732px', background: '#E8EFF8', borderLeft: '5px solid #1E4FA8', padding: '16px 20px' }}&gt;&#10;        &lt;Text style={{ fontSize: 24, color: '#1E4FA8', fontWeight: 'bold', lineHeight: 1.45 }}&gt;演示必须真实操作，拒绝录好的视频。&lt;/Text&gt;&#10;      &lt;/Box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按业务闭环主线演示，不是想到哪儿点哪儿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数据是演示数据，但流程必须现场真走通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验收依据是第 4 课提交的《功能点清单》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838700" y="1047750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ACCEPTANCE RULES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838700" y="1409700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验收规则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838700" y="2343150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950">
                <a:solidFill>
                  <a:srgbClr val="4A5568"/>
                </a:solidFill>
                <a:latin typeface="Microsoft YaHei"/>
                <a:ea typeface="Microsoft YaHei"/>
              </a:rPr>
              <a:t>7 </a:t>
            </a: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分钟怎么过，我按什么核验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4838700" y="3057525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4886325" y="3343275"/>
            <a:ext cx="6924675" cy="7048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4838700" y="3343275"/>
            <a:ext cx="6972300" cy="704850"/>
          </a:xfrm>
          <a:custGeom>
            <a:pathLst>
              <a:path w="732" h="74">
                <a:moveTo>
                  <a:pt x="0" y="0"/>
                </a:moveTo>
                <a:lnTo>
                  <a:pt x="5" y="0"/>
                </a:lnTo>
                <a:lnTo>
                  <a:pt x="5" y="74"/>
                </a:lnTo>
                <a:lnTo>
                  <a:pt x="0" y="7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076825" y="3495675"/>
            <a:ext cx="6543675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演示必须真实操作，拒绝录好的视频。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4838700" y="442912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067300" y="4314825"/>
            <a:ext cx="41624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按业务闭环主线演示，不是想到哪儿点哪儿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4838700" y="4981575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067300" y="4867275"/>
            <a:ext cx="39433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数据是演示数据，但流程必须现场真走通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4838700" y="5534025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067300" y="5419725"/>
            <a:ext cx="399097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验收依据是第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4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课提交的《功能点清单》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22" name="" descr="&lt;Slide&#10;  notes={`A 路线的同学注意听，你们的演示主线是这六步。&#10;&#10;第一步登录，把角色权限展示出来，让我看到不同账号看到的菜单不一样。&#10;&#10;第二步挂号，我要看到号源被扣减。第三步医生开方，第四步收费，第五步发药——这里我要看到库存扣减，第六步报表。&#10;&#10;B、C 路线的组按你们自己的闭环走，逻辑一样：每一步都要有数据变化，不能只是页面跳一下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验收规则 · A 路线业务闭环主线&lt;/Text&gt;&#10;    &lt;Text style={{ fontSize: 16, color: '#C9D9F2' }}&gt;医院信息系统实验 · 第 12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A 路线业务闭环主线&lt;/Text&gt;&#10;      &lt;Text style={{ fontSize: 22, color: '#8B97A8' }}&gt;六个节点，每节点必须有数据变化&lt;/Text&gt;&#10;    &lt;/Box&gt;&#10;&#10;    &lt;Box style={{ height: '12px' }} /&gt;&#10;&#10;    &lt;svg width={1200} height={190} viewBox='0 0 1200 190'&gt;&#10;      &lt;line x1='96' y1='100' x2='1104' y2='100' stroke='#D6DCE5' strokeWidth='4' /&gt;&#10;      &lt;line x1='96' y1='100' x2='1104' y2='100' stroke='#1E4FA8' strokeWidth='4' opacity='0.35' /&gt;&#10;      &lt;circle cx='96' cy='100' r='26' fill='#1E4FA8' /&gt;&#10;      &lt;circle cx='298' cy='100' r='26' fill='#1E4FA8' /&gt;&#10;      &lt;circle cx='499' cy='100' r='26' fill='#1E4FA8' /&gt;&#10;      &lt;circle cx='701' cy='100' r='26' fill='#1E4FA8' /&gt;&#10;      &lt;circle cx='902' cy='100' r='26' fill='#1E4FA8' /&gt;&#10;      &lt;circle cx='1104' cy='100' r='30' fill='#FFC107' /&gt;&#10;      &lt;text x='96' y='101' text-anchor='middle' dominant-baseline='central' font-size='22' font-weight='bold' fill='#FFFFFF'&gt;1&lt;/text&gt;&#10;      &lt;text x='298' y='101' text-anchor='middle' dominant-baseline='central' font-size='22' font-weight='bold' fill='#FFFFFF'&gt;2&lt;/text&gt;&#10;      &lt;text x='499' y='101' text-anchor='middle' dominant-baseline='central' font-size='22' font-weight='bold' fill='#FFFFFF'&gt;3&lt;/text&gt;&#10;      &lt;text x='701' y='101' text-anchor='middle' dominant-baseline='central' font-size='22' font-weight='bold' fill='#FFFFFF'&gt;4&lt;/text&gt;&#10;      &lt;text x='902' y='101' text-anchor='middle' dominant-baseline='central' font-size='22' font-weight='bold' fill='#FFFFFF'&gt;5&lt;/text&gt;&#10;      &lt;text x='1104' y='101' text-anchor='middle' dominant-baseline='central' font-size='24' font-weight='bold' fill='#0E3F8C'&gt;6&lt;/text&gt;&#10;      &lt;text x='96' y='52' text-anchor='middle' font-size='26' font-weight='bold' fill='#1A2230'&gt;登录&lt;/text&gt;&#10;      &lt;text x='298' y='52' text-anchor='middle' font-size='26' font-weight='bold' fill='#1A2230'&gt;挂号&lt;/text&gt;&#10;      &lt;text x='499' y='52' text-anchor='middle' font-size='26' font-weight='bold' fill='#1A2230'&gt;医生开方&lt;/text&gt;&#10;      &lt;text x='701' y='52' text-anchor='middle' font-size='26' font-weight='bold' fill='#1A2230'&gt;收费&lt;/text&gt;&#10;      &lt;text x='902' y='52' text-anchor='middle' font-size='26' font-weight='bold' fill='#1A2230'&gt;发药&lt;/text&gt;&#10;      &lt;text x='1104' y='52' text-anchor='middle' font-size='26' font-weight='bold' fill='#1E4FA8'&gt;报表&lt;/text&gt;&#10;      &lt;text x='96' y='158' text-anchor='middle' font-size='18' fill='#4A5568'&gt;展示角色权限&lt;/text&gt;&#10;      &lt;text x='298' y='158' text-anchor='middle' font-size='18' fill='#4A5568'&gt;号源扣减&lt;/text&gt;&#10;      &lt;text x='499' y='158' text-anchor='middle' font-size='18' fill='#4A5568'&gt;生成处方医嘱&lt;/text&gt;&#10;      &lt;text x='701' y='158' text-anchor='middle' font-size='18' fill='#4A5568'&gt;收费结算&lt;/text&gt;&#10;      &lt;text x='902' y='158' text-anchor='middle' font-size='18' fill='#4A5568'&gt;库存扣减&lt;/text&gt;&#10;      &lt;text x='1104' y='158' text-anchor='middle' font-size='18' fill='#1E4FA8'&gt;数据统计&lt;/text&gt;&#10;    &lt;/svg&gt;&#10;&#10;    &lt;Box style={{ height: '16px' }} /&gt;&#10;&#10;    &lt;Box style={{ height: '200px', flexDirection: 'row', gap: 24 }}&gt;&#10;      &lt;Box style={{ flex: 1, background: '#F7F9FC', border: '1px solid #D6DCE5', borderTop: '4px solid #1E4FA8', padding: '18px 20px', gap: 10 }}&gt;&#10;        &lt;Text style={{ fontSize: 26, color: '#1A2230', fontWeight: 'bold' }}&gt;按闭环走，不按菜单走&lt;/Text&gt;&#10;        &lt;Text style={{ fontSize: 21, color: '#4A5568', lineHeight: 1.5 }}&gt;&#10;          演示&lt;span style={{ fontWeight: 'bold', color: '#1E4FA8' }}&gt;必须按本组业务闭环主线&lt;/span&gt;推进：A 路线是这六步，B、C 路线按各自闭环。&#10;        &lt;/Text&gt;&#10;      &lt;/Box&gt;&#10;      &lt;Box style={{ flex: 1, background: '#F7F9FC', border: '1px solid #D6DCE5', borderTop: '4px solid #3D7BD9', padding: '18px 20px', gap: 10 }}&gt;&#10;        &lt;Text style={{ fontSize: 26, color: '#1A2230', fontWeight: 'bold' }}&gt;每一步都有数据变化&lt;/Text&gt;&#10;        &lt;Text style={{ fontSize: 21, color: '#4A5568', lineHeight: 1.5 }}&gt;&#10;          号源、库存、金额、日志——&lt;span style={{ fontWeight: 'bold', color: '#1A2230' }}&gt;点完要能看到东西真的变了&lt;/span&gt;，不是页面跳一下就算数。&#10;        &lt;/Text&gt;&#10;      &lt;/Box&gt;&#10;      &lt;Box style={{ flex: 1, background: '#E8EFF8', border: '1px solid #3D7BD9', borderTop: '4px solid #1E4FA8', padding: '18px 20px', gap: 10 }}&gt;&#10;        &lt;Text style={{ fontSize: 26, color: '#1A2230', fontWeight: 'bold' }}&gt;现场点，不录屏&lt;/Text&gt;&#10;        &lt;Text style={{ fontSize: 21, color: '#4A5568', lineHeight: 1.5 }}&gt;&#10;          数据是演示数据没关系，&lt;span style={{ fontWeight: 'bold', color: '#D9534F' }}&gt;流程必须现场真走通&lt;/span&gt;；点不通就直说点不通。&#10;        &lt;/Text&gt;&#10;      &lt;/Box&gt;&#10;    &lt;/Box&gt;&#10;&#10;    &lt;Box style={{ height: '12px' }} /&gt;&#10;&#10;    &lt;Box style={{ height: '44px', background: '#1E4FA8', flexDirection: 'row', alignItems: 'center', padding: '0px 20px', gap: 12 }}&gt;&#10;      &lt;Box style={{ width: 6, height: 6, background: '#FFC107' }} /&gt;&#10;      &lt;Text style={{ fontSize: 21, color: '#FFFFFF' }}&gt;B、C 路线按各自闭环走；验收依据是第 4 课提交的《功能点清单》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981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验收规则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A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路线业务闭环主线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12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31051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A2230"/>
                </a:solidFill>
                <a:latin typeface="Microsoft YaHei"/>
                <a:ea typeface="Microsoft YaHei"/>
              </a:rPr>
              <a:t>A </a:t>
            </a: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路线业务闭环主线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810000" y="101917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六个节点，每节点必须有数据变化</a:t>
            </a:r>
            <a:endParaRPr/>
          </a:p>
        </p:txBody>
      </p:sp>
      <p:pic>
        <p:nvPicPr>
          <p:cNvPr id="2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485900"/>
            <a:ext cx="11430000" cy="1809750"/>
          </a:xfrm>
          <a:prstGeom prst="rect">
            <a:avLst/>
          </a:prstGeom>
          <a:ln/>
        </p:spPr>
      </p:pic>
      <p:sp>
        <p:nvSpPr>
          <p:cNvPr id="231" name=""/>
          <p:cNvSpPr/>
          <p:nvPr/>
        </p:nvSpPr>
        <p:spPr>
          <a:xfrm rot="0" flipH="0" flipV="0">
            <a:off x="381000" y="3486150"/>
            <a:ext cx="3657600" cy="1905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381000" y="3448050"/>
            <a:ext cx="3657600" cy="1943100"/>
          </a:xfrm>
          <a:custGeom>
            <a:pathLst>
              <a:path w="384" h="20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71500" y="365760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按闭环走，不按菜单走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71500" y="4057650"/>
            <a:ext cx="32766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演示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必须按本组业务闭环主线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推进：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路线是这六步，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B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C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路线按各自闭环。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4267200" y="3486150"/>
            <a:ext cx="3657600" cy="1905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4267200" y="3448050"/>
            <a:ext cx="3657600" cy="1943100"/>
          </a:xfrm>
          <a:custGeom>
            <a:pathLst>
              <a:path w="384" h="20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4457700" y="365760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每一步都有数据变化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4457700" y="4057650"/>
            <a:ext cx="32766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号源、库存、金额、日志——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点完要能看到东西真的变了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，不是页面跳一下就算数。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8153400" y="3486150"/>
            <a:ext cx="3657600" cy="19050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8153400" y="3448050"/>
            <a:ext cx="3657600" cy="1943100"/>
          </a:xfrm>
          <a:custGeom>
            <a:pathLst>
              <a:path w="384" h="20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343900" y="365760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现场点，不录屏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343900" y="4057650"/>
            <a:ext cx="3276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数据是演示数据没关系，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流程必须现场真走通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；点不通就直说点不通。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381000" y="5467350"/>
            <a:ext cx="11430000" cy="419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571500" y="5648325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742950" y="5553075"/>
            <a:ext cx="5962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、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C 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路线按各自闭环走；验收依据是第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 4 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课提交的《功能点清单》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48" name="" descr="&lt;Slide&#10;  notes={`规则很简单，我再说一遍时间。&#10;&#10;每组七分钟：五分钟演示，两分钟答辩。按组号顺序来，叫到哪组哪组上，别等着点名。&#10;&#10;核验方式也说清楚：我手上拿着你们第 4 课交的《功能点清单》，上面标&quot;实现&quot;的条目，我一项一项看。没做出来的，你当场给我一个理由，说清楚卡在哪，我不为难人，但别装作实现了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验收规则 · 时间与核验方式&lt;/Text&gt;&#10;    &lt;Text style={{ fontSize: 16, color: '#C9D9F2' }}&gt;医院信息系统实验 · 第 12 课&lt;/Text&gt;&#10;  &lt;/Box&gt;&#10;&#10;  &lt;Box style={{ width: '1280px', height: '552px', flexDirection: 'row', padding: '24px 40px 0px 40px', gap: 30 }}&gt;&#10;    &lt;Box style={{ width: '760px', height: '528px', gap: 20 }}&gt;&#10;      &lt;Box style={{ height: '254px', background: '#F7F9FC', border: '1px solid #D6DCE5', borderLeft: '6px solid #1E4FA8', padding: '22px 26px', gap: 12 }}&gt;&#10;        &lt;Box style={{ flexDirection: 'row', alignItems: 'center', gap: 14 }}&gt;&#10;          &lt;Box style={{ width: 44, height: 44, background: '#1E4FA8', alignItems: 'center', justifyContent: 'center' }}&gt;&#10;            &lt;Text style={{ fontSize: 22, color: '#FFFFFF', fontWeight: 'bold' }}&gt;T&lt;/Text&gt;&#10;          &lt;/Box&gt;&#10;          &lt;Text style={{ fontSize: 30, color: '#1A2230', fontWeight: 'bold' }}&gt;时间规则&lt;/Text&gt;&#10;        &lt;/Box&gt;&#10;        &lt;Text style={{ fontSize: 24, color: '#1A2230', lineHeight: 1.55 }}&gt;&#10;          每组 &lt;span style={{ fontWeight: 'bold', color: '#1E4FA8' }}&gt;7 分钟：5 分钟演示 + 2 分钟答辩&lt;/span&gt;，到点就停，答辩时间另算。&#10;        &lt;/Text&gt;&#10;        &lt;Text style={{ fontSize: 22, color: '#4A5568', lineHeight: 1.55 }}&gt;&#10;          按组号顺序来，叫到哪组哪组上；演示超时我会打断，所以提前排好点哪里。&#10;        &lt;/Text&gt;&#10;      &lt;/Box&gt;&#10;&#10;      &lt;Box style={{ height: '254px', background: '#F7F9FC', border: '1px solid #D6DCE5', borderLeft: '6px solid #3D7BD9', padding: '22px 26px', gap: 12 }}&gt;&#10;        &lt;Box style={{ flexDirection: 'row', alignItems: 'center', gap: 14 }}&gt;&#10;          &lt;Box style={{ width: 44, height: 44, background: '#3D7BD9', alignItems: 'center', justifyContent: 'center' }}&gt;&#10;            &lt;Text style={{ fontSize: 22, color: '#FFFFFF', fontWeight: 'bold' }}&gt;C&lt;/Text&gt;&#10;          &lt;/Box&gt;&#10;          &lt;Text style={{ fontSize: 30, color: '#1A2230', fontWeight: 'bold' }}&gt;核验方式&lt;/Text&gt;&#10;        &lt;/Box&gt;&#10;        &lt;Text style={{ fontSize: 24, color: '#1A2230', lineHeight: 1.55 }}&gt;&#10;          对照《功能点清单》，标注&lt;span style={{ fontWeight: 'bold', color: '#1E4FA8' }}&gt;&quot;实现&quot;&lt;/span&gt;的条目逐项核验。&#10;        &lt;/Text&gt;&#10;        &lt;Text style={{ fontSize: 22, color: '#4A5568', lineHeight: 1.55 }}&gt;&#10;          没实现的要有理由——说清楚卡在哪一步、为什么放弃，别把没做的写成做了。&#10;        &lt;/Text&gt;&#10;      &lt;/Box&gt;&#10;    &lt;/Box&gt;&#10;&#10;    &lt;Box style={{ width: '410px', height: '528px', background: '#E8EFF8', border: '1px solid #D6DCE5', padding: '26px 24px', justifyContent: 'space-between' }}&gt;&#10;      &lt;Box style={{ gap: 12 }}&gt;&#10;        &lt;Text style={{ fontSize: 17, color: '#3D7BD9', letterSpacing: 2 }}&gt;RANDOM CHECK&lt;/Text&gt;&#10;        &lt;Text style={{ fontSize: 34, color: '#1A2230', fontWeight: 'bold', lineHeight: 1.25 }}&gt;现场随机抽查&lt;br /&gt;三件事&lt;/Text&gt;&#10;        &lt;Box style={{ width: 80, height: 5, background: '#1E4FA8' }} /&gt;&#10;      &lt;/Box&gt;&#10;&#10;      &lt;Box style={{ gap: 14 }}&gt;&#10;        &lt;Box style={{ background: '#FFFFFF', border: '1px solid #D6DCE5', padding: '14px 16px', gap: 6 }}&gt;&#10;          &lt;Text style={{ fontSize: 22, color: '#1A2230', fontWeight: 'bold' }}&gt;① 越权访问&lt;/Text&gt;&#10;          &lt;Text style={{ fontSize: 19, color: '#4A5568', lineHeight: 1.45 }}&gt;用低权限账号调管理接口，看会不会被拦。&lt;/Text&gt;&#10;        &lt;/Box&gt;&#10;        &lt;Box style={{ background: '#FFFFFF', border: '1px solid #D6DCE5', padding: '14px 16px', gap: 6 }}&gt;&#10;          &lt;Text style={{ fontSize: 22, color: '#1A2230', fontWeight: 'bold' }}&gt;② 跑测试&lt;/Text&gt;&#10;          &lt;Text style={{ fontSize: 19, color: '#4A5568', lineHeight: 1.45 }}&gt;现场 pytest，我要看着它跑完。&lt;/Text&gt;&#10;        &lt;/Box&gt;&#10;        &lt;Box style={{ background: '#FFFFFF', border: '1px solid #D6DCE5', padding: '14px 16px', gap: 6 }}&gt;&#10;          &lt;Text style={{ fontSize: 22, color: '#1A2230', fontWeight: 'bold' }}&gt;③ 查审计日志&lt;/Text&gt;&#10;          &lt;Text style={{ fontSize: 19, color: '#4A5568', lineHeight: 1.45 }}&gt;刚才那次发药，日志里查得到吗。&lt;/Text&gt;&#10;        &lt;/Box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5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验收规则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时间与核验方式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12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438150" y="914400"/>
            <a:ext cx="7239000" cy="24193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381000" y="914400"/>
            <a:ext cx="7296150" cy="2419350"/>
          </a:xfrm>
          <a:custGeom>
            <a:pathLst>
              <a:path w="766" h="254">
                <a:moveTo>
                  <a:pt x="0" y="0"/>
                </a:moveTo>
                <a:lnTo>
                  <a:pt x="6" y="0"/>
                </a:lnTo>
                <a:lnTo>
                  <a:pt x="6" y="254"/>
                </a:lnTo>
                <a:lnTo>
                  <a:pt x="0" y="25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685800" y="1123950"/>
            <a:ext cx="419100" cy="419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28675" y="1209675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T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238250" y="1162050"/>
            <a:ext cx="1143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时间规则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85800" y="1657350"/>
            <a:ext cx="66865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每组</a:t>
            </a:r>
            <a:r>
              <a:rPr lang="en-US" sz="180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>7 </a:t>
            </a: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分钟：</a:t>
            </a: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>5 </a:t>
            </a: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分钟演示</a:t>
            </a: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> + 2 </a:t>
            </a: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分钟答辩</a:t>
            </a: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，到点就停，答辩时间另算。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85800" y="2628900"/>
            <a:ext cx="668655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按组号顺序来，叫到哪组哪组上；演示超时我会打断，所以提前排好点哪里。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438150" y="3524250"/>
            <a:ext cx="7239000" cy="24193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61" name=""/>
          <p:cNvSpPr/>
          <p:nvPr/>
        </p:nvSpPr>
        <p:spPr>
          <a:xfrm rot="0" flipH="0" flipV="0">
            <a:off x="381000" y="3524250"/>
            <a:ext cx="7296150" cy="2419350"/>
          </a:xfrm>
          <a:custGeom>
            <a:pathLst>
              <a:path w="766" h="254">
                <a:moveTo>
                  <a:pt x="0" y="0"/>
                </a:moveTo>
                <a:lnTo>
                  <a:pt x="6" y="0"/>
                </a:lnTo>
                <a:lnTo>
                  <a:pt x="6" y="254"/>
                </a:lnTo>
                <a:lnTo>
                  <a:pt x="0" y="25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685800" y="3733800"/>
            <a:ext cx="419100" cy="419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828675" y="3819525"/>
            <a:ext cx="1428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238250" y="3771900"/>
            <a:ext cx="1143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核验方式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85800" y="4267200"/>
            <a:ext cx="6686550" cy="4286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对照《功能点清单》，标注</a:t>
            </a: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实现</a:t>
            </a: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的条目逐项核验。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85800" y="4810125"/>
            <a:ext cx="668655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没实现的要有理由——说清楚卡在哪一步、为什么放弃，别把没做的写成做了。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7905750" y="914400"/>
            <a:ext cx="3905250" cy="5029200"/>
          </a:xfrm>
          <a:prstGeom prst="rect">
            <a:avLst/>
          </a:prstGeom>
          <a:solidFill>
            <a:srgbClr val="E8EFF8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134350" y="1162050"/>
            <a:ext cx="3448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3D7BD9"/>
                </a:solidFill>
                <a:latin typeface="Microsoft YaHei"/>
                <a:ea typeface="Microsoft YaHei"/>
              </a:rPr>
              <a:t>RANDOM CHECK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134350" y="1476375"/>
            <a:ext cx="3448050" cy="9715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现场随机抽查</a:t>
            </a:r>
            <a:endParaRPr/>
          </a:p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三件事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8134350" y="2562225"/>
            <a:ext cx="7620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8134350" y="2609850"/>
            <a:ext cx="344805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286750" y="274320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越权访问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286750" y="3057525"/>
            <a:ext cx="31432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用低权限账号调管理接口，看会不会被拦。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8134350" y="3962400"/>
            <a:ext cx="3448050" cy="904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286750" y="409575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②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跑测试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286750" y="4410075"/>
            <a:ext cx="31432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现场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pytest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，我要看着它跑完。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8134350" y="5000625"/>
            <a:ext cx="3448050" cy="904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286750" y="513397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③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查审计日志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286750" y="5448300"/>
            <a:ext cx="31432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刚才那次发药，日志里查得到吗。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82" name="" descr="&lt;Slide&#10;  notes={`两分钟答辩，我就问三个问题，你们现在可以想一想。&#10;&#10;第一，你们组最难的一个 bug 是什么，你是怎么让 AI 把它修好的？&#10;&#10;第二，哪些代码是你自己动手改的，为什么不让 AI 改？&#10;&#10;第三，如果重做一遍，哪里会不一样？&#10;&#10;别紧张，我不问你背不背得出命令。你只要讲清楚你让 AI 干了什么、你自己干了什么，就是好答辩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验收规则 · 答辩三问&lt;/Text&gt;&#10;    &lt;Text style={{ fontSize: 16, color: '#C9D9F2' }}&gt;医院信息系统实验 · 第 12 课&lt;/Text&gt;&#10;  &lt;/Box&gt;&#10;&#10;  &lt;Box style={{ width: '1280px', height: '552px', padding: '24px 40px 0px 40px' }}&gt;&#10;    &lt;Box style={{ height: '470px', flexDirection: 'row', gap: 24 }}&gt;&#10;      &lt;Box style={{ flex: 1, background: '#FFFFFF', border: '1px solid #D6DCE5', borderTop: '6px solid #D9534F', padding: '24px 22px', justifyContent: 'space-between' }}&gt;&#10;        &lt;Box style={{ gap: 12 }}&gt;&#10;          &lt;Text style={{ fontSize: 48, color: '#D9534F', fontWeight: 'bold', lineHeight: 1 }}&gt;01&lt;/Text&gt;&#10;          &lt;svg width={64} height={64} viewBox='0 0 64 64'&gt;&#10;            &lt;rect x='18' y='20' width='28' height='34' rx='14' fill='#FDECEA' stroke='#D9534F' strokeWidth='3' /&gt;&#10;            &lt;path d='M8 26 H18 M8 40 H18 M46 26 H56 M46 40 H56' stroke='#D9534F' strokeWidth='3' strokeLinecap='round' /&gt;&#10;            &lt;path d='M14 14 L22 20 M50 14 L42 20' stroke='#D9534F' strokeWidth='3' strokeLinecap='round' /&gt;&#10;            &lt;line x1='24' y1='30' x2='40' y2='30' stroke='#D9534F' strokeWidth='3' strokeLinecap='round' /&gt;&#10;            &lt;line x1='24' y1='38' x2='36' y2='38' stroke='#D9534F' strokeWidth='3' strokeLinecap='round' /&gt;&#10;          &lt;/svg&gt;&#10;          &lt;Text style={{ fontSize: 27, color: '#1A2230', fontWeight: 'bold', lineHeight: 1.3 }}&gt;最难的一个 bug&lt;/Text&gt;&#10;          &lt;Text style={{ fontSize: 21, color: '#4A5568', lineHeight: 1.5 }}&gt;&#10;            你们组最难的 bug 是什么？你是&lt;span style={{ fontWeight: 'bold', color: '#D9534F' }}&gt;怎么让 AI 修好它&lt;/span&gt;的：提示词怎么写的、迭代了几轮。&#10;          &lt;/Text&gt;&#10;        &lt;/Box&gt;&#10;        &lt;Box style={{ background: '#FDECEA', padding: '10px 14px' }}&gt;&#10;          &lt;Text style={{ fontSize: 20, color: '#D9534F', fontWeight: 'bold' }}&gt;→ 听：提示词怎么迭代&lt;/Text&gt;&#10;        &lt;/Box&gt;&#10;      &lt;/Box&gt;&#10;&#10;      &lt;Box style={{ flex: 1, background: '#FFFFFF', border: '1px solid #D6DCE5', borderTop: '6px solid #1E4FA8', padding: '24px 22px', justifyContent: 'space-between' }}&gt;&#10;        &lt;Box style={{ gap: 12 }}&gt;&#10;          &lt;Text style={{ fontSize: 48, color: '#1E4FA8', fontWeight: 'bold', lineHeight: 1 }}&gt;02&lt;/Text&gt;&#10;          &lt;svg width={64} height={64} viewBox='0 0 64 64'&gt;&#10;            &lt;rect x='8' y='10' width='48' height='44' rx='4' fill='#E8EFF8' stroke='#1E4FA8' strokeWidth='3' /&gt;&#10;            &lt;path d='M18 20 H46 M18 30 H46 M18 40 H34' stroke='#1E4FA8' strokeWidth='3' strokeLinecap='round' /&gt;&#10;            &lt;path d='M44 38 L54 48 L48 54 L38 44 Z' fill='#FFFFFF' stroke='#1E4FA8' strokeWidth='3' strokeLinejoin='round' /&gt;&#10;            &lt;line x1='40' y1='48' x2='48' y2='56' stroke='#1E4FA8' strokeWidth='3' strokeLinecap='round' /&gt;&#10;          &lt;/svg&gt;&#10;          &lt;Text style={{ fontSize: 27, color: '#1A2230', fontWeight: 'bold', lineHeight: 1.3 }}&gt;人工改过的代码&lt;/Text&gt;&#10;          &lt;Text style={{ fontSize: 21, color: '#4A5568', lineHeight: 1.5 }}&gt;&#10;            哪些代码是&lt;span style={{ fontWeight: 'bold', color: '#1E4FA8' }}&gt;你自己动手改&lt;/span&gt;的？为什么不让 AI 改，你改的那几行解决了什么。&#10;          &lt;/Text&gt;&#10;        &lt;/Box&gt;&#10;        &lt;Box style={{ background: '#E8EFF8', padding: '10px 14px' }}&gt;&#10;          &lt;Text style={{ fontSize: 20, color: '#1E4FA8', fontWeight: 'bold' }}&gt;→ 听：人工介入点&lt;/Text&gt;&#10;        &lt;/Box&gt;&#10;      &lt;/Box&gt;&#10;&#10;      &lt;Box style={{ flex: 1, background: '#FFFFFF', border: '1px solid #D6DCE5', borderTop: '6px solid #FFC107', padding: '24px 22px', justifyContent: 'space-between' }}&gt;&#10;        &lt;Box style={{ gap: 12 }}&gt;&#10;          &lt;Text style={{ fontSize: 48, color: '#B7860B', fontWeight: 'bold', lineHeight: 1 }}&gt;03&lt;/Text&gt;&#10;          &lt;svg width={64} height={64} viewBox='0 0 64 64'&gt;&#10;            &lt;path d='M14 32 A18 18 0 0 1 46 22' fill='none' stroke='#FFC107' strokeWidth='4' strokeLinecap='round' /&gt;&#10;            &lt;path d='M50 32 A18 18 0 0 1 18 42' fill='none' stroke='#FFC107' strokeWidth='4' strokeLinecap='round' /&gt;&#10;            &lt;path d='M46 14 L48 24 L38 22 Z' fill='#FFC107' /&gt;&#10;            &lt;path d='M18 50 L16 40 L26 42 Z' fill='#FFC107' /&gt;&#10;          &lt;/svg&gt;&#10;          &lt;Text style={{ fontSize: 27, color: '#1A2230', fontWeight: 'bold', lineHeight: 1.3 }}&gt;重做一遍会怎么改&lt;/Text&gt;&#10;          &lt;Text style={{ fontSize: 21, color: '#4A5568', lineHeight: 1.5 }}&gt;&#10;            如果从头再做一遍，&lt;span style={{ fontWeight: 'bold', color: '#1A2230' }}&gt;哪里会不一样&lt;/span&gt;：需求切分、提交粒度，还是验证方式。&#10;          &lt;/Text&gt;&#10;        &lt;/Box&gt;&#10;        &lt;Box style={{ background: '#FFF8E1', padding: '10px 14px' }}&gt;&#10;          &lt;Text style={{ fontSize: 20, color: '#B7860B', fontWeight: 'bold' }}&gt;→ 听：判断力的成长&lt;/Text&gt;&#10;        &lt;/Box&gt;&#10;      &lt;/Box&gt;&#10;    &lt;/Box&gt;&#10;&#10;    &lt;Box style={{ height: '12px' }} /&gt;&#10;&#10;    &lt;Box style={{ height: '46px', background: '#1E4FA8', flexDirection: 'row', alignItems: 'center', padding: '0px 20px', gap: 12 }}&gt;&#10;      &lt;Box style={{ width: 6, height: 6, background: '#FFC107' }} /&gt;&#10;      &lt;Text style={{ fontSize: 22, color: '#FFFFFF', fontWeight: 'bold' }}&gt;答辩重点听 AI 协作过程与人工介入点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6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019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验收规则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答辩三问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12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381000" y="971550"/>
            <a:ext cx="3657600" cy="4476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381000" y="914400"/>
            <a:ext cx="3657600" cy="4533900"/>
          </a:xfrm>
          <a:custGeom>
            <a:pathLst>
              <a:path w="384" h="476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90550" y="1200150"/>
            <a:ext cx="3238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D9534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pic>
        <p:nvPicPr>
          <p:cNvPr id="2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866900"/>
            <a:ext cx="609600" cy="609600"/>
          </a:xfrm>
          <a:prstGeom prst="rect">
            <a:avLst/>
          </a:prstGeom>
          <a:ln/>
        </p:spPr>
      </p:pic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90550" y="2590800"/>
            <a:ext cx="3238500" cy="409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最难的一个</a:t>
            </a:r>
            <a:r>
              <a:rPr lang="en-US" sz="2025" b="1">
                <a:solidFill>
                  <a:srgbClr val="1A2230"/>
                </a:solidFill>
                <a:latin typeface="Microsoft YaHei"/>
                <a:ea typeface="Microsoft YaHei"/>
              </a:rPr>
              <a:t> bug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590550" y="3114675"/>
            <a:ext cx="3238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你们组最难的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bug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是什么？你是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怎么让</a:t>
            </a: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 AI 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修好它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的：提示词怎么写的、迭代了几轮。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590550" y="4743450"/>
            <a:ext cx="3238500" cy="41910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723900" y="48387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→ </a:t>
            </a: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听：提示词怎么迭代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4267200" y="971550"/>
            <a:ext cx="3657600" cy="4476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4267200" y="914400"/>
            <a:ext cx="3657600" cy="4533900"/>
          </a:xfrm>
          <a:custGeom>
            <a:pathLst>
              <a:path w="384" h="476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476750" y="1200150"/>
            <a:ext cx="3238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pic>
        <p:nvPicPr>
          <p:cNvPr id="2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76750" y="1866900"/>
            <a:ext cx="609600" cy="609600"/>
          </a:xfrm>
          <a:prstGeom prst="rect">
            <a:avLst/>
          </a:prstGeom>
          <a:ln/>
        </p:spPr>
      </p:pic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476750" y="2590800"/>
            <a:ext cx="3238500" cy="409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人工改过的代码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476750" y="3114675"/>
            <a:ext cx="3238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哪些代码是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你自己动手改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的？为什么不让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改，你改的那几行解决了什么。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4476750" y="4743450"/>
            <a:ext cx="3238500" cy="4191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610100" y="48387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→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听：人工介入点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8153400" y="971550"/>
            <a:ext cx="3657600" cy="4476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8153400" y="914400"/>
            <a:ext cx="3657600" cy="4533900"/>
          </a:xfrm>
          <a:custGeom>
            <a:pathLst>
              <a:path w="384" h="476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362950" y="1200150"/>
            <a:ext cx="3238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B7860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pic>
        <p:nvPicPr>
          <p:cNvPr id="3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62950" y="1866900"/>
            <a:ext cx="609600" cy="609600"/>
          </a:xfrm>
          <a:prstGeom prst="rect">
            <a:avLst/>
          </a:prstGeom>
          <a:ln/>
        </p:spPr>
      </p:pic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362950" y="2590800"/>
            <a:ext cx="3238500" cy="409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重做一遍会怎么改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362950" y="3114675"/>
            <a:ext cx="3238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如果从头再做一遍，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哪里会不一样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：需求切分、提交粒度，还是验证方式。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8362950" y="4743450"/>
            <a:ext cx="3238500" cy="41910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496300" y="48387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B7860B"/>
                </a:solidFill>
                <a:latin typeface="Microsoft YaHei"/>
                <a:ea typeface="Microsoft YaHei"/>
              </a:rPr>
              <a:t>→ </a:t>
            </a:r>
            <a:r>
              <a:rPr lang="zh-CN" sz="1500" b="1">
                <a:solidFill>
                  <a:srgbClr val="B7860B"/>
                </a:solidFill>
                <a:latin typeface="Microsoft YaHei"/>
                <a:ea typeface="Microsoft YaHei"/>
              </a:rPr>
              <a:t>听：判断力的成长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381000" y="5505450"/>
            <a:ext cx="11430000" cy="438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571500" y="569595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742950" y="5600700"/>
            <a:ext cx="3505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答辩重点听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协作过程与人工介入点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16" name="" descr="&lt;Slide&#10;  notes={`验收完，我们做一件比验收更重要的事：复盘。&#10;&#10;我把这门课大家最常踩的十个坑整理出来了，就在教学方案附录 E 里，一共十条。&#10;&#10;我们一条一条过。每念一条，踩过的同学举一下手——别不好意思，这十条我带过的每一届都有人踩，踩过不丢人，重复踩才丢人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2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TEN PITFALLS&lt;/Text&gt;&#10;        &lt;Text style={{ fontSize: 56, color: '#1A2230', fontWeight: 'bold', lineHeight: 1.25 }}&gt;十大坑复盘&lt;/Text&gt;&#10;        &lt;Text style={{ fontSize: 26, color: '#4A5568', lineHeight: 1.5 }}&gt;vibe coding 最容易翻车的十个地方&lt;/Text&gt;&#10;      &lt;/Box&gt;&#10;&#10;      &lt;Box style={{ width: '732px', height: '2px', background: '#D6DCE5' }} /&gt;&#10;&#10;      &lt;Box style={{ width: '732px', background: '#E8EFF8', borderLeft: '5px solid #1E4FA8', padding: '16px 20px' }}&gt;&#10;        &lt;Text style={{ fontSize: 24, color: '#1E4FA8', fontWeight: 'bold', lineHeight: 1.45 }}&gt;这十条，你们对照自己踩过哪些。&lt;/Text&gt;&#10;      &lt;/Box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代码层：幻觉代码、上下文丢失、越改越乱、模型漂移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工程层：安全裸奔、无限加需求、看不懂自己的代码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协作层：额度耗尽、把 AI 输出当最终答案、合规缺失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838700" y="1047750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TEN PITFALLS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838700" y="1409700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十大坑复盘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4838700" y="2343150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950">
                <a:solidFill>
                  <a:srgbClr val="4A5568"/>
                </a:solidFill>
                <a:latin typeface="Microsoft YaHei"/>
                <a:ea typeface="Microsoft YaHei"/>
              </a:rPr>
              <a:t>vibe coding </a:t>
            </a: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最容易翻车的十个地方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4838700" y="3057525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4886325" y="3343275"/>
            <a:ext cx="6924675" cy="7048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25" name=""/>
          <p:cNvSpPr/>
          <p:nvPr/>
        </p:nvSpPr>
        <p:spPr>
          <a:xfrm rot="0" flipH="0" flipV="0">
            <a:off x="4838700" y="3343275"/>
            <a:ext cx="6972300" cy="704850"/>
          </a:xfrm>
          <a:custGeom>
            <a:pathLst>
              <a:path w="732" h="74">
                <a:moveTo>
                  <a:pt x="0" y="0"/>
                </a:moveTo>
                <a:lnTo>
                  <a:pt x="5" y="0"/>
                </a:lnTo>
                <a:lnTo>
                  <a:pt x="5" y="74"/>
                </a:lnTo>
                <a:lnTo>
                  <a:pt x="0" y="7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5076825" y="3495675"/>
            <a:ext cx="6543675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这十条，你们对照自己踩过哪些。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4838700" y="442912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5067300" y="4314825"/>
            <a:ext cx="52578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代码层：幻觉代码、上下文丢失、越改越乱、模型漂移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4838700" y="4981575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067300" y="4867275"/>
            <a:ext cx="50387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工程层：安全裸奔、无限加需求、看不懂自己的代码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4838700" y="5534025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5067300" y="5419725"/>
            <a:ext cx="517207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协作层：额度耗尽、把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AI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输出当最终答案、合规缺失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33" name="" descr="&lt;Slide&#10;  notes={`这张是我自己用的验收要点，我念一遍，你们心里有数。&#10;&#10;演示必须真实操作，我不接受录好的视频。&#10;&#10;越权测试：拿收费员账号去调 admin 下面的接口，必须返回 403。&#10;&#10;测试现场跑，pytest 要全绿，E2E 脚本现场跑主流程。&#10;&#10;审计日志：你刚才点的那次发药，我到日志里要能查到。&#10;&#10;做完了这几条，再说加分项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十大坑复盘 · 教师验收要点&lt;/Text&gt;&#10;    &lt;Text style={{ fontSize: 16, color: '#C9D9F2' }}&gt;医院信息系统实验 · 第 12 课&lt;/Text&gt;&#10;  &lt;/Box&gt;&#10;&#10;  &lt;Box style={{ width: '1280px', height: '552px', flexDirection: 'row', padding: '24px 40px 0px 40px', gap: 30 }}&gt;&#10;    &lt;Box style={{ width: '360px', height: '528px', background: '#0E3F8C', padding: '30px 28px', justifyContent: 'space-between' }}&gt;&#10;      &lt;Box style={{ gap: 14 }}&gt;&#10;        &lt;Text style={{ fontSize: 17, color: '#7FA3D6', letterSpacing: 2 }}&gt;TEACHER CHECKLIST&lt;/Text&gt;&#10;        &lt;Text style={{ fontSize: 44, color: '#FFFFFF', fontWeight: 'bold', lineHeight: 1.2 }}&gt;教师验收&lt;br /&gt;要点&lt;/Text&gt;&#10;        &lt;Box style={{ width: 80, height: 5, background: '#FFC107' }} /&gt;&#10;      &lt;/Box&gt;&#10;      &lt;Text style={{ fontSize: 22, color: '#C9D9F2', lineHeight: 1.6 }}&gt;&#10;        七条，逐条过；前六条是底线，第七条是加分。&#10;      &lt;/Text&gt;&#10;      &lt;Box style={{ gap: 8 }}&gt;&#10;        &lt;Box style={{ height: 1, background: '#3D7BD9' }} /&gt;&#10;        &lt;Text style={{ fontSize: 20, color: '#8FAED8' }}&gt;依据：第 4 课《功能点清单》&lt;/Text&gt;&#10;      &lt;/Box&gt;&#10;    &lt;/Box&gt;&#10;&#10;    &lt;Box style={{ width: '810px', height: '528px', gap: 8 }}&gt;&#10;      &lt;Box style={{ height: '68px', flexDirection: 'row', alignItems: 'center', gap: 14, background: '#F7F9FC', border: '1px solid #D6DCE5', borderLeft: '5px solid #1E4FA8', padding: '0px 16px' }}&gt;&#10;        &lt;Box style={{ width: 30, height: 30, background: '#1E4FA8', alignItems: 'center', justifyContent: 'center' }}&gt;&#10;          &lt;Text style={{ fontSize: 17, color: '#FFFFFF', fontWeight: 'bold' }}&gt;1&lt;/Text&gt;&#10;        &lt;/Box&gt;&#10;        &lt;Text style={{ fontSize: 21, color: '#1A2230', lineHeight: 1.45 }}&gt;演示真实操作，拒绝&quot;录好的视频&quot;；数据是演示数据，但流程必须真实走通&lt;/Text&gt;&#10;      &lt;/Box&gt;&#10;&#10;      &lt;Box style={{ height: '68px', flexDirection: 'row', alignItems: 'center', gap: 14, background: '#F7F9FC', border: '1px solid #D6DCE5', borderLeft: '5px solid #1E4FA8', padding: '0px 16px' }}&gt;&#10;        &lt;Box style={{ width: 30, height: 30, background: '#1E4FA8', alignItems: 'center', justifyContent: 'center' }}&gt;&#10;          &lt;Text style={{ fontSize: 17, color: '#FFFFFF', fontWeight: 'bold' }}&gt;2&lt;/Text&gt;&#10;        &lt;/Box&gt;&#10;        &lt;Text style={{ fontSize: 21, color: '#1A2230', lineHeight: 1.45 }}&gt;对照《功能点清单》逐项核验&quot;实现&quot;条目；未实现条目须有合理说明&lt;/Text&gt;&#10;      &lt;/Box&gt;&#10;&#10;      &lt;Box style={{ height: '68px', flexDirection: 'row', alignItems: 'center', gap: 14, background: '#FDECEA', border: '1px solid #D6DCE5', borderLeft: '5px solid #D9534F', padding: '0px 16px' }}&gt;&#10;        &lt;Box style={{ width: 30, height: 30, background: '#D9534F', alignItems: 'center', justifyContent: 'center' }}&gt;&#10;          &lt;Text style={{ fontSize: 17, color: '#FFFFFF', fontWeight: 'bold' }}&gt;3&lt;/Text&gt;&#10;        &lt;/Box&gt;&#10;        &lt;Text style={{ fontSize: 21, color: '#1A2230', lineHeight: 1.45 }}&gt;越权测试：收费员账号调 &lt;span style={{ color: '#D9534F', fontWeight: 'bold' }}&gt;/admin/*&lt;/span&gt; → 必须是 403&lt;/Text&gt;&#10;      &lt;/Box&gt;&#10;&#10;      &lt;Box style={{ height: '68px', flexDirection: 'row', alignItems: 'center', gap: 14, background: '#F7F9FC', border: '1px solid #D6DCE5', borderLeft: '5px solid #1E4FA8', padding: '0px 16px' }}&gt;&#10;        &lt;Box style={{ width: 30, height: 30, background: '#1E4FA8', alignItems: 'center', justifyContent: 'center' }}&gt;&#10;          &lt;Text style={{ fontSize: 17, color: '#FFFFFF', fontWeight: 'bold' }}&gt;4&lt;/Text&gt;&#10;        &lt;/Box&gt;&#10;        &lt;Text style={{ fontSize: 21, color: '#1A2230', lineHeight: 1.45 }}&gt;测试：pytest 现场跑全绿；E2E 脚本现场跑主流程&lt;/Text&gt;&#10;      &lt;/Box&gt;&#10;&#10;      &lt;Box style={{ height: '68px', flexDirection: 'row', alignItems: 'center', gap: 14, background: '#F7F9FC', border: '1px solid #D6DCE5', borderLeft: '5px solid #1E4FA8', padding: '0px 16px' }}&gt;&#10;        &lt;Box style={{ width: 30, height: 30, background: '#1E4FA8', alignItems: 'center', justifyContent: 'center' }}&gt;&#10;          &lt;Text style={{ fontSize: 17, color: '#FFFFFF', fontWeight: 'bold' }}&gt;5&lt;/Text&gt;&#10;        &lt;/Box&gt;&#10;        &lt;Text style={{ fontSize: 21, color: '#1A2230', lineHeight: 1.45 }}&gt;审计日志：刚才演示的&quot;发药&quot;操作，日志里要能查到&lt;/Text&gt;&#10;      &lt;/Box&gt;&#10;&#10;      &lt;Box style={{ height: '68px', flexDirection: 'row', alignItems: 'center', gap: 14, background: '#F7F9FC', border: '1px solid #D6DCE5', borderLeft: '5px solid #1E4FA8', padding: '0px 16px' }}&gt;&#10;        &lt;Box style={{ width: 30, height: 30, background: '#1E4FA8', alignItems: 'center', justifyContent: 'center' }}&gt;&#10;          &lt;Text style={{ fontSize: 17, color: '#FFFFFF', fontWeight: 'bold' }}&gt;6&lt;/Text&gt;&#10;        &lt;/Box&gt;&#10;        &lt;Text style={{ fontSize: 21, color: '#1A2230', lineHeight: 1.45 }}&gt;答辩重点听：AI 协作过程（提示词怎么写的）、人工介入点（改了哪、为什么改）&lt;/Text&gt;&#10;      &lt;/Box&gt;&#10;&#10;      &lt;Box style={{ height: '68px', flexDirection: 'row', alignItems: 'center', gap: 14, background: '#FFF8E1', border: '1px solid #D6DCE5', borderLeft: '5px solid #FFC107', padding: '0px 16px' }}&gt;&#10;        &lt;Box style={{ width: 30, height: 30, background: '#B7860B', alignItems: 'center', justifyContent: 'center' }}&gt;&#10;          &lt;Text style={{ fontSize: 17, color: '#FFFFFF', fontWeight: 'bold' }}&gt;7&lt;/Text&gt;&#10;        &lt;/Box&gt;&#10;        &lt;Text style={{ fontSize: 21, color: '#1A2230', lineHeight: 1.45 }}&gt;加分项：AI 增强功能、PostgreSQL 升级、覆盖率 &lt;span style={{ color: '#B7860B', fontWeight: 'bold' }}&gt;&amp;gt;70%&lt;/span&gt;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8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十大坑复盘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教师验收要点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12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381000" y="914400"/>
            <a:ext cx="3429000" cy="5029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47700" y="1200150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7FA3D6"/>
                </a:solidFill>
                <a:latin typeface="Microsoft YaHei"/>
                <a:ea typeface="Microsoft YaHei"/>
              </a:rPr>
              <a:t>TEACHER CHECKLIST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47700" y="1533525"/>
            <a:ext cx="2895600" cy="1209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教师验收</a:t>
            </a:r>
            <a:endParaRPr/>
          </a:p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要点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647700" y="2876550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47700" y="3733800"/>
            <a:ext cx="28956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七条，逐条过；前六条是底线，第七条是加分。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647700" y="5343525"/>
            <a:ext cx="2895600" cy="952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47700" y="5429250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FAED8"/>
                </a:solidFill>
                <a:latin typeface="Microsoft YaHei"/>
                <a:ea typeface="Microsoft YaHei"/>
              </a:rPr>
              <a:t>依据：第</a:t>
            </a:r>
            <a:r>
              <a:rPr lang="en-US" sz="1500">
                <a:solidFill>
                  <a:srgbClr val="8FAED8"/>
                </a:solidFill>
                <a:latin typeface="Microsoft YaHei"/>
                <a:ea typeface="Microsoft YaHei"/>
              </a:rPr>
              <a:t> 4 </a:t>
            </a:r>
            <a:r>
              <a:rPr lang="zh-CN" sz="1500">
                <a:solidFill>
                  <a:srgbClr val="8FAED8"/>
                </a:solidFill>
                <a:latin typeface="Microsoft YaHei"/>
                <a:ea typeface="Microsoft YaHei"/>
              </a:rPr>
              <a:t>课《功能点清单》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4143375" y="914400"/>
            <a:ext cx="7715250" cy="647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4095750" y="914400"/>
            <a:ext cx="7762875" cy="647700"/>
          </a:xfrm>
          <a:custGeom>
            <a:pathLst>
              <a:path w="815" h="68">
                <a:moveTo>
                  <a:pt x="0" y="0"/>
                </a:moveTo>
                <a:lnTo>
                  <a:pt x="5" y="0"/>
                </a:lnTo>
                <a:lnTo>
                  <a:pt x="5" y="68"/>
                </a:lnTo>
                <a:lnTo>
                  <a:pt x="0" y="6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7" name=""/>
          <p:cNvSpPr/>
          <p:nvPr/>
        </p:nvSpPr>
        <p:spPr>
          <a:xfrm rot="0" flipH="0" flipV="0">
            <a:off x="4295775" y="1095375"/>
            <a:ext cx="285750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391025" y="11430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714875" y="1066800"/>
            <a:ext cx="6581775" cy="3524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演示真实操作，拒绝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录好的视频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；数据是演示数据，但流程必须真实走通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4143375" y="1638300"/>
            <a:ext cx="7715250" cy="647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51" name=""/>
          <p:cNvSpPr/>
          <p:nvPr/>
        </p:nvSpPr>
        <p:spPr>
          <a:xfrm rot="0" flipH="0" flipV="0">
            <a:off x="4095750" y="1638300"/>
            <a:ext cx="7762875" cy="647700"/>
          </a:xfrm>
          <a:custGeom>
            <a:pathLst>
              <a:path w="815" h="68">
                <a:moveTo>
                  <a:pt x="0" y="0"/>
                </a:moveTo>
                <a:lnTo>
                  <a:pt x="5" y="0"/>
                </a:lnTo>
                <a:lnTo>
                  <a:pt x="5" y="68"/>
                </a:lnTo>
                <a:lnTo>
                  <a:pt x="0" y="6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4295775" y="1819275"/>
            <a:ext cx="285750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4391025" y="18669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4714875" y="179070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对照《功能点清单》逐项核验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实现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条目；未实现条目须有合理说明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4143375" y="2362200"/>
            <a:ext cx="7715250" cy="64770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p/>
        </p:txBody>
      </p:sp>
      <p:sp>
        <p:nvSpPr>
          <p:cNvPr id="356" name=""/>
          <p:cNvSpPr/>
          <p:nvPr/>
        </p:nvSpPr>
        <p:spPr>
          <a:xfrm rot="0" flipH="0" flipV="0">
            <a:off x="4095750" y="2362200"/>
            <a:ext cx="7762875" cy="647700"/>
          </a:xfrm>
          <a:custGeom>
            <a:pathLst>
              <a:path w="815" h="68">
                <a:moveTo>
                  <a:pt x="0" y="0"/>
                </a:moveTo>
                <a:lnTo>
                  <a:pt x="5" y="0"/>
                </a:lnTo>
                <a:lnTo>
                  <a:pt x="5" y="68"/>
                </a:lnTo>
                <a:lnTo>
                  <a:pt x="0" y="68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4295775" y="2543175"/>
            <a:ext cx="285750" cy="2857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4391025" y="25908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714875" y="2514600"/>
            <a:ext cx="4514850" cy="3524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越权测试：收费员账号调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/admin/*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必须是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403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4143375" y="3086100"/>
            <a:ext cx="7715250" cy="647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4095750" y="3086100"/>
            <a:ext cx="7762875" cy="647700"/>
          </a:xfrm>
          <a:custGeom>
            <a:pathLst>
              <a:path w="815" h="68">
                <a:moveTo>
                  <a:pt x="0" y="0"/>
                </a:moveTo>
                <a:lnTo>
                  <a:pt x="5" y="0"/>
                </a:lnTo>
                <a:lnTo>
                  <a:pt x="5" y="68"/>
                </a:lnTo>
                <a:lnTo>
                  <a:pt x="0" y="6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2" name=""/>
          <p:cNvSpPr/>
          <p:nvPr/>
        </p:nvSpPr>
        <p:spPr>
          <a:xfrm rot="0" flipH="0" flipV="0">
            <a:off x="4295775" y="3267075"/>
            <a:ext cx="285750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4391025" y="33147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714875" y="3238500"/>
            <a:ext cx="4448175" cy="3524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测试：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pytest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现场跑全绿；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E2E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脚本现场跑主流程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4143375" y="3810000"/>
            <a:ext cx="7715250" cy="647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66" name=""/>
          <p:cNvSpPr/>
          <p:nvPr/>
        </p:nvSpPr>
        <p:spPr>
          <a:xfrm rot="0" flipH="0" flipV="0">
            <a:off x="4095750" y="3810000"/>
            <a:ext cx="7762875" cy="647700"/>
          </a:xfrm>
          <a:custGeom>
            <a:pathLst>
              <a:path w="815" h="68">
                <a:moveTo>
                  <a:pt x="0" y="0"/>
                </a:moveTo>
                <a:lnTo>
                  <a:pt x="5" y="0"/>
                </a:lnTo>
                <a:lnTo>
                  <a:pt x="5" y="68"/>
                </a:lnTo>
                <a:lnTo>
                  <a:pt x="0" y="6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4295775" y="3990975"/>
            <a:ext cx="285750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4391025" y="40386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4714875" y="3962400"/>
            <a:ext cx="4581525" cy="3524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审计日志：刚才演示的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发药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操作，日志里要能查到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4143375" y="4533900"/>
            <a:ext cx="7715250" cy="647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4095750" y="4533900"/>
            <a:ext cx="7762875" cy="647700"/>
          </a:xfrm>
          <a:custGeom>
            <a:pathLst>
              <a:path w="815" h="68">
                <a:moveTo>
                  <a:pt x="0" y="0"/>
                </a:moveTo>
                <a:lnTo>
                  <a:pt x="5" y="0"/>
                </a:lnTo>
                <a:lnTo>
                  <a:pt x="5" y="68"/>
                </a:lnTo>
                <a:lnTo>
                  <a:pt x="0" y="6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4295775" y="4714875"/>
            <a:ext cx="285750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4391025" y="47625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4705350" y="4686300"/>
            <a:ext cx="6953250" cy="3524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答辩重点听：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协作过程（提示词怎么写的）、人工介入点（改了哪、为什么改）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4143375" y="5257800"/>
            <a:ext cx="7715250" cy="64770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4095750" y="5257800"/>
            <a:ext cx="7762875" cy="647700"/>
          </a:xfrm>
          <a:custGeom>
            <a:pathLst>
              <a:path w="815" h="68">
                <a:moveTo>
                  <a:pt x="0" y="0"/>
                </a:moveTo>
                <a:lnTo>
                  <a:pt x="5" y="0"/>
                </a:lnTo>
                <a:lnTo>
                  <a:pt x="5" y="68"/>
                </a:lnTo>
                <a:lnTo>
                  <a:pt x="0" y="68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77" name=""/>
          <p:cNvSpPr/>
          <p:nvPr/>
        </p:nvSpPr>
        <p:spPr>
          <a:xfrm rot="0" flipH="0" flipV="0">
            <a:off x="4295775" y="5438775"/>
            <a:ext cx="285750" cy="285750"/>
          </a:xfrm>
          <a:prstGeom prst="rect">
            <a:avLst/>
          </a:prstGeom>
          <a:solidFill>
            <a:srgbClr val="B7860B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4391025" y="54864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4714875" y="5410200"/>
            <a:ext cx="5067300" cy="3524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加分项：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增强功能、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PostgreSQL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升级、覆盖率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575" b="1">
                <a:solidFill>
                  <a:srgbClr val="B7860B"/>
                </a:solidFill>
                <a:latin typeface="Microsoft YaHei"/>
                <a:ea typeface="Microsoft YaHei"/>
              </a:rPr>
              <a:t>&gt;70%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82" name="" descr="&lt;Slide&#10;  notes={`这十条我按三层给你们归类，这样好记。&#10;&#10;代码层四个：幻觉代码、上下文丢失、越改越乱、数据模型漂移。前三个坑，解法都是同一个——跑一遍再说，小步提交。&#10;&#10;工程层三个：安全裸奔、无限加需求、看不懂自己的代码。&#10;&#10;协作层三个：额度耗尽、把 AI 输出当最终答案、合规缺失。最后这一条最要命，演示数据必须脱敏，身份证号不能真写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十大坑复盘 · 十大坑三层聚类&lt;/Text&gt;&#10;    &lt;Text style={{ fontSize: 16, color: '#C9D9F2' }}&gt;医院信息系统实验 · 第 12 课&lt;/Text&gt;&#10;  &lt;/Box&gt;&#10;&#10;  &lt;Box style={{ width: '1280px', height: '552px', padding: '24px 40px 0px 40px' }}&gt;&#10;    &lt;svg width={1200} height={370} viewBox='0 0 1200 370'&gt;&#10;      &lt;rect x='0' y='8' width='380' height='54' rx='6' fill='#1E4FA8' /&gt;&#10;      &lt;text x='18' y='42' font-size='24' font-weight='bold' fill='#FFFFFF'&gt;代码层&lt;/text&gt;&#10;      &lt;text x='362' y='42' text-anchor='end' font-size='18' fill='#C9D9F2'&gt;4 条 · 写出来的代码&lt;/text&gt;&#10;      &lt;rect x='12' y='78' width='356' height='58' rx='4' fill='#F7F9FC' stroke='#D6DCE5' strokeWidth='1' /&gt;&#10;      &lt;text x='26' y='103' font-size='20' font-weight='bold' fill='#1A2230'&gt;1 幻觉代码&lt;/text&gt;&#10;      &lt;text x='26' y='124' font-size='17' fill='#4A5568'&gt;AI 写了不存在的 API，运行就崩&lt;/text&gt;&#10;      &lt;rect x='12' y='146' width='356' height='58' rx='4' fill='#F7F9FC' stroke='#D6DCE5' strokeWidth='1' /&gt;&#10;      &lt;text x='26' y='171' font-size='20' font-weight='bold' fill='#1A2230'&gt;2 上下文丢失&lt;/text&gt;&#10;      &lt;text x='26' y='192' font-size='17' fill='#4A5568'&gt;项目一大，AI 忘了 AGENTS.md 的约定&lt;/text&gt;&#10;      &lt;rect x='12' y='214' width='356' height='58' rx='4' fill='#F7F9FC' stroke='#D6DCE5' strokeWidth='1' /&gt;&#10;      &lt;text x='26' y='239' font-size='20' font-weight='bold' fill='#1A2230'&gt;3 越改越乱&lt;/text&gt;&#10;      &lt;text x='26' y='260' font-size='17' fill='#4A5568'&gt;同一功能反复重写，没有小步提交&lt;/text&gt;&#10;      &lt;rect x='12' y='282' width='356' height='58' rx='4' fill='#F7F9FC' stroke='#D6DCE5' strokeWidth='1' /&gt;&#10;      &lt;text x='26' y='307' font-size='20' font-weight='bold' fill='#1A2230'&gt;4 数据模型漂移&lt;/text&gt;&#10;      &lt;text x='26' y='328' font-size='17' fill='#4A5568'&gt;前后端字段对不上，接口直接 422&lt;/text&gt;&#10;&#10;      &lt;rect x='410' y='8' width='380' height='54' rx='6' fill='#3D7BD9' /&gt;&#10;      &lt;text x='428' y='42' font-size='24' font-weight='bold' fill='#FFFFFF'&gt;工程层&lt;/text&gt;&#10;      &lt;text x='772' y='42' text-anchor='end' font-size='18' fill='#E8EFF8'&gt;3 条 · 做事的方式&lt;/text&gt;&#10;      &lt;rect x='422' y='78' width='356' height='58' rx='4' fill='#F7F9FC' stroke='#D6DCE5' strokeWidth='1' /&gt;&#10;      &lt;text x='436' y='103' font-size='20' font-weight='bold' fill='#1A2230'&gt;5 安全裸奔&lt;/text&gt;&#10;      &lt;text x='436' y='124' font-size='17' fill='#4A5568'&gt;默认没有认证，是我们第 7 课才补的&lt;/text&gt;&#10;      &lt;rect x='422' y='146' width='356' height='58' rx='4' fill='#F7F9FC' stroke='#D6DCE5' strokeWidth='1' /&gt;&#10;      &lt;text x='436' y='171' font-size='20' font-weight='bold' fill='#1A2230'&gt;6 无限加需求&lt;/text&gt;&#10;      &lt;text x='436' y='192' font-size='17' fill='#4A5568'&gt;提示词越写越长，AI 越改越错&lt;/text&gt;&#10;      &lt;rect x='422' y='214' width='356' height='58' rx='4' fill='#F7F9FC' stroke='#D6DCE5' strokeWidth='1' /&gt;&#10;      &lt;text x='436' y='239' font-size='20' font-weight='bold' fill='#1A2230'&gt;7 看不懂自己的代码&lt;/text&gt;&#10;      &lt;text x='436' y='260' font-size='17' fill='#4A5568'&gt;答辩前最慌的就是这件事&lt;/text&gt;&#10;      &lt;rect x='422' y='286' width='356' height='54' rx='4' fill='#FFF8E1' stroke='#FFC107' strokeWidth='2' /&gt;&#10;      &lt;text x='436' y='318' font-size='19' font-weight='bold' fill='#B7860B'&gt;解法：Git 回滚 + 一次只做一件事&lt;/text&gt;&#10;&#10;      &lt;rect x='820' y='8' width='380' height='54' rx='6' fill='#1E4FA8' /&gt;&#10;      &lt;text x='838' y='42' font-size='24' font-weight='bold' fill='#FFFFFF'&gt;协作层&lt;/text&gt;&#10;      &lt;text x='1182' y='42' text-anchor='end' font-size='18' fill='#C9D9F2'&gt;3 条 · 与 AI 和规则的相处&lt;/text&gt;&#10;      &lt;rect x='832' y='78' width='356' height='58' rx='4' fill='#E8EFF8' stroke='#D6DCE5' strokeWidth='1' /&gt;&#10;      &lt;text x='846' y='103' font-size='20' font-weight='bold' fill='#1A2230'&gt;8 额度耗尽&lt;/text&gt;&#10;      &lt;text x='846' y='124' font-size='17' fill='#4A5568'&gt;有组的免费额度真用完了&lt;/text&gt;&#10;      &lt;rect x='832' y='146' width='356' height='58' rx='4' fill='#E8EFF8' stroke='#D6DCE5' strokeWidth='1' /&gt;&#10;      &lt;text x='846' y='171' font-size='20' font-weight='bold' fill='#1A2230'&gt;9 把 AI 输出当最终答案&lt;/text&gt;&#10;      &lt;text x='846' y='192' font-size='17' fill='#4A5568'&gt;不审查就直接上线&lt;/text&gt;&#10;      &lt;rect x='832' y='214' width='356' height='58' rx='4' fill='#E8EFF8' stroke='#D6DCE5' strokeWidth='1' /&gt;&#10;      &lt;text x='846' y='239' font-size='20' font-weight='bold' fill='#1A2230'&gt;10 合规缺失&lt;/text&gt;&#10;      &lt;text x='846' y='260' font-size='17' fill='#4A5568'&gt;演示数据没脱敏，身份证号真写上去了&lt;/text&gt;&#10;      &lt;rect x='832' y='286' width='356' height='54' rx='4' fill='#FFF8E1' stroke='#FFC107' strokeWidth='2' /&gt;&#10;      &lt;text x='846' y='318' font-size='19' font-weight='bold' fill='#B7860B'&gt;解法：AI 互审 + 人工复核&lt;/text&gt;&#10;    &lt;/svg&gt;&#10;&#10;    &lt;Box style={{ height: '12px' }} /&gt;&#10;&#10;    &lt;Box style={{ height: '140px', flexDirection: 'row', gap: 24 }}&gt;&#10;      &lt;Box style={{ flex: 1, background: '#F7F9FC', border: '1px solid #D6DCE5', borderTop: '4px solid #1E4FA8', padding: '16px 20px', gap: 8 }}&gt;&#10;        &lt;Text style={{ fontSize: 24, color: '#1A2230', fontWeight: 'bold' }}&gt;运行验证是铁律&lt;/Text&gt;&#10;        &lt;Text style={{ fontSize: 20, color: '#4A5568', lineHeight: 1.5 }}&gt;&#10;          AI 给的代码一律&lt;span style={{ fontWeight: 'bold', color: '#1E4FA8' }}&gt;先跑一遍再信&lt;/span&gt;；跑不通的，一行都不许进仓库。&#10;        &lt;/Text&gt;&#10;      &lt;/Box&gt;&#10;      &lt;Box style={{ flex: 1, background: '#F7F9FC', border: '1px solid #D6DCE5', borderTop: '4px solid #3D7BD9', padding: '16px 20px', gap: 8 }}&gt;&#10;        &lt;Text style={{ fontSize: 24, color: '#1A2230', fontWeight: 'bold' }}&gt;Git 回滚，一次一件事&lt;/Text&gt;&#10;        &lt;Text style={{ fontSize: 20, color: '#4A5568', lineHeight: 1.5 }}&gt;&#10;          每次提交只解决&lt;span style={{ fontWeight: 'bold', color: '#1A2230' }}&gt;一个问题&lt;/span&gt;，改崩了就回滚，别在文件里堆十次改动。&#10;        &lt;/Text&gt;&#10;      &lt;/Box&gt;&#10;      &lt;Box style={{ flex: 1, background: '#F7F9FC', border: '1px solid #D6DCE5', borderTop: '4px solid #FFC107', padding: '16px 20px', gap: 8 }}&gt;&#10;        &lt;Text style={{ fontSize: 24, color: '#1A2230', fontWeight: 'bold' }}&gt;AI 互审 + 人工复核&lt;/Text&gt;&#10;        &lt;Text style={{ fontSize: 20, color: '#4A5568', lineHeight: 1.5 }}&gt;&#10;          让另一个模型审一遍，&lt;span style={{ fontWeight: 'bold', color: '#B7860B' }}&gt;最后你自己签字&lt;/span&gt;——AI 是工具，你是签字人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9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781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十大坑复盘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十大坑三层聚类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12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pic>
        <p:nvPicPr>
          <p:cNvPr id="3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914400"/>
            <a:ext cx="11430000" cy="3524250"/>
          </a:xfrm>
          <a:prstGeom prst="rect">
            <a:avLst/>
          </a:prstGeom>
          <a:ln/>
        </p:spPr>
      </p:pic>
      <p:sp>
        <p:nvSpPr>
          <p:cNvPr id="388" name=""/>
          <p:cNvSpPr/>
          <p:nvPr/>
        </p:nvSpPr>
        <p:spPr>
          <a:xfrm rot="0" flipH="0" flipV="0">
            <a:off x="381000" y="4591050"/>
            <a:ext cx="3657600" cy="13811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89" name=""/>
          <p:cNvSpPr/>
          <p:nvPr/>
        </p:nvSpPr>
        <p:spPr>
          <a:xfrm rot="0" flipH="0" flipV="0">
            <a:off x="381000" y="4552950"/>
            <a:ext cx="3657600" cy="1419225"/>
          </a:xfrm>
          <a:custGeom>
            <a:pathLst>
              <a:path w="384" h="149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571500" y="4743450"/>
            <a:ext cx="3276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运行验证是铁律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571500" y="5095875"/>
            <a:ext cx="32766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给的代码一律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先跑一遍再信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；跑不通的，一行都不许进仓库。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4267200" y="4591050"/>
            <a:ext cx="3657600" cy="13811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93" name=""/>
          <p:cNvSpPr/>
          <p:nvPr/>
        </p:nvSpPr>
        <p:spPr>
          <a:xfrm rot="0" flipH="0" flipV="0">
            <a:off x="4267200" y="4552950"/>
            <a:ext cx="3657600" cy="1419225"/>
          </a:xfrm>
          <a:custGeom>
            <a:pathLst>
              <a:path w="384" h="149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4457700" y="4743450"/>
            <a:ext cx="3276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Git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回滚，一次一件事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4457700" y="5095875"/>
            <a:ext cx="32766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每次提交只解决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一个问题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，改崩了就回滚，别在文件里堆十次改动。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8153400" y="4591050"/>
            <a:ext cx="3657600" cy="13811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97" name=""/>
          <p:cNvSpPr/>
          <p:nvPr/>
        </p:nvSpPr>
        <p:spPr>
          <a:xfrm rot="0" flipH="0" flipV="0">
            <a:off x="8153400" y="4552950"/>
            <a:ext cx="3657600" cy="1419225"/>
          </a:xfrm>
          <a:custGeom>
            <a:pathLst>
              <a:path w="384" h="149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8343900" y="4743450"/>
            <a:ext cx="3276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互审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人工复核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8343900" y="5095875"/>
            <a:ext cx="32766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让另一个模型审一遍，</a:t>
            </a:r>
            <a:r>
              <a:rPr lang="zh-CN" sz="1500" b="1">
                <a:solidFill>
                  <a:srgbClr val="B7860B"/>
                </a:solidFill>
                <a:latin typeface="Microsoft YaHei"/>
                <a:ea typeface="Microsoft YaHei"/>
              </a:rPr>
              <a:t>最后你自己签字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——AI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是工具，你是签字人。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7" name="" descr="&lt;Slide&#10;  notes={`复盘我们按这四步走。&#10;&#10;第一步，我念一条坑，你们对照自己踩过哪些，踩过的举手。&#10;&#10;第二步，每组一分钟，说两件事：最大的收获是什么，最大的教训是什么。&#10;&#10;第三步，我把后续的三条路摆给你们看。&#10;&#10;第四步，资源清单在课程资料里，从开源社区开始往上走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十大坑复盘 · 复盘四步&lt;/Text&gt;&#10;    &lt;Text style={{ fontSize: 16, color: '#C9D9F2' }}&gt;医院信息系统实验 · 第 12 课&lt;/Text&gt;&#10;  &lt;/Box&gt;&#10;&#10;  &lt;Box style={{ width: '1280px', height: '552px', padding: '24px 40px 0px 40px' }}&gt;&#10;    &lt;Box style={{ height: '44px', flexDirection: 'row', alignItems: 'center', gap: 14 }}&gt;&#10;      &lt;Box style={{ width: 6, height: 32, background: '#1E4FA8' }} /&gt;&#10;      &lt;Text style={{ fontSize: 36, color: '#1A2230', fontWeight: 'bold' }}&gt;复盘四步&lt;/Text&gt;&#10;      &lt;Text style={{ fontSize: 22, color: '#8B97A8' }}&gt;15 分钟 · 从踩过的坑到下一步&lt;/Text&gt;&#10;    &lt;/Box&gt;&#10;&#10;    &lt;Box style={{ height: '10px' }} /&gt;&#10;&#10;    &lt;svg width={1200} height={160} viewBox='0 0 1200 160'&gt;&#10;      &lt;line x1='150' y1='86' x2='1050' y2='86' stroke='#D6DCE5' strokeWidth='4' /&gt;&#10;      &lt;line x1='150' y1='86' x2='1050' y2='86' stroke='#1E4FA8' strokeWidth='4' opacity='0.35' /&gt;&#10;      &lt;circle cx='150' cy='86' r='28' fill='#1E4FA8' /&gt;&#10;      &lt;circle cx='450' cy='86' r='28' fill='#1E4FA8' /&gt;&#10;      &lt;circle cx='750' cy='86' r='28' fill='#1E4FA8' /&gt;&#10;      &lt;circle cx='1050' cy='86' r='32' fill='#FFC107' /&gt;&#10;      &lt;text x='150' y='87' text-anchor='middle' dominant-baseline='central' font-size='24' font-weight='bold' fill='#FFFFFF'&gt;1&lt;/text&gt;&#10;      &lt;text x='450' y='87' text-anchor='middle' dominant-baseline='central' font-size='24' font-weight='bold' fill='#FFFFFF'&gt;2&lt;/text&gt;&#10;      &lt;text x='750' y='87' text-anchor='middle' dominant-baseline='central' font-size='24' font-weight='bold' fill='#FFFFFF'&gt;3&lt;/text&gt;&#10;      &lt;text x='1050' y='87' text-anchor='middle' dominant-baseline='central' font-size='26' font-weight='bold' fill='#0E3F8C'&gt;4&lt;/text&gt;&#10;      &lt;text x='150' y='46' text-anchor='middle' font-size='26' font-weight='bold' fill='#1A2230'&gt;过十大坑&lt;/text&gt;&#10;      &lt;text x='450' y='46' text-anchor='middle' font-size='26' font-weight='bold' fill='#1A2230'&gt;每组 1 分钟&lt;/text&gt;&#10;      &lt;text x='750' y='46' text-anchor='middle' font-size='26' font-weight='bold' fill='#1A2230'&gt;后续三条路&lt;/text&gt;&#10;      &lt;text x='1050' y='46' text-anchor='middle' font-size='26' font-weight='bold' fill='#1E4FA8'&gt;资源清单&lt;/text&gt;&#10;      &lt;text x='150' y='144' text-anchor='middle' font-size='18' fill='#4A5568'&gt;对照自己踩过哪些&lt;/text&gt;&#10;      &lt;text x='450' y='144' text-anchor='middle' font-size='18' fill='#4A5568'&gt;最大的收获 + 最大的教训&lt;/text&gt;&#10;      &lt;text x='750' y='144' text-anchor='middle' font-size='18' fill='#4A5568'&gt;深了走 / 信息化 / 工程&lt;/text&gt;&#10;      &lt;text x='1050' y='144' text-anchor='middle' font-size='18' fill='#1E4FA8'&gt;从开源社区开始&lt;/text&gt;&#10;    &lt;/svg&gt;&#10;&#10;    &lt;Box style={{ height: '12px' }} /&gt;&#10;&#10;    &lt;Box style={{ height: '252px', gap: 12 }}&gt;&#10;      &lt;Box style={{ height: '120px', flexDirection: 'row', gap: 12 }}&gt;&#10;        &lt;Box style={{ width: '594px', height: '120px', background: '#F7F9FC', border: '1px solid #D6DCE5', borderTop: '4px solid #1E4FA8', padding: '14px 18px', gap: 6 }}&gt;&#10;          &lt;Text style={{ fontSize: 21, color: '#1A2230', fontWeight: 'bold' }}&gt;① 一条条过十大坑&lt;/Text&gt;&#10;          &lt;Text style={{ fontSize: 19, color: '#4A5568', lineHeight: 1.45 }}&gt;我念一条，踩过的举手；踩过不丢人，重复踩才丢人。&lt;/Text&gt;&#10;        &lt;/Box&gt;&#10;        &lt;Box style={{ width: '594px', height: '120px', background: '#F7F9FC', border: '1px solid #D6DCE5', borderTop: '4px solid #3D7BD9', padding: '14px 18px', gap: 6 }}&gt;&#10;          &lt;Text style={{ fontSize: 21, color: '#1A2230', fontWeight: 'bold' }}&gt;② 每组 1 分钟总结&lt;/Text&gt;&#10;          &lt;Text style={{ fontSize: 19, color: '#4A5568', lineHeight: 1.45 }}&gt;最大的收获是什么，最大的教训是什么，各一句话说完。&lt;/Text&gt;&#10;        &lt;/Box&gt;&#10;      &lt;/Box&gt;&#10;      &lt;Box style={{ height: '120px', flexDirection: 'row', gap: 12 }}&gt;&#10;        &lt;Box style={{ width: '594px', height: '120px', background: '#F7F9FC', border: '1px solid #D6DCE5', borderTop: '4px solid #1E4FA8', padding: '14px 18px', gap: 6 }}&gt;&#10;          &lt;Text style={{ fontSize: 21, color: '#1A2230', fontWeight: 'bold' }}&gt;③ 后续三条路&lt;/Text&gt;&#10;          &lt;Text style={{ fontSize: 19, color: '#4A5568', lineHeight: 1.45 }}&gt;往深了走、往医院信息化走、往工程走，各有三个方向。&lt;/Text&gt;&#10;        &lt;/Box&gt;&#10;        &lt;Box style={{ width: '594px', height: '120px', background: '#E8EFF8', border: '1px solid #3D7BD9', borderTop: '4px solid #FFC107', padding: '14px 18px', gap: 6 }}&gt;&#10;          &lt;Text style={{ fontSize: 21, color: '#1A2230', fontWeight: 'bold' }}&gt;④ 资源清单在课程资料里&lt;/Text&gt;&#10;          &lt;Text style={{ fontSize: 19, color: '#4A5568', lineHeight: 1.45 }}&gt;从开源社区开始往上走——你们已经站在门口了。&lt;/Text&gt;&#10;        &lt;/Box&gt;&#10;      &lt;/Box&gt;&#10;    &lt;/Box&gt;&#10;&#10;    &lt;Box style={{ height: '10px' }} /&gt;&#10;&#10;    &lt;Box style={{ height: '40px', background: '#1E4FA8', flexDirection: 'row', alignItems: 'center', padding: '0px 20px', gap: 12 }}&gt;&#10;      &lt;Box style={{ width: 6, height: 6, background: '#FFC107' }} /&gt;&#10;      &lt;Text style={{ fontSize: 20, color: '#FFFFFF' }}&gt;验收看的是结果，复盘看的是成长：这十条，对照自己踩过哪些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0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十大坑复盘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复盘四步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12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381000" y="97155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371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复盘四步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2076450" y="1000125"/>
            <a:ext cx="2790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15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分钟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从踩过的坑到下一步</a:t>
            </a:r>
            <a:endParaRPr/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428750"/>
            <a:ext cx="11430000" cy="1524000"/>
          </a:xfrm>
          <a:prstGeom prst="rect">
            <a:avLst/>
          </a:prstGeom>
          <a:ln/>
        </p:spPr>
      </p:pic>
      <p:sp>
        <p:nvSpPr>
          <p:cNvPr id="26" name=""/>
          <p:cNvSpPr/>
          <p:nvPr/>
        </p:nvSpPr>
        <p:spPr>
          <a:xfrm rot="0" flipH="0" flipV="0">
            <a:off x="381000" y="3105150"/>
            <a:ext cx="5657850" cy="1104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381000" y="3067050"/>
            <a:ext cx="5657850" cy="1143000"/>
          </a:xfrm>
          <a:custGeom>
            <a:pathLst>
              <a:path w="594" h="120">
                <a:moveTo>
                  <a:pt x="0" y="0"/>
                </a:moveTo>
                <a:lnTo>
                  <a:pt x="594" y="0"/>
                </a:lnTo>
                <a:lnTo>
                  <a:pt x="594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52450" y="3238500"/>
            <a:ext cx="5314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一条条过十大坑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52450" y="3543300"/>
            <a:ext cx="53149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我念一条，踩过的举手；踩过不丢人，重复踩才丢人。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153150" y="3105150"/>
            <a:ext cx="5657850" cy="1104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153150" y="3067050"/>
            <a:ext cx="5657850" cy="1143000"/>
          </a:xfrm>
          <a:custGeom>
            <a:pathLst>
              <a:path w="594" h="120">
                <a:moveTo>
                  <a:pt x="0" y="0"/>
                </a:moveTo>
                <a:lnTo>
                  <a:pt x="594" y="0"/>
                </a:lnTo>
                <a:lnTo>
                  <a:pt x="594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324600" y="3238500"/>
            <a:ext cx="5314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②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每组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1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分钟总结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324600" y="3543300"/>
            <a:ext cx="53149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最大的收获是什么，最大的教训是什么，各一句话说完。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381000" y="4362450"/>
            <a:ext cx="5657850" cy="1104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381000" y="4324350"/>
            <a:ext cx="5657850" cy="1143000"/>
          </a:xfrm>
          <a:custGeom>
            <a:pathLst>
              <a:path w="594" h="120">
                <a:moveTo>
                  <a:pt x="0" y="0"/>
                </a:moveTo>
                <a:lnTo>
                  <a:pt x="594" y="0"/>
                </a:lnTo>
                <a:lnTo>
                  <a:pt x="594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52450" y="4495800"/>
            <a:ext cx="5314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③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后续三条路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52450" y="4800600"/>
            <a:ext cx="53149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往深了走、往医院信息化走、往工程走，各有三个方向。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153150" y="4362450"/>
            <a:ext cx="5657850" cy="11049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6153150" y="4324350"/>
            <a:ext cx="5657850" cy="1143000"/>
          </a:xfrm>
          <a:custGeom>
            <a:pathLst>
              <a:path w="594" h="120">
                <a:moveTo>
                  <a:pt x="0" y="0"/>
                </a:moveTo>
                <a:lnTo>
                  <a:pt x="594" y="0"/>
                </a:lnTo>
                <a:lnTo>
                  <a:pt x="594" y="4"/>
                </a:lnTo>
                <a:lnTo>
                  <a:pt x="0" y="4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324600" y="4495800"/>
            <a:ext cx="5314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④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资源清单在课程资料里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324600" y="4800600"/>
            <a:ext cx="53149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从开源社区开始往上走——你们已经站在门口了。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381000" y="5562600"/>
            <a:ext cx="11430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571500" y="5724525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42950" y="5638800"/>
            <a:ext cx="533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验收看的是结果，复盘看的是成长：这十条，对照自己踩过哪些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7" name="" descr="&lt;Slide&#10;  notes={`最后一段，结课。&#10;&#10;验收的分数你们过两天就能看到，但我想让你们记住的不是分数。&#10;&#10;十二周前，你们大多数人没写过一个能跑的系统；今天，你们手上有一个能部署、有安全、有测试、有文档的东西。&#10;&#10;临走前，我把这门课反复强调的三句话再交给你们一次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3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CLOSING&lt;/Text&gt;&#10;        &lt;Text style={{ fontSize: 56, color: '#1A2230', fontWeight: 'bold', lineHeight: 1.25 }}&gt;结课&lt;/Text&gt;&#10;        &lt;Text style={{ fontSize: 26, color: '#4A5568', lineHeight: 1.5 }}&gt;三条路，和三句要带走的话&lt;/Text&gt;&#10;      &lt;/Box&gt;&#10;&#10;      &lt;Box style={{ width: '732px', height: '2px', background: '#D6DCE5' }} /&gt;&#10;&#10;      &lt;Box style={{ width: '732px', background: '#E8EFF8', borderLeft: '5px solid #1E4FA8', padding: '16px 20px' }}&gt;&#10;        &lt;Text style={{ fontSize: 24, color: '#1E4FA8', fontWeight: 'bold', lineHeight: 1.45 }}&gt;工具会过时，判断力不会。&lt;/Text&gt;&#10;      &lt;/Box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每组一分钟：最大的收获 + 最大的教训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优秀项目发到课程公众号，明年新同学会看到你们的名字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后续三条路与资源清单，从开源社区开始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838700" y="1047750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CLOSING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838700" y="1409700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结课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838700" y="2343150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三条路，和三句要带走的话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4838700" y="3057525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4886325" y="3343275"/>
            <a:ext cx="6924675" cy="7048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4838700" y="3343275"/>
            <a:ext cx="6972300" cy="704850"/>
          </a:xfrm>
          <a:custGeom>
            <a:pathLst>
              <a:path w="732" h="74">
                <a:moveTo>
                  <a:pt x="0" y="0"/>
                </a:moveTo>
                <a:lnTo>
                  <a:pt x="5" y="0"/>
                </a:lnTo>
                <a:lnTo>
                  <a:pt x="5" y="74"/>
                </a:lnTo>
                <a:lnTo>
                  <a:pt x="0" y="7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076825" y="3495675"/>
            <a:ext cx="6543675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工具会过时，判断力不会。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838700" y="442912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067300" y="4314825"/>
            <a:ext cx="380047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每组一分钟：最大的收获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最大的教训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4838700" y="4981575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067300" y="4867275"/>
            <a:ext cx="547687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优秀项目发到课程公众号，明年新同学会看到你们的名字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4838700" y="5534025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067300" y="5419725"/>
            <a:ext cx="39433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后续三条路与资源清单，从开源社区开始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4" name="" descr="&lt;Slide&#10;  notes={`这门课我反复强调三句话，今天最后再说一遍，你们带走。&#10;&#10;第一句：AI 负责快，你们负责对。它十分钟能写完的东西，对不对是你的责任。&#10;&#10;第二句：AI 会犯错，你们会验证。它不会主动告诉你哪一步是猜的，跑一遍才知道。&#10;&#10;第三句：工具会过时，判断力不会。今天我们用 OpenCode，明年可能换别的，但你判断一个系统能不能上线的能力，谁也拿不走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结课 · 反复强调的三句话&lt;/Text&gt;&#10;    &lt;Text style={{ fontSize: 16, color: '#C9D9F2' }}&gt;医院信息系统实验 · 第 12 课&lt;/Text&gt;&#10;  &lt;/Box&gt;&#10;&#10;  &lt;Box style={{ width: '1280px', height: '552px', flexDirection: 'row', padding: '24px 40px 0px 40px', gap: 30 }}&gt;&#10;    &lt;Box style={{ width: '760px', height: '528px', gap: 14 }}&gt;&#10;      &lt;Box style={{ height: '44px', flexDirection: 'row', alignItems: 'center', gap: 14 }}&gt;&#10;        &lt;Box style={{ width: 6, height: 32, background: '#1E4FA8' }} /&gt;&#10;        &lt;Text style={{ fontSize: 32, color: '#1A2230', fontWeight: 'bold' }}&gt;这门课反复强调的三句话&lt;/Text&gt;&#10;      &lt;/Box&gt;&#10;&#10;      &lt;Box style={{ height: '138px', background: '#F7F9FC', border: '1px solid #D6DCE5', borderLeft: '6px solid #1E4FA8', padding: '20px 24px', gap: 10 }}&gt;&#10;        &lt;Box style={{ flexDirection: 'row', alignItems: 'center', gap: 12 }}&gt;&#10;          &lt;Box style={{ width: 34, height: 34, background: '#1E4FA8', alignItems: 'center', justifyContent: 'center' }}&gt;&#10;            &lt;Text style={{ fontSize: 18, color: '#FFFFFF', fontWeight: 'bold' }}&gt;1&lt;/Text&gt;&#10;          &lt;/Box&gt;&#10;          &lt;Text style={{ fontSize: 19, color: '#3D7BD9', letterSpacing: 1 }}&gt;SPEED VS CORRECTNESS&lt;/Text&gt;&#10;        &lt;/Box&gt;&#10;        &lt;Text style={{ fontSize: 30, color: '#1A2230', fontWeight: 'bold', lineHeight: 1.35 }}&gt;AI 负责快，你们负责对。&lt;/Text&gt;&#10;        &lt;Text style={{ fontSize: 20, color: '#4A5568', lineHeight: 1.45 }}&gt;它十分钟写完的东西，对不对、能不能上线，是你的责任。&lt;/Text&gt;&#10;      &lt;/Box&gt;&#10;&#10;      &lt;Box style={{ height: '138px', background: '#F7F9FC', border: '1px solid #D6DCE5', borderLeft: '6px solid #3D7BD9', padding: '20px 24px', gap: 10 }}&gt;&#10;        &lt;Box style={{ flexDirection: 'row', alignItems: 'center', gap: 12 }}&gt;&#10;          &lt;Box style={{ width: 34, height: 34, background: '#3D7BD9', alignItems: 'center', justifyContent: 'center' }}&gt;&#10;            &lt;Text style={{ fontSize: 18, color: '#FFFFFF', fontWeight: 'bold' }}&gt;2&lt;/Text&gt;&#10;          &lt;/Box&gt;&#10;          &lt;Text style={{ fontSize: 19, color: '#3D7BD9', letterSpacing: 1 }}&gt;GENERATE VS VERIFY&lt;/Text&gt;&#10;        &lt;/Box&gt;&#10;        &lt;Text style={{ fontSize: 30, color: '#1A2230', fontWeight: 'bold', lineHeight: 1.35 }}&gt;AI 会犯错，你们会验证。&lt;/Text&gt;&#10;        &lt;Text style={{ fontSize: 20, color: '#4A5568', lineHeight: 1.45 }}&gt;它不会主动告诉你哪一步是猜的——跑一遍才知道。&lt;/Text&gt;&#10;      &lt;/Box&gt;&#10;&#10;      &lt;Box style={{ height: '138px', background: '#F7F9FC', border: '1px solid #D6DCE5', borderLeft: '6px solid #FFC107', padding: '20px 24px', gap: 10 }}&gt;&#10;        &lt;Box style={{ flexDirection: 'row', alignItems: 'center', gap: 12 }}&gt;&#10;          &lt;Box style={{ width: 34, height: 34, background: '#B7860B', alignItems: 'center', justifyContent: 'center' }}&gt;&#10;            &lt;Text style={{ fontSize: 18, color: '#FFFFFF', fontWeight: 'bold' }}&gt;3&lt;/Text&gt;&#10;          &lt;/Box&gt;&#10;          &lt;Text style={{ fontSize: 19, color: '#B7860B', letterSpacing: 1 }}&gt;TOOLS VS JUDGEMENT&lt;/Text&gt;&#10;        &lt;/Box&gt;&#10;        &lt;Text style={{ fontSize: 30, color: '#1A2230', fontWeight: 'bold', lineHeight: 1.35 }}&gt;工具会过时，判断力不会。&lt;/Text&gt;&#10;        &lt;Text style={{ fontSize: 20, color: '#4A5568', lineHeight: 1.45 }}&gt;今年用 OpenCode，明年可能换别的，判断力谁也拿不走。&lt;/Text&gt;&#10;      &lt;/Box&gt;&#10;    &lt;/Box&gt;&#10;&#10;    &lt;Box style={{ width: '410px', height: '528px', background: '#E8EFF8', border: '1px solid #D6DCE5', padding: '26px 24px', justifyContent: 'space-between' }}&gt;&#10;      &lt;Box style={{ gap: 12 }}&gt;&#10;        &lt;Text style={{ fontSize: 17, color: '#3D7BD9', letterSpacing: 2 }}&gt;WHAT YOU HAVE NOW&lt;/Text&gt;&#10;        &lt;Text style={{ fontSize: 30, color: '#1A2230', fontWeight: 'bold', lineHeight: 1.3 }}&gt;你们现在拥有的能力，十二周前是没有的&lt;/Text&gt;&#10;        &lt;Box style={{ width: 80, height: 5, background: '#1E4FA8' }} /&gt;&#10;      &lt;/Box&gt;&#10;&#10;      &lt;Box style={{ background: '#FFFFFF', border: '1px solid #D6DCE5', padding: '18px 18px', gap: 8 }}&gt;&#10;        &lt;Text style={{ fontSize: 23, color: '#1E4FA8', fontWeight: 'bold', lineHeight: 1.5 }}&gt;&#10;          把一个想法，变成能部署、有安全、有测试、有文档的系统。&#10;        &lt;/Text&gt;&#10;      &lt;/Box&gt;&#10;&#10;      &lt;Box style={{ gap: 8 }}&gt;&#10;        &lt;Box style={{ height: 1, background: '#B9CEE9' }} /&gt;&#10;        &lt;Text style={{ fontSize: 19, color: '#4A5568', lineHeight: 1.5 }}&gt;这个能力叫&quot;AI 原生开发&quot;，它正在重新定义软件行业。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400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结课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反复强调的三句话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12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381000" y="97155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71500" y="942975"/>
            <a:ext cx="335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这门课反复强调的三句话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438150" y="1466850"/>
            <a:ext cx="7239000" cy="1314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381000" y="1466850"/>
            <a:ext cx="7296150" cy="1314450"/>
          </a:xfrm>
          <a:custGeom>
            <a:pathLst>
              <a:path w="766" h="138">
                <a:moveTo>
                  <a:pt x="0" y="0"/>
                </a:moveTo>
                <a:lnTo>
                  <a:pt x="6" y="0"/>
                </a:lnTo>
                <a:lnTo>
                  <a:pt x="6" y="138"/>
                </a:lnTo>
                <a:lnTo>
                  <a:pt x="0" y="13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666750" y="1657350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71525" y="17145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104900" y="1714500"/>
            <a:ext cx="2362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75">
                <a:solidFill>
                  <a:srgbClr val="3D7BD9"/>
                </a:solidFill>
                <a:latin typeface="Microsoft YaHei"/>
                <a:ea typeface="Microsoft YaHei"/>
              </a:rPr>
              <a:t>SPEED VS CORRECTNESS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66750" y="2076450"/>
            <a:ext cx="6724650" cy="4667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2250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负责快，你们负责对。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66750" y="2638425"/>
            <a:ext cx="672465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它十分钟写完的东西，对不对、能不能上线，是你的责任。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438150" y="2914650"/>
            <a:ext cx="7239000" cy="1314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381000" y="2914650"/>
            <a:ext cx="7296150" cy="1314450"/>
          </a:xfrm>
          <a:custGeom>
            <a:pathLst>
              <a:path w="766" h="138">
                <a:moveTo>
                  <a:pt x="0" y="0"/>
                </a:moveTo>
                <a:lnTo>
                  <a:pt x="6" y="0"/>
                </a:lnTo>
                <a:lnTo>
                  <a:pt x="6" y="138"/>
                </a:lnTo>
                <a:lnTo>
                  <a:pt x="0" y="138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666750" y="3105150"/>
            <a:ext cx="323850" cy="3238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71525" y="31623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104900" y="3162300"/>
            <a:ext cx="2038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75">
                <a:solidFill>
                  <a:srgbClr val="3D7BD9"/>
                </a:solidFill>
                <a:latin typeface="Microsoft YaHei"/>
                <a:ea typeface="Microsoft YaHei"/>
              </a:rPr>
              <a:t>GENERATE VS VERIFY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66750" y="3524250"/>
            <a:ext cx="6724650" cy="4667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2250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会犯错，你们会验证。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66750" y="4086225"/>
            <a:ext cx="672465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它不会主动告诉你哪一步是猜的——跑一遍才知道。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438150" y="4362450"/>
            <a:ext cx="7239000" cy="1314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381000" y="4362450"/>
            <a:ext cx="7296150" cy="1314450"/>
          </a:xfrm>
          <a:custGeom>
            <a:pathLst>
              <a:path w="766" h="138">
                <a:moveTo>
                  <a:pt x="0" y="0"/>
                </a:moveTo>
                <a:lnTo>
                  <a:pt x="6" y="0"/>
                </a:lnTo>
                <a:lnTo>
                  <a:pt x="6" y="138"/>
                </a:lnTo>
                <a:lnTo>
                  <a:pt x="0" y="138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666750" y="4552950"/>
            <a:ext cx="323850" cy="323850"/>
          </a:xfrm>
          <a:prstGeom prst="rect">
            <a:avLst/>
          </a:prstGeom>
          <a:solidFill>
            <a:srgbClr val="B7860B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71525" y="46101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04900" y="4610100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75">
                <a:solidFill>
                  <a:srgbClr val="B7860B"/>
                </a:solidFill>
                <a:latin typeface="Microsoft YaHei"/>
                <a:ea typeface="Microsoft YaHei"/>
              </a:rPr>
              <a:t>TOOLS VS JUDGEMENT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66750" y="4972050"/>
            <a:ext cx="6724650" cy="4667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工具会过时，判断力不会。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66750" y="5534025"/>
            <a:ext cx="672465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今年用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OpenCode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，明年可能换别的，判断力谁也拿不走。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7905750" y="914400"/>
            <a:ext cx="3905250" cy="5029200"/>
          </a:xfrm>
          <a:prstGeom prst="rect">
            <a:avLst/>
          </a:prstGeom>
          <a:solidFill>
            <a:srgbClr val="E8EFF8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134350" y="1162050"/>
            <a:ext cx="3448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3D7BD9"/>
                </a:solidFill>
                <a:latin typeface="Microsoft YaHei"/>
                <a:ea typeface="Microsoft YaHei"/>
              </a:rPr>
              <a:t>WHAT YOU HAVE NOW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134350" y="1476375"/>
            <a:ext cx="3448050" cy="895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你们现在拥有的能力，十二周前是没有的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8134350" y="2486025"/>
            <a:ext cx="7620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8134350" y="3181350"/>
            <a:ext cx="3448050" cy="113347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305800" y="3352800"/>
            <a:ext cx="310515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 b="1">
                <a:solidFill>
                  <a:srgbClr val="1E4FA8"/>
                </a:solidFill>
                <a:latin typeface="Microsoft YaHei"/>
                <a:ea typeface="Microsoft YaHei"/>
              </a:rPr>
              <a:t>把一个想法，变成能部署、有安全、有测试、有文档的系统。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8134350" y="4953000"/>
            <a:ext cx="3448050" cy="9525"/>
          </a:xfrm>
          <a:prstGeom prst="rect">
            <a:avLst/>
          </a:prstGeom>
          <a:solidFill>
            <a:srgbClr val="B9CEE9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134350" y="5038725"/>
            <a:ext cx="34480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这个能力叫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"AI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原生开发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，它正在重新定义软件行业。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2" name="" descr="&lt;Slide&#10;  notes={`你们现在拥有的能力，十二周前是没有的：把一个想法，变成能部署、有安全、有测试、有文档的系统。&#10;&#10;这个能力叫 AI 原生开发，它正在重新定义整个软件行业。&#10;&#10;但在你们走出去之前，我把合规的最后一条再钉一遍：演示数据要脱敏，身份证号不能真写。&#10;&#10;医疗系统里，这一条不是建议，是红线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本课核心主张 · 结课金句&lt;/Text&gt;&#10;    &lt;Text style={{ fontSize: 16, color: '#C9D9F2' }}&gt;医院信息系统实验 · 第 12 课&lt;/Text&gt;&#10;  &lt;/Box&gt;&#10;&#10;  &lt;Box style={{ width: '1280px', height: '552px', padding: '24px 40px 0px 40px' }}&gt;&#10;    &lt;Box style={{ height: '300px', background: '#0E3F8C', padding: '34px 44px', justifyContent: 'space-between' }}&gt;&#10;      &lt;Box style={{ flexDirection: 'row', alignItems: 'center', gap: 16 }}&gt;&#10;        &lt;Box style={{ width: 8, height: 30, background: '#FFC107' }} /&gt;&#10;        &lt;Text style={{ fontSize: 19, color: '#8FAED8', letterSpacing: 2 }}&gt;KEY MESSAGE OF THIS COURSE&lt;/Text&gt;&#10;      &lt;/Box&gt;&#10;&#10;      &lt;Text style={{ fontSize: 76, color: '#FFFFFF', fontWeight: 'bold', lineHeight: 1.18 }}&gt;&#10;        工具会过时，判断力不会。&#10;      &lt;/Text&gt;&#10;&#10;      &lt;Box style={{ flexDirection: 'row', alignItems: 'center', gap: 20 }}&gt;&#10;        &lt;Box style={{ width: 100, height: 5, background: '#FFC107' }} /&gt;&#10;        &lt;Text style={{ fontSize: 24, color: '#C9D9F2' }}&gt;三句话里，这句是要带走最久的一句&lt;/Text&gt;&#10;      &lt;/Box&gt;&#10;    &lt;/Box&gt;&#10;&#10;    &lt;Box style={{ height: '18px' }} /&gt;&#10;&#10;    &lt;Box style={{ height: '210px', flexDirection: 'row', gap: 24 }}&gt;&#10;      &lt;Box style={{ flex: 1, background: '#F7F9FC', border: '1px solid #D6DCE5', borderTop: '4px solid #1E4FA8', padding: '22px 24px', gap: 12 }}&gt;&#10;        &lt;Box style={{ flexDirection: 'row', alignItems: 'center', gap: 10 }}&gt;&#10;          &lt;Box style={{ width: 34, height: 34, background: '#1E4FA8', alignItems: 'center', justifyContent: 'center' }}&gt;&#10;            &lt;Text style={{ fontSize: 18, color: '#FFFFFF', fontWeight: 'bold' }}&gt;1&lt;/Text&gt;&#10;          &lt;/Box&gt;&#10;          &lt;Text style={{ fontSize: 26, color: '#1A2230', fontWeight: 'bold' }}&gt;这个能力有名字&lt;/Text&gt;&#10;        &lt;/Box&gt;&#10;        &lt;Text style={{ fontSize: 21, color: '#4A5568', lineHeight: 1.55 }}&gt;&#10;          它叫&lt;span style={{ fontWeight: 'bold', color: '#1E4FA8' }}&gt;&quot;AI 原生开发&quot;&lt;/span&gt;，正在重新定义软件行业——你们入学时它还不存在，毕业时它是基本功。&#10;        &lt;/Text&gt;&#10;      &lt;/Box&gt;&#10;&#10;      &lt;Box style={{ flex: 1, background: '#FDECEA', border: '1px solid #D6DCE5', borderTop: '4px solid #D9534F', padding: '22px 24px', gap: 12 }}&gt;&#10;        &lt;Box style={{ flexDirection: 'row', alignItems: 'center', gap: 10 }}&gt;&#10;          &lt;Box style={{ width: 34, height: 34, background: '#D9534F', alignItems: 'center', justifyContent: 'center' }}&gt;&#10;            &lt;Text style={{ fontSize: 18, color: '#FFFFFF', fontWeight: 'bold' }}&gt;!&lt;/Text&gt;&#10;          &lt;/Box&gt;&#10;          &lt;Text style={{ fontSize: 26, color: '#1A2230', fontWeight: 'bold' }}&gt;合规最后一条&lt;/Text&gt;&#10;        &lt;/Box&gt;&#10;        &lt;Text style={{ fontSize: 21, color: '#4A5568', lineHeight: 1.55 }}&gt;&#10;          演示数据要脱敏，&lt;span style={{ fontWeight: 'bold', color: '#D9534F' }}&gt;身份证号不能真写&lt;/span&gt;。这不是建议，是这门课的红线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3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105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本课核心主张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结课金句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12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381000" y="914400"/>
            <a:ext cx="11430000" cy="2857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800100" y="1238250"/>
            <a:ext cx="76200" cy="2857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028700" y="1276350"/>
            <a:ext cx="3257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150">
                <a:solidFill>
                  <a:srgbClr val="8FAED8"/>
                </a:solidFill>
                <a:latin typeface="Microsoft YaHei"/>
                <a:ea typeface="Microsoft YaHei"/>
              </a:rPr>
              <a:t>KEY MESSAGE OF THIS COURSE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00100" y="1838325"/>
            <a:ext cx="10591800" cy="10287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工具会过时，判断力不会。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800100" y="3286125"/>
            <a:ext cx="9525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943100" y="3171825"/>
            <a:ext cx="3657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C9D9F2"/>
                </a:solidFill>
                <a:latin typeface="Microsoft YaHei"/>
                <a:ea typeface="Microsoft YaHei"/>
              </a:rPr>
              <a:t>三句话里，这句是要带走最久的一句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381000" y="3981450"/>
            <a:ext cx="56007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381000" y="3943350"/>
            <a:ext cx="5600700" cy="2038350"/>
          </a:xfrm>
          <a:custGeom>
            <a:pathLst>
              <a:path w="588" h="214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609600" y="4191000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14375" y="42481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028700" y="4200525"/>
            <a:ext cx="1733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这个能力有名字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4629150"/>
            <a:ext cx="514350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它叫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"AI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原生开发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，正在重新定义软件行业——你们入学时它还不存在，毕业时它是基本功。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210300" y="3981450"/>
            <a:ext cx="5600700" cy="200025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6210300" y="3943350"/>
            <a:ext cx="5600700" cy="2038350"/>
          </a:xfrm>
          <a:custGeom>
            <a:pathLst>
              <a:path w="588" h="214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6438900" y="4191000"/>
            <a:ext cx="323850" cy="3238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572250" y="4248150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858000" y="4200525"/>
            <a:ext cx="1485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合规最后一条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438900" y="4629150"/>
            <a:ext cx="514350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演示数据要脱敏，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身份证号不能真写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。这不是建议，是这门课的红线。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27" name="" descr="&lt;Slide&#10;  notes={`结课之前，还有三件事。&#10;&#10;第一，每组一分钟总结：最大的收获是什么，最大的教训是什么。&#10;&#10;第二，优秀的我会发到课程公众号，明年这门课的新同学，会看到你们的名字——所以别糊弄最后这一次。&#10;&#10;第三，后续三条路我再说一遍：往深了走，RAG、多智能体、MCP；往医院信息化走，FHIR、互联互通、CDSS；往工程走，微服务、可观测性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结课 · 结课三项&lt;/Text&gt;&#10;    &lt;Text style={{ fontSize: 16, color: '#C9D9F2' }}&gt;医院信息系统实验 · 第 12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结课三项&lt;/Text&gt;&#10;      &lt;Text style={{ fontSize: 22, color: '#8B97A8' }}&gt;一分钟总结 · 优秀项目 · 后续去路&lt;/Text&gt;&#10;    &lt;/Box&gt;&#10;&#10;    &lt;Box style={{ height: '14px' }} /&gt;&#10;&#10;    &lt;svg width={1200} height={130} viewBox='0 0 1200 130'&gt;&#10;      &lt;rect x='200' y='46' width='800' height='8' rx='4' fill='#E5E7EB' /&gt;&#10;      &lt;rect x='200' y='46' width='800' height='8' rx='4' fill='#1E4FA8' opacity='0.25' /&gt;&#10;      &lt;circle cx='200' cy='50' r='30' fill='#1E4FA8' /&gt;&#10;      &lt;text x='200' y='51' text-anchor='middle' dominant-baseline='central' font-size='24' font-weight='bold' fill='#FFFFFF'&gt;1&lt;/text&gt;&#10;      &lt;circle cx='600' cy='50' r='30' fill='#1E4FA8' /&gt;&#10;      &lt;text x='600' y='51' text-anchor='middle' dominant-baseline='central' font-size='24' font-weight='bold' fill='#FFFFFF'&gt;2&lt;/text&gt;&#10;      &lt;circle cx='1000' cy='50' r='34' fill='#FFC107' /&gt;&#10;      &lt;text x='1000' y='51' text-anchor='middle' dominant-baseline='central' font-size='26' font-weight='bold' fill='#0E3F8C'&gt;3&lt;/text&gt;&#10;      &lt;text x='200' y='112' text-anchor='middle' font-size='24' font-weight='bold' fill='#1A2230'&gt;每组 1 分钟总结&lt;/text&gt;&#10;      &lt;text x='600' y='112' text-anchor='middle' font-size='24' font-weight='bold' fill='#1A2230'&gt;优秀项目上公众号&lt;/text&gt;&#10;      &lt;text x='1000' y='112' text-anchor='middle' font-size='24' font-weight='bold' fill='#1E4FA8'&gt;三条路与资源清单&lt;/text&gt;&#10;    &lt;/svg&gt;&#10;&#10;    &lt;Box style={{ height: '16px' }} /&gt;&#10;&#10;    &lt;Box style={{ height: '250px', flexDirection: 'row', gap: 24 }}&gt;&#10;      &lt;Box style={{ flex: 1, background: '#F7F9FC', border: '1px solid #D6DCE5', borderTop: '4px solid #1E4FA8', padding: '20px 22px', gap: 10 }}&gt;&#10;        &lt;Text style={{ fontSize: 26, color: '#1A2230', fontWeight: 'bold' }}&gt;① 每组 1 分钟总结&lt;/Text&gt;&#10;        &lt;Text style={{ fontSize: 21, color: '#4A5568', lineHeight: 1.5 }}&gt;&#10;          说两件事：&lt;span style={{ fontWeight: 'bold', color: '#1E4FA8' }}&gt;最大的收获、最大的教训&lt;/span&gt;，各一句话，别念稿。&#10;        &lt;/Text&gt;&#10;        &lt;Box style={{ background: '#E8EFF8', padding: '8px 12px' }}&gt;&#10;          &lt;Text style={{ fontSize: 19, color: '#1E4FA8' }}&gt;按组号顺序，讲完就过&lt;/Text&gt;&#10;        &lt;/Box&gt;&#10;      &lt;/Box&gt;&#10;&#10;      &lt;Box style={{ flex: 1, background: '#F7F9FC', border: '1px solid #D6DCE5', borderTop: '4px solid #3D7BD9', padding: '20px 22px', gap: 10 }}&gt;&#10;        &lt;Text style={{ fontSize: 26, color: '#1A2230', fontWeight: 'bold' }}&gt;② 优秀项目上公众号&lt;/Text&gt;&#10;        &lt;Text style={{ fontSize: 21, color: '#4A5568', lineHeight: 1.5 }}&gt;&#10;          做得好的我会发到课程公众号，&lt;span style={{ fontWeight: 'bold', color: '#1A2230' }}&gt;明年课程的新同学，会看到你们的名字&lt;/span&gt;。&#10;        &lt;/Text&gt;&#10;        &lt;Box style={{ background: '#E8EFF8', padding: '8px 12px' }}&gt;&#10;          &lt;Text style={{ fontSize: 19, color: '#1E4FA8' }}&gt;演示数据先脱敏再给我&lt;/Text&gt;&#10;        &lt;/Box&gt;&#10;      &lt;/Box&gt;&#10;&#10;      &lt;Box style={{ flex: 1, background: '#E8EFF8', border: '1px solid #3D7BD9', borderTop: '4px solid #FFC107', padding: '20px 22px', gap: 8 }}&gt;&#10;        &lt;Text style={{ fontSize: 26, color: '#1A2230', fontWeight: 'bold' }}&gt;③ 后续三条路&lt;/Text&gt;&#10;        &lt;Text style={{ fontSize: 19, color: '#1A2230', lineHeight: 1.45 }}&gt;往深了走：RAG、多智能体、MCP 工具&lt;/Text&gt;&#10;        &lt;Text style={{ fontSize: 19, color: '#1A2230', lineHeight: 1.45 }}&gt;往医院信息化走：FHIR、互联互通、CDSS&lt;/Text&gt;&#10;        &lt;Text style={{ fontSize: 19, color: '#1A2230', lineHeight: 1.45 }}&gt;往工程走：微服务、可观测性&lt;/Text&gt;&#10;      &lt;/Box&gt;&#10;    &lt;/Box&gt;&#10;&#10;    &lt;Box style={{ height: '12px' }} /&gt;&#10;&#10;    &lt;Box style={{ height: '46px', background: '#1E4FA8', flexDirection: 'row', alignItems: 'center', padding: '0px 20px', gap: 12 }}&gt;&#10;      &lt;Box style={{ width: 6, height: 6, background: '#FFC107' }} /&gt;&#10;      &lt;Text style={{ fontSize: 22, color: '#FFFFFF', fontWeight: 'bold' }}&gt;资源清单在课程资料里，从开源社区开始，你们已经站在门口了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1638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结课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结课三项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12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1371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结课三项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2076450" y="1019175"/>
            <a:ext cx="3076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一分钟总结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优秀项目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后续去路</a:t>
            </a:r>
            <a:endParaRPr/>
          </a:p>
        </p:txBody>
      </p:sp>
      <p:pic>
        <p:nvPicPr>
          <p:cNvPr id="1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238250"/>
          </a:xfrm>
          <a:prstGeom prst="rect">
            <a:avLst/>
          </a:prstGeom>
          <a:ln/>
        </p:spPr>
      </p:pic>
      <p:sp>
        <p:nvSpPr>
          <p:cNvPr id="136" name=""/>
          <p:cNvSpPr/>
          <p:nvPr/>
        </p:nvSpPr>
        <p:spPr>
          <a:xfrm rot="0" flipH="0" flipV="0">
            <a:off x="381000" y="2933700"/>
            <a:ext cx="3657600" cy="2381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381000" y="2895600"/>
            <a:ext cx="3657600" cy="2419350"/>
          </a:xfrm>
          <a:custGeom>
            <a:pathLst>
              <a:path w="384" h="25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90550" y="312420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每组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1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分钟总结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90550" y="3524250"/>
            <a:ext cx="3238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说两件事：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最大的收获、最大的教训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，各一句话，别念稿。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590550" y="4343400"/>
            <a:ext cx="3238500" cy="3714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04850" y="4419600"/>
            <a:ext cx="300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按组号顺序，讲完就过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4267200" y="2933700"/>
            <a:ext cx="3657600" cy="2381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4267200" y="2895600"/>
            <a:ext cx="3657600" cy="2419350"/>
          </a:xfrm>
          <a:custGeom>
            <a:pathLst>
              <a:path w="384" h="25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476750" y="312420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②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优秀项目上公众号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476750" y="3524250"/>
            <a:ext cx="3238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做得好的我会发到课程公众号，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明年课程的新同学，会看到你们的名字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4476750" y="4343400"/>
            <a:ext cx="3238500" cy="3714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591050" y="4419600"/>
            <a:ext cx="300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演示数据先脱敏再给我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8153400" y="2933700"/>
            <a:ext cx="3657600" cy="23812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8153400" y="2895600"/>
            <a:ext cx="3657600" cy="2419350"/>
          </a:xfrm>
          <a:custGeom>
            <a:pathLst>
              <a:path w="384" h="25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362950" y="312420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③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后续三条路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362950" y="3505200"/>
            <a:ext cx="323850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往深了走：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RAG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、多智能体、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MCP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362950" y="3905250"/>
            <a:ext cx="32385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往医院信息化走：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FHIR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、互联互通、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CDSS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362950" y="4619625"/>
            <a:ext cx="323850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往工程走：微服务、可观测性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381000" y="5391150"/>
            <a:ext cx="11430000" cy="438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571500" y="558165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42950" y="5486400"/>
            <a:ext cx="5867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资源清单在课程资料里，从开源社区开始，你们已经站在门口了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59" name="" descr="&lt;Slide&#10;  notes={`下课，感谢大家十二周的坚持。&#10;&#10;这十二周，你们从&quot;AI 能写代码吗&quot;走到今天，手上多了一个能部署、有安全、有测试、有文档的系统，这是十二周前你们没有的东西。&#10;&#10;后面怎么走，三条路都在课程资料里，从开源社区开始，你们已经站在门口了。&#10;&#10;祝你们顺利，下课。`}&#10;  style={{ width: '1280px', height: '720px', background: '#0E3F8C', padding: '0px', position: 'relative' }}&#10;&gt;&#10;  &lt;svg width={640} height={720} viewBox='0 0 640 720' style={{ position: 'absolute', top: 0, right: 0 }}&gt;&#10;    &lt;path d='M0 720 L640 720 L640 220 Z' fill='#1E4FA8' opacity='0.5' /&gt;&#10;    &lt;circle cx='520' cy='180' r='130' fill='#1E4FA8' opacity='0.45' /&gt;&#10;    &lt;circle cx='520' cy='180' r='70' fill='#FFC107' opacity='0.35' /&gt;&#10;    &lt;rect x='330' y='560' width='240' height='8' rx='4' fill='#FFFFFF' opacity='0.15' /&gt;&#10;    &lt;rect x='330' y='590' width='170' height='8' rx='4' fill='#FFFFFF' opacity='0.12' /&gt;&#10;    &lt;rect x='330' y='620' width='280' height='8' rx='4' fill='#FFFFFF' opacity='0.15' /&gt;&#10;  &lt;/svg&gt;&#10;&#10;  &lt;Box style={{ width: '1280px', height: '720px', padding: '76px 40px 64px 64px', justifyContent: 'space-between', position: 'relative', zIndex: 2 }}&gt;&#10;    &lt;Box style={{ gap: 16 }}&gt;&#10;      &lt;Box style={{ flexDirection: 'row', alignItems: 'center', gap: 14 }}&gt;&#10;        &lt;Box style={{ width: 6, height: 26, background: '#FFC107' }} /&gt;&#10;        &lt;Text style={{ fontSize: 20, color: '#C9D9F2' }}&gt;第 12 课 · 结课&lt;/Text&gt;&#10;      &lt;/Box&gt;&#10;      &lt;Text style={{ fontSize: 56, color: '#FFFFFF', fontWeight: 'bold', lineHeight: 1.3 }}&gt;下课，&lt;br /&gt;感谢大家十二周的坚持。&lt;/Text&gt;&#10;    &lt;/Box&gt;&#10;&#10;    &lt;Box style={{ width: '560px', gap: 14 }}&gt;&#10;      &lt;Box style={{ height: 2, background: '#3D7BD9' }} /&gt;&#10;      &lt;Text style={{ fontSize: 26, color: '#C9D9F2', lineHeight: 1.5 }}&gt;课程与学期&lt;/Text&gt;&#10;      &lt;Text style={{ fontSize: 34, color: '#FFFFFF', fontWeight: 'bold', lineHeight: 1.3 }}&gt;湖南中医药大学 · 医院信息系统实验&lt;/Text&gt;&#10;      &lt;Text style={{ fontSize: 22, color: '#8FAED8', lineHeight: 1.5 }}&gt;2026 年秋季学期 · 全 12 课完结&lt;/Text&gt;&#10;    &lt;/Box&gt;&#10;&#10;    &lt;Box style={{ flexDirection: 'row', alignItems: 'center', gap: 20 }}&gt;&#10;      &lt;Text style={{ fontSize: 18, color: '#8FAED8' }}&gt;湖南中医药大学&lt;/Text&gt;&#10;      &lt;Box style={{ width: 1, height: 20, background: '#4A6FA8' }} /&gt;&#10;      &lt;Text style={{ fontSize: 18, color: '#8FAED8' }}&gt;医院信息系统实验&lt;/Text&gt;&#10;      &lt;Box style={{ width: 1, height: 20, background: '#4A6FA8' }} /&gt;&#10;      &lt;Text style={{ fontSize: 18, color: '#8FAED8' }}&gt;主讲教师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1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0" y="0"/>
            <a:ext cx="6096000" cy="6858000"/>
          </a:xfrm>
          <a:prstGeom prst="rect">
            <a:avLst/>
          </a:prstGeom>
          <a:ln/>
        </p:spPr>
      </p:pic>
      <p:sp>
        <p:nvSpPr>
          <p:cNvPr id="162" name=""/>
          <p:cNvSpPr/>
          <p:nvPr/>
        </p:nvSpPr>
        <p:spPr>
          <a:xfrm rot="0" flipH="0" flipV="0">
            <a:off x="609600" y="723900"/>
            <a:ext cx="57150" cy="2476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00100" y="733425"/>
            <a:ext cx="1257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12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结课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09600" y="1123950"/>
            <a:ext cx="11201400" cy="1666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下课，</a:t>
            </a:r>
            <a:endParaRPr/>
          </a:p>
          <a:p>
            <a:pPr>
              <a:lnSpc>
                <a:spcPct val="13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感谢大家十二周的坚持。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09600" y="3533775"/>
            <a:ext cx="53340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09600" y="3686175"/>
            <a:ext cx="53340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C9D9F2"/>
                </a:solidFill>
                <a:latin typeface="Microsoft YaHei"/>
                <a:ea typeface="Microsoft YaHei"/>
              </a:rPr>
              <a:t>课程与学期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09600" y="4267200"/>
            <a:ext cx="5334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09600" y="4914900"/>
            <a:ext cx="5334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8FAED8"/>
                </a:solidFill>
                <a:latin typeface="Microsoft YaHei"/>
                <a:ea typeface="Microsoft YaHei"/>
              </a:rPr>
              <a:t>2026 </a:t>
            </a: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年秋季学期</a:t>
            </a:r>
            <a:r>
              <a:rPr lang="en-US" sz="1650">
                <a:solidFill>
                  <a:srgbClr val="8FAED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全</a:t>
            </a:r>
            <a:r>
              <a:rPr lang="en-US" sz="1650">
                <a:solidFill>
                  <a:srgbClr val="8FAED8"/>
                </a:solidFill>
                <a:latin typeface="Microsoft YaHei"/>
                <a:ea typeface="Microsoft YaHei"/>
              </a:rPr>
              <a:t> 12 </a:t>
            </a: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课完结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湖南中医药大学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2000250" y="60483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2200275" y="60388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3762375" y="60483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3962400" y="60388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主讲教师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2026-09-07T00:28:30Z</dcterms:created>
  <dcterms:modified xsi:type="dcterms:W3CDTF">2026-09-07T00:28:30Z</dcterms:modified>
</cp:coreProperties>
</file>
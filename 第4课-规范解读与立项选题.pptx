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10.svg" ContentType="image/svg+xml"/>
  <Override PartName="/ppt/slides/media/image11.svg" ContentType="image/svg+xml"/>
  <Override PartName="/ppt/slides/media/image12.svg" ContentType="image/svg+xml"/>
  <Override PartName="/ppt/slides/media/image13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tableStyles" Target="tableStyles.xml"/><Relationship Id="rId19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同学们好。前三周你们练的是&amp;quot;器&amp;quot;——工具和方法。从今天起，进入&amp;quot;术&amp;quot;和&amp;quot;道&amp;quot;：我们要做真正有业务内涵的系统。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今天干三件事。第一，认识这门课最重要的参考书——官方《医院信息系统基本功能规范》。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第二，学会从规范里提取功能点，变成 AI 能干的活。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第三，分组立项，确定你们组接下来八周要造的东西。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先问一个问题：你们去医院看过病吧？挂号、看诊、开药、缴费、取药，这套流程你们熟。但你们可能没想过，这背后不只是一套软件，而是一整套按国家规范建设的系统群。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今天九十分钟的安排是这样的：规范讲授二十分钟，功能点提取演示十五分钟，立项规则十五分钟，然后你们实操三十分钟，最后十分钟各组汇报选题。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三章内容。第一章讲规范和 HIS 全景，带你们认识这份&amp;quot;设计总纲&amp;quot;。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第二章讲功能点提取和数据建模，这是这门课最重要的转化能力。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第三章讲立项规则和作业，下课之前你们要把组员名单和选题报给我。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先认识这份规范：《医院信息系统基本功能规范》，卫生部 2002 年发布，文号是卫办发〔2002〕116 号，试行。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它把医院信息系统划分成二十多个功能分系统，每个分系统下面，规范都列了具体的功能点条目：这个系统必须能干什么、数据怎么管、流程怎么走。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这份规范的意义在于，它是国内 HIS 招标、建设、验收的事实标准。今天起，它就是你们项目的&amp;quot;需求规格说明书&amp;quot;。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来，我们现场角色扮演。我演患者，你们演系统里的角色：我挂号，看医生，医生开药，我去缴费，我去取药。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注意每一步，系统要记录什么、要校验什么。挂号时要检查号源，开方时要选药品，收费时要算金额，发药时要扣库存。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这就是业务闭环，也是你们项目的验收主线。你们接下来八周做的东西，最后就是按这条线一条一条往上验收的。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这份规范的意义在哪？它是国内 HIS 招标、建设、验收的事实标准。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你们将来进医院信息科、进 HIS 厂商，第一件事就是读它。今天起，它也是你们项目的需求规格说明书。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那你们做什么？从分系统里选题，实现其中一部分功能。不是造一个完整 HIS，而是按规范实现一个真实分系统的部分功能。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现在讲这门课最重要的转化能力：把规范条文变成 AI 能干的活。四步法。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第一步，读规范，提取功能点。比如挂号分系统，规范要求：号源管理、现场挂号、退号、排队查询、挂号统计。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第二步，功能点转用户故事：作为挂号员，我希望维护医生排班与号源，以便控制当日可挂数量。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第三步，用户故事转验收标准：挂号成功后号源减一、生成排队号；号源不足被拦截。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第四步，验收标准进提示词。把用户故事和验收标准写进给 AI 的提示词，它产出的代码就能验收。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数据建模这一章，你们要记住三件事：十个核心实体，一条关系主线，还有扣号源与扣库存必须走事务。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数据模型我以 A 路线为例讲。你们拿笔记一下，等会儿让 AI 生成建表 SQL 的时候，这份清单就是你们逐表审查的对照表。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核心实体你们拿笔记一下：患者、科室、医生、排班号源、挂号单、处方、处方明细、药品、药品库存、收费单，一共十个。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特别注意排班号源，它的总量、剩余量、时段，就是挂号的&amp;quot;库存&amp;quot;，这个比喻你们记住。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等会儿我会把数据模型提示词发给 AI，让它生成建表 SQL。你们拿这份清单逐表对照，看它漏了什么——这就是人工审查。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关系一句话总结：患者到挂号单，到处方，到处方明细，到药品；收费单挂在处方上，库存挂在药品上。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扣号源、扣库存这两件事，必须放在事务里——要么成功要么回滚，绝不能出现&amp;quot;号挂了库存没扣&amp;quot;。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还有一句提醒：AI 大概率会漏掉效期、状态这类字段，这是你们人工审查的重点。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现在宣布立项规则。分组：两到三人一组，自由组队，下课前把组员名单报给我。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选题从规范分系统里选，三条推荐路线。A 门诊线，挂号加门诊医生工作站子集加划价收费加门诊药房，闭环是挂号、就诊、开方、收费、发药。B 住院线，闭环是入院、医嘱、记账、出院结算、摆药。C 管理统计线，适合叠加在 A 或 B 上。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规矩三条：分系统组合不超过三个；至少含一个闭环主线分系统；每个分系统只做部分功能，标注实现或不实现及理由。选题需我确认。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最后一章，我把立项要做的事和今天要交的作业一次说清。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四件事：组内选题、提取功能点、组内分工建仓库、把功能点清单交给 AI。三项作业下周交。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记住一句话：选题先找我确认，别自己闷头做。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我把几个高频问题一次答掉。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规范是 2002 年的，会不会太老？它确实老，但至今仍是 HIS 招标和建设的事实标准，2018 年国家卫健委又出了《全国医院信息化建设标准与规范》做宏观补充。读规范练的是&amp;quot;从标准条文到软件需求&amp;quot;的能力，这个能力不过时。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身份证号存明文可以吗？不行。演示数据用脱敏格式，真实项目里身份证要加密存储。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AI 生成的建表 SQL 我不敢改，怕改错？记住：AI 是给你打工的，不是你的上司。看不懂的表就让它解释，解释不清就让它重写。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我们组想加在线支付？MVP 不加，先把闭环跑通，这是验收底线。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我要特别强调一点：麻雀虽小，五脏俱全。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你们不是造一个完整 HIS，但你们的系统必须有用户权限，有核心业务逻辑——号源、库存、费用，有数据一致性要求——扣号源、扣库存、结算必须不出错，还有合规要求——患者信息脱敏。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少一样，它就不是医疗系统，只是一个玩具页面。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作业三项。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第一，《功能点清单》——从规范摘出所选分系统的功能条目，标注实现或不实现及理由，这是下周开发的施工图。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第二，ER 图加项目骨架仓库链接，下节课开始就是团队作战，Git 提交记录我会每周看。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第三，每组写一页《项目范围说明书》，写清目标、功能点清单、非功能要求——性能、安全、数据，这个文档第 12 课答辩要用。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今天就到这里。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下课前两件事必须办：组员名单报给我，选题找我确认过再动手。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下节课我们进入第 5 课，核心模块开发——对话式迭代实战。到时候你们会真正体会到，&amp;quot;一次只让 AI 做一件可验证的事&amp;quot;这句话有多重要。下课。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8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Relationship Id="rId2" Type="http://schemas.openxmlformats.org/officeDocument/2006/relationships/image" Target="media/image10.svg"/><Relationship Id="rId3" Type="http://schemas.openxmlformats.org/officeDocument/2006/relationships/image" Target="media/image11.svg"/><Relationship Id="rId4" Type="http://schemas.openxmlformats.org/officeDocument/2006/relationships/image" Target="media/image12.sv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3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2" Type="http://schemas.openxmlformats.org/officeDocument/2006/relationships/image" Target="media/image4.svg"/><Relationship Id="rId3" Type="http://schemas.openxmlformats.org/officeDocument/2006/relationships/image" Target="media/image5.sv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7.svg"/><Relationship Id="rId3" Type="http://schemas.openxmlformats.org/officeDocument/2006/relationships/notesSlide" Target="../notesSlides/notesSlide15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&#10;  notes={`同学们好。前三周你们练的是&quot;器&quot;——工具和方法。从今天起，进入&quot;术&quot;和&quot;道&quot;：我们要做真正有业务内涵的系统。&#10;&#10;今天干三件事。第一，认识这门课最重要的参考书——官方《医院信息系统基本功能规范》。&#10;&#10;第二，学会从规范里提取功能点，变成 AI 能干的活。&#10;&#10;第三，分组立项，确定你们组接下来八周要造的东西。&#10;&#10;先问一个问题：你们去医院看过病吧？挂号、看诊、开药、缴费、取药，这套流程你们熟。但你们可能没想过，这背后不只是一套软件，而是一整套按国家规范建设的系统群。`}&#10;  style={{ width: '1280px', height: '720px', background: '#0E3F8C', padding: '0px', position: 'relative' }}&#10;&gt;&#10;  &lt;svg width={560} height={720} viewBox='0 0 560 720' style={{ position: 'absolute', top: 0, right: 0 }}&gt;&#10;    &lt;rect x='0' y='0' width='560' height='720' fill='#0E3F8C' /&gt;&#10;    &lt;path d='M130 0 L560 0 L560 720 L310 720 Z' fill='#1E4FA8' opacity='0.55' /&gt;&#10;    &lt;rect x='316' y='132' width='198' height='262' rx='8' fill='#FFFFFF' opacity='0.10' /&gt;&#10;    &lt;rect x='316' y='132' width='198' height='7' rx='3' fill='#FFC107' opacity='0.65' /&gt;&#10;    &lt;rect x='342' y='168' width='110' height='9' rx='4' fill='#FFFFFF' opacity='0.40' /&gt;&#10;    &lt;rect x='342' y='202' width='146' height='7' rx='3' fill='#FFFFFF' opacity='0.20' /&gt;&#10;    &lt;rect x='364' y='236' width='122' height='7' rx='3' fill='#FFFFFF' opacity='0.17' /&gt;&#10;    &lt;rect x='364' y='262' width='96' height='7' rx='3' fill='#FFFFFF' opacity='0.17' /&gt;&#10;    &lt;rect x='364' y='288' width='132' height='7' rx='3' fill='#FFC107' opacity='0.45' /&gt;&#10;    &lt;rect x='364' y='314' width='86' height='7' rx='3' fill='#FFFFFF' opacity='0.17' /&gt;&#10;    &lt;rect x='342' y='348' width='150' height='7' rx='3' fill='#FFFFFF' opacity='0.20' /&gt;&#10;    &lt;rect x='364' y='474' width='140' height='7' rx='3' fill='#FFFFFF' opacity='0.13' /&gt;&#10;    &lt;rect x='364' y='500' width='104' height='7' rx='3' fill='#FFFFFF' opacity='0.13' /&gt;&#10;    &lt;circle cx='482' cy='592' r='66' fill='#1E4FA8' opacity='0.5' /&gt;&#10;    &lt;circle cx='482' cy='592' r='32' fill='#FFC107' opacity='0.5' /&gt;&#10;  &lt;/svg&gt;&#10;&#10;  &lt;Box style={{ width: '1280px', height: '720px', padding: '64px 40px 56px 64px', justifyContent: 'space-between', position: 'relative', zIndex: 2 }}&gt;&#10;    &lt;Box style={{ flexDirection: 'row', alignItems: 'center', gap: 16 }}&gt;&#10;      &lt;Box style={{ width: 6, height: 26, background: '#FFC107' }} /&gt;&#10;      &lt;Text style={{ fontSize: 20, color: '#C9D9F2', fontWeight: 'bold' }}&gt;医院信息系统实验 · AI 智能体与 Vibe Coding 开发实践&lt;/Text&gt;&#10;    &lt;/Box&gt;&#10;&#10;    &lt;Box style={{ gap: 22 }}&gt;&#10;      &lt;Box style={{ flexDirection: 'row', alignItems: 'center', gap: 14 }}&gt;&#10;        &lt;Box style={{ background: '#FFC107', padding: '6px 16px', borderRadius: 4 }}&gt;&#10;          &lt;Text style={{ fontSize: 22, color: '#0E3F8C', fontWeight: 'bold' }}&gt;第 4 课&lt;/Text&gt;&#10;        &lt;/Box&gt;&#10;        &lt;Text style={{ fontSize: 22, color: '#9FBEE6' }}&gt;Specification &amp;amp; Kickoff&lt;/Text&gt;&#10;      &lt;/Box&gt;&#10;      &lt;Text style={{ fontSize: 62, color: '#FFFFFF', fontWeight: 'bold', lineHeight: 1.2 }}&gt;规范解读与立项选题&lt;/Text&gt;&#10;      &lt;Text style={{ fontSize: 30, color: '#C9D9F2', lineHeight: 1.4 }}&gt;从规范条文到可验收的功能点&lt;/Text&gt;&#10;      &lt;Box style={{ width: 96, height: 5, background: '#FFC107' }} /&gt;&#10;    &lt;/Box&gt;&#10;&#10;    &lt;Box style={{ flexDirection: 'row', alignItems: 'center', gap: 20 }}&gt;&#10;      &lt;Text style={{ fontSize: 18, color: '#8FAED8' }}&gt;湖南中医药大学&lt;/Text&gt;&#10;      &lt;Box style={{ width: 1, height: 20, background: '#4A6FA8' }} /&gt;&#10;      &lt;Text style={{ fontSize: 18, color: '#8FAED8' }}&gt;主讲教师&lt;/Text&gt;&#10;      &lt;Box style={{ width: 1, height: 20, background: '#4A6FA8' }} /&gt;&#10;      &lt;Text style={{ fontSize: 18, color: '#8FAED8' }}&gt;2026 年秋季学期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0" y="0"/>
            <a:ext cx="5334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609600" y="609600"/>
            <a:ext cx="57150" cy="2476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19150" y="619125"/>
            <a:ext cx="4800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500" b="1">
                <a:solidFill>
                  <a:srgbClr val="C9D9F2"/>
                </a:solidFill>
                <a:latin typeface="Microsoft YaHei"/>
                <a:ea typeface="Microsoft YaHei"/>
              </a:rPr>
              <a:t> · AI </a:t>
            </a: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智能体与</a:t>
            </a:r>
            <a:r>
              <a:rPr lang="en-US" sz="1500" b="1">
                <a:solidFill>
                  <a:srgbClr val="C9D9F2"/>
                </a:solidFill>
                <a:latin typeface="Microsoft YaHei"/>
                <a:ea typeface="Microsoft YaHei"/>
              </a:rPr>
              <a:t> Vibe Coding </a:t>
            </a: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开发实践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2295525"/>
            <a:ext cx="981075" cy="371475"/>
          </a:xfrm>
          <a:prstGeom prst="roundRect">
            <a:avLst>
              <a:gd name="adj" fmla="val 10256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2352675"/>
            <a:ext cx="676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第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 4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724025" y="2352675"/>
            <a:ext cx="2266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9FBEE6"/>
                </a:solidFill>
                <a:latin typeface="Microsoft YaHei"/>
                <a:ea typeface="Microsoft YaHei"/>
              </a:rPr>
              <a:t>Specification &amp; Kickoff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2876550"/>
            <a:ext cx="11201400" cy="8572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650" b="1">
                <a:solidFill>
                  <a:srgbClr val="FFFFFF"/>
                </a:solidFill>
                <a:latin typeface="Microsoft YaHei"/>
                <a:ea typeface="Microsoft YaHei"/>
              </a:rPr>
              <a:t>规范解读与立项选题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3943350"/>
            <a:ext cx="1120140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>
                <a:solidFill>
                  <a:srgbClr val="C9D9F2"/>
                </a:solidFill>
                <a:latin typeface="Microsoft YaHei"/>
                <a:ea typeface="Microsoft YaHei"/>
              </a:rPr>
              <a:t>从规范条文到可验收的功能点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609600" y="4638675"/>
            <a:ext cx="9144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湖南中医药大学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2000250" y="61245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200275" y="61150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主讲教师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3076575" y="61245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276600" y="6115050"/>
            <a:ext cx="1314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FAED8"/>
                </a:solidFill>
                <a:latin typeface="Microsoft YaHei"/>
                <a:ea typeface="Microsoft YaHei"/>
              </a:rPr>
              <a:t>2026 </a:t>
            </a: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年秋季学期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91" name="" descr="&lt;Slide&#10;  notes={`今天九十分钟的安排是这样的：规范讲授二十分钟，功能点提取演示十五分钟，立项规则十五分钟，然后你们实操三十分钟，最后十分钟各组汇报选题。&#10;&#10;三章内容。第一章讲规范和 HIS 全景，带你们认识这份&quot;设计总纲&quot;。&#10;&#10;第二章讲功能点提取和数据建模，这是这门课最重要的转化能力。&#10;&#10;第三章讲立项规则和作业，下课之前你们要把组员名单和选题报给我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第 4 课 · 目录&lt;/Text&gt;&#10;    &lt;Text style={{ fontSize: 16, color: '#C9D9F2' }}&gt;医院信息系统实验 · 第 4 课&lt;/Text&gt;&#10;  &lt;/Box&gt;&#10;&#10;  &lt;Box style={{ width: '1280px', height: '552px', flexDirection: 'row', padding: '24px 40px 0px 40px', gap: 24 }}&gt;&#10;    &lt;Box style={{ width: '360px', height: '528px', background: '#0E3F8C', padding: '30px 28px', justifyContent: 'space-between' }}&gt;&#10;      &lt;Box style={{ gap: 14 }}&gt;&#10;        &lt;Text style={{ fontSize: 17, color: '#7FA3D6', letterSpacing: 2 }}&gt;CONTENTS&lt;/Text&gt;&#10;        &lt;Text style={{ fontSize: 44, color: '#FFFFFF', fontWeight: 'bold', lineHeight: 1.2 }}&gt;目录&lt;/Text&gt;&#10;        &lt;Text style={{ fontSize: 28, color: '#FFC107', fontWeight: 'bold', letterSpacing: 1 }}&gt;90 分钟&lt;/Text&gt;&#10;        &lt;Box style={{ width: 80, height: 5, background: '#FFC107' }} /&gt;&#10;      &lt;/Box&gt;&#10;&#10;      &lt;Box style={{ gap: 10 }}&gt;&#10;        &lt;Text style={{ fontSize: 22, color: '#C9D9F2', lineHeight: 1.5 }}&gt;&#10;          规范讲授 &lt;span style={{ color: '#FFFFFF', fontWeight: 'bold' }}&gt;20'&lt;/span&gt; · 演示 &lt;span style={{ color: '#FFFFFF', fontWeight: 'bold' }}&gt;15'&lt;/span&gt;&#10;        &lt;/Text&gt;&#10;        &lt;Text style={{ fontSize: 22, color: '#C9D9F2', lineHeight: 1.5 }}&gt;&#10;          立项 &lt;span style={{ color: '#FFFFFF', fontWeight: 'bold' }}&gt;15'&lt;/span&gt; · 实操 &lt;span style={{ color: '#FFFFFF', fontWeight: 'bold' }}&gt;30'&lt;/span&gt; · 汇报 &lt;span style={{ color: '#FFFFFF', fontWeight: 'bold' }}&gt;10'&lt;/span&gt;&#10;        &lt;/Text&gt;&#10;      &lt;/Box&gt;&#10;&#10;      &lt;Box style={{ gap: 8 }}&gt;&#10;        &lt;Box style={{ height: 1, background: '#3D7BD9' }} /&gt;&#10;        &lt;Text style={{ fontSize: 20, color: '#8FAED8', lineHeight: 1.5 }}&gt;三章讲完，再分组动手&lt;/Text&gt;&#10;      &lt;/Box&gt;&#10;    &lt;/Box&gt;&#10;&#10;    &lt;Box style={{ width: '816px', height: '528px', gap: 12 }}&gt;&#10;      &lt;Box style={{ height: '168px', background: '#F7F9FC', border: '1px solid #D6DCE5', borderLeft: '6px solid #1E4FA8', padding: '20px 26px', gap: 10 }}&gt;&#10;        &lt;Box style={{ flexDirection: 'row', alignItems: 'center', gap: 16 }}&gt;&#10;          &lt;Box style={{ width: 56, height: 56, background: '#1E4FA8', alignItems: 'center', justifyContent: 'center' }}&gt;&#10;            &lt;Text style={{ fontSize: 26, color: '#FFFFFF', fontWeight: 'bold' }}&gt;01&lt;/Text&gt;&#10;          &lt;/Box&gt;&#10;          &lt;Box style={{ gap: 2 }}&gt;&#10;            &lt;Text style={{ fontSize: 32, color: '#1A2230', fontWeight: 'bold', lineHeight: 1.25 }}&gt;规范&lt;/Text&gt;&#10;            &lt;Text style={{ fontSize: 21, color: '#3D7BD9' }}&gt;医院信息系统的设计总纲&lt;/Text&gt;&#10;          &lt;/Box&gt;&#10;        &lt;/Box&gt;&#10;        &lt;Text style={{ fontSize: 22, color: '#4A5568', lineHeight: 1.5 }}&gt;读《医院信息系统基本功能规范》，认识 20 多个功能分系统与一次就医的业务闭环。&lt;/Text&gt;&#10;      &lt;/Box&gt;&#10;&#10;      &lt;Box style={{ height: '168px', background: '#F7F9FC', border: '1px solid #D6DCE5', borderLeft: '6px solid #3D7BD9', padding: '20px 26px', gap: 10 }}&gt;&#10;        &lt;Box style={{ flexDirection: 'row', alignItems: 'center', gap: 16 }}&gt;&#10;          &lt;Box style={{ width: 56, height: 56, background: '#3D7BD9', alignItems: 'center', justifyContent: 'center' }}&gt;&#10;            &lt;Text style={{ fontSize: 26, color: '#FFFFFF', fontWeight: 'bold' }}&gt;02&lt;/Text&gt;&#10;          &lt;/Box&gt;&#10;          &lt;Box style={{ gap: 2 }}&gt;&#10;            &lt;Text style={{ fontSize: 32, color: '#1A2230', fontWeight: 'bold', lineHeight: 1.25 }}&gt;数据建模&lt;/Text&gt;&#10;            &lt;Text style={{ fontSize: 21, color: '#3D7BD9' }}&gt;核心实体与关系链&lt;/Text&gt;&#10;          &lt;/Box&gt;&#10;        &lt;/Box&gt;&#10;        &lt;Text style={{ fontSize: 22, color: '#4A5568', lineHeight: 1.5 }}&gt;功能点提取四步法，十个核心实体、一条关系主线，以及必须走事务的两处扣减。&lt;/Text&gt;&#10;      &lt;/Box&gt;&#10;&#10;      &lt;Box style={{ height: '168px', background: '#E8EFF8', border: '1px solid #3D7BD9', borderLeft: '6px solid #0E3F8C', padding: '20px 26px', gap: 10 }}&gt;&#10;        &lt;Box style={{ flexDirection: 'row', alignItems: 'center', gap: 16 }}&gt;&#10;          &lt;Box style={{ width: 56, height: 56, background: '#0E3F8C', alignItems: 'center', justifyContent: 'center' }}&gt;&#10;            &lt;Text style={{ fontSize: 26, color: '#FFFFFF', fontWeight: 'bold' }}&gt;03&lt;/Text&gt;&#10;          &lt;/Box&gt;&#10;          &lt;Box style={{ gap: 2 }}&gt;&#10;            &lt;Text style={{ fontSize: 32, color: '#1A2230', fontWeight: 'bold', lineHeight: 1.25 }}&gt;立项与作业&lt;/Text&gt;&#10;            &lt;Text style={{ fontSize: 21, color: '#1E4FA8' }}&gt;四件事 + 三项作业&lt;/Text&gt;&#10;          &lt;/Box&gt;&#10;        &lt;/Box&gt;&#10;        &lt;Text style={{ fontSize: 22, color: '#4A5568', lineHeight: 1.5 }}&gt;三条推荐路线、三条规矩，下课前完成分组选题并交付《功能点清单》。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1190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4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课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4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381000" y="914400"/>
            <a:ext cx="3429000" cy="5029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47700" y="1200150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7FA3D6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47700" y="1533525"/>
            <a:ext cx="2895600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47700" y="2276475"/>
            <a:ext cx="28956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 spc="75">
                <a:solidFill>
                  <a:srgbClr val="FFC107"/>
                </a:solidFill>
                <a:latin typeface="Microsoft YaHei"/>
                <a:ea typeface="Microsoft YaHei"/>
              </a:rPr>
              <a:t>90 </a:t>
            </a:r>
            <a:r>
              <a:rPr lang="zh-CN" sz="2100" b="1" spc="75">
                <a:solidFill>
                  <a:srgbClr val="FFC107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47700" y="2733675"/>
            <a:ext cx="7620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47700" y="3581400"/>
            <a:ext cx="28956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规范讲授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 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20'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演示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 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15'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47700" y="4057650"/>
            <a:ext cx="28956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立项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 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15'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实操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 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30'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汇报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 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10'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47700" y="5229225"/>
            <a:ext cx="2895600" cy="952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47700" y="5314950"/>
            <a:ext cx="28956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8FAED8"/>
                </a:solidFill>
                <a:latin typeface="Microsoft YaHei"/>
                <a:ea typeface="Microsoft YaHei"/>
              </a:rPr>
              <a:t>三章讲完，再分组动手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4095750" y="914400"/>
            <a:ext cx="7772400" cy="16002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4038600" y="914400"/>
            <a:ext cx="7829550" cy="1600200"/>
          </a:xfrm>
          <a:custGeom>
            <a:pathLst>
              <a:path w="822" h="168">
                <a:moveTo>
                  <a:pt x="0" y="0"/>
                </a:moveTo>
                <a:lnTo>
                  <a:pt x="6" y="0"/>
                </a:lnTo>
                <a:lnTo>
                  <a:pt x="6" y="168"/>
                </a:lnTo>
                <a:lnTo>
                  <a:pt x="0" y="16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7" name=""/>
          <p:cNvSpPr/>
          <p:nvPr/>
        </p:nvSpPr>
        <p:spPr>
          <a:xfrm rot="0" flipH="0" flipV="0">
            <a:off x="4343400" y="1200150"/>
            <a:ext cx="5334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4457700" y="1314450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029200" y="1104900"/>
            <a:ext cx="2200275" cy="4572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400" b="1">
                <a:solidFill>
                  <a:srgbClr val="1A2230"/>
                </a:solidFill>
                <a:latin typeface="Microsoft YaHei"/>
                <a:ea typeface="Microsoft YaHei"/>
              </a:rPr>
              <a:t>规范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029200" y="1581150"/>
            <a:ext cx="22002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3D7BD9"/>
                </a:solidFill>
                <a:latin typeface="Microsoft YaHei"/>
                <a:ea typeface="Microsoft YaHei"/>
              </a:rPr>
              <a:t>医院信息系统的设计总纲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343400" y="1924050"/>
            <a:ext cx="72199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读《医院信息系统基本功能规范》，认识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20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多个功能分系统与一次就医的业务闭环。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4095750" y="2628900"/>
            <a:ext cx="7772400" cy="16002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4038600" y="2628900"/>
            <a:ext cx="7829550" cy="1600200"/>
          </a:xfrm>
          <a:custGeom>
            <a:pathLst>
              <a:path w="822" h="168">
                <a:moveTo>
                  <a:pt x="0" y="0"/>
                </a:moveTo>
                <a:lnTo>
                  <a:pt x="6" y="0"/>
                </a:lnTo>
                <a:lnTo>
                  <a:pt x="6" y="168"/>
                </a:lnTo>
                <a:lnTo>
                  <a:pt x="0" y="168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4343400" y="2914650"/>
            <a:ext cx="533400" cy="5334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4457700" y="3028950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029200" y="2819400"/>
            <a:ext cx="1600200" cy="4572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400" b="1">
                <a:solidFill>
                  <a:srgbClr val="1A2230"/>
                </a:solidFill>
                <a:latin typeface="Microsoft YaHei"/>
                <a:ea typeface="Microsoft YaHei"/>
              </a:rPr>
              <a:t>数据建模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029200" y="3295650"/>
            <a:ext cx="1600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3D7BD9"/>
                </a:solidFill>
                <a:latin typeface="Microsoft YaHei"/>
                <a:ea typeface="Microsoft YaHei"/>
              </a:rPr>
              <a:t>核心实体与关系链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4343400" y="3638550"/>
            <a:ext cx="72199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功能点提取四步法，十个核心实体、一条关系主线，以及必须走事务的两处扣减。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4095750" y="4343400"/>
            <a:ext cx="7772400" cy="16002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4038600" y="4343400"/>
            <a:ext cx="7829550" cy="1600200"/>
          </a:xfrm>
          <a:custGeom>
            <a:pathLst>
              <a:path w="822" h="168">
                <a:moveTo>
                  <a:pt x="0" y="0"/>
                </a:moveTo>
                <a:lnTo>
                  <a:pt x="6" y="0"/>
                </a:lnTo>
                <a:lnTo>
                  <a:pt x="6" y="168"/>
                </a:lnTo>
                <a:lnTo>
                  <a:pt x="0" y="168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1" name=""/>
          <p:cNvSpPr/>
          <p:nvPr/>
        </p:nvSpPr>
        <p:spPr>
          <a:xfrm rot="0" flipH="0" flipV="0">
            <a:off x="4343400" y="4629150"/>
            <a:ext cx="533400" cy="533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4457700" y="4743450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5029200" y="4533900"/>
            <a:ext cx="1676400" cy="4572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400" b="1">
                <a:solidFill>
                  <a:srgbClr val="1A2230"/>
                </a:solidFill>
                <a:latin typeface="Microsoft YaHei"/>
                <a:ea typeface="Microsoft YaHei"/>
              </a:rPr>
              <a:t>立项与作业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5029200" y="5010150"/>
            <a:ext cx="1676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E4FA8"/>
                </a:solidFill>
                <a:latin typeface="Microsoft YaHei"/>
                <a:ea typeface="Microsoft YaHei"/>
              </a:rPr>
              <a:t>四件事</a:t>
            </a:r>
            <a:r>
              <a:rPr lang="en-US" sz="1575">
                <a:solidFill>
                  <a:srgbClr val="1E4FA8"/>
                </a:solidFill>
                <a:latin typeface="Microsoft YaHei"/>
                <a:ea typeface="Microsoft YaHei"/>
              </a:rPr>
              <a:t> + </a:t>
            </a:r>
            <a:r>
              <a:rPr lang="zh-CN" sz="1575">
                <a:solidFill>
                  <a:srgbClr val="1E4FA8"/>
                </a:solidFill>
                <a:latin typeface="Microsoft YaHei"/>
                <a:ea typeface="Microsoft YaHei"/>
              </a:rPr>
              <a:t>三项作业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4343400" y="5353050"/>
            <a:ext cx="721995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三条推荐路线、三条规矩，下课前完成分组选题并交付《功能点清单》。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28" name="" descr="&lt;Slide&#10;  notes={`先认识这份规范：《医院信息系统基本功能规范》，卫生部 2002 年发布，文号是卫办发〔2002〕116 号，试行。&#10;&#10;它把医院信息系统划分成二十多个功能分系统，每个分系统下面，规范都列了具体的功能点条目：这个系统必须能干什么、数据怎么管、流程怎么走。&#10;&#10;这份规范的意义在于，它是国内 HIS 招标、建设、验收的事实标准。今天起，它就是你们项目的&quot;需求规格说明书&quot;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1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SPECIFICATION&lt;/Text&gt;&#10;        &lt;Text style={{ fontSize: 56, color: '#1A2230', fontWeight: 'bold', lineHeight: 1.25 }}&gt;规范&lt;/Text&gt;&#10;        &lt;Text style={{ fontSize: 26, color: '#4A5568', lineHeight: 1.5 }}&gt;医院信息系统的设计总纲&lt;/Text&gt;&#10;      &lt;/Box&gt;&#10;&#10;      &lt;Box style={{ width: '732px', height: 2, background: '#D6DCE5' }} /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把 HIS 划分成 20 多个功能分系统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每个分系统下列出具体的功能点条目&lt;/Text&gt;&#10;        &lt;/Box&gt;&#10;        &lt;Box style={{ flexDirection: 'row', alignItems: 'flex-start', gap: 14 }}&gt;&#10;          &lt;Box style={{ width: 10, height: 10, background: '#FFC107', marginTop: 12 }} /&gt;&#10;          &lt;Text style={{ fontSize: 23, color: '#1A2230', lineHeight: 1.5 }}&gt;它是 HIS 招标、建设、验收的事实标准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838700" y="1533525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SPECIFICATION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4838700" y="1895475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规范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4838700" y="2828925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医院信息系统的设计总纲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4838700" y="3543300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4838700" y="394335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067300" y="3829050"/>
            <a:ext cx="329565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把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HIS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划分成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20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多个功能分系统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4838700" y="4495800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5067300" y="4381500"/>
            <a:ext cx="35052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每个分系统下列出具体的功能点条目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4838700" y="5048250"/>
            <a:ext cx="95250" cy="952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5067300" y="4933950"/>
            <a:ext cx="378142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它是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HIS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招标、建设、验收的事实标准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42" name="" descr="&lt;Slide&#10;  notes={`来，我们现场角色扮演。我演患者，你们演系统里的角色：我挂号，看医生，医生开药，我去缴费，我去取药。&#10;&#10;注意每一步，系统要记录什么、要校验什么。挂号时要检查号源，开方时要选药品，收费时要算金额，发药时要扣库存。&#10;&#10;这就是业务闭环，也是你们项目的验收主线。你们接下来八周做的东西，最后就是按这条线一条一条往上验收的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规范 · 一次就医的业务闭环&lt;/Text&gt;&#10;    &lt;Text style={{ fontSize: 16, color: '#C9D9F2' }}&gt;医院信息系统实验 · 第 4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一次就医的业务闭环&lt;/Text&gt;&#10;      &lt;Text style={{ fontSize: 22, color: '#8B97A8' }}&gt;Business Closed Loop&lt;/Text&gt;&#10;    &lt;/Box&gt;&#10;&#10;    &lt;Box style={{ height: '12px' }} /&gt;&#10;&#10;    &lt;svg width={1200} height={218} viewBox='0 0 1200 218'&gt;&#10;      &lt;line x1='106' y1='78' x2='1094' y2='78' stroke='#D6DCE5' strokeWidth='2' /&gt;&#10;&#10;      &lt;rect x='0' y='50' width='212' height='56' rx='8' fill='#FFFFFF' stroke='#3D7BD9' strokeWidth='3' /&gt;&#10;      &lt;text x='106' y='78' text-anchor='middle' dominant-baseline='central' font-size='26' font-weight='bold' fill='#1E4FA8'&gt;我挂号&lt;/text&gt;&#10;      &lt;path d='M218 78 L239 78' stroke='#1E4FA8' strokeWidth='2' /&gt;&#10;      &lt;path d='M239 73 L247 78 L239 83 Z' fill='#1E4FA8' /&gt;&#10;&#10;      &lt;rect x='247' y='50' width='212' height='56' rx='8' fill='#FFFFFF' stroke='#3D7BD9' strokeWidth='3' /&gt;&#10;      &lt;text x='353' y='78' text-anchor='middle' dominant-baseline='central' font-size='26' font-weight='bold' fill='#1E4FA8'&gt;看医生&lt;/text&gt;&#10;      &lt;path d='M465 78 L486 78' stroke='#1E4FA8' strokeWidth='2' /&gt;&#10;      &lt;path d='M486 73 L494 78 L486 83 Z' fill='#1E4FA8' /&gt;&#10;&#10;      &lt;rect x='494' y='50' width='212' height='56' rx='8' fill='#FFFFFF' stroke='#3D7BD9' strokeWidth='3' /&gt;&#10;      &lt;text x='600' y='78' text-anchor='middle' dominant-baseline='central' font-size='26' font-weight='bold' fill='#1E4FA8'&gt;医生开药&lt;/text&gt;&#10;      &lt;path d='M712 78 L733 78' stroke='#1E4FA8' strokeWidth='2' /&gt;&#10;      &lt;path d='M733 73 L741 78 L733 83 Z' fill='#1E4FA8' /&gt;&#10;&#10;      &lt;rect x='741' y='50' width='212' height='56' rx='8' fill='#FFFFFF' stroke='#3D7BD9' strokeWidth='3' /&gt;&#10;      &lt;text x='847' y='78' text-anchor='middle' dominant-baseline='central' font-size='26' font-weight='bold' fill='#1E4FA8'&gt;我去缴费&lt;/text&gt;&#10;      &lt;path d='M959 78 L980 78' stroke='#1E4FA8' strokeWidth='2' /&gt;&#10;      &lt;path d='M980 73 L988 78 L980 83 Z' fill='#1E4FA8' /&gt;&#10;&#10;      &lt;rect x='988' y='50' width='212' height='56' rx='8' fill='#1E4FA8' /&gt;&#10;      &lt;text x='1094' y='78' text-anchor='middle' dominant-baseline='central' font-size='26' font-weight='bold' fill='#FFFFFF'&gt;我去取药&lt;/text&gt;&#10;&#10;      &lt;text x='106' y='130' text-anchor='middle' font-size='19' fill='#8B97A8'&gt;记录&lt;/text&gt;&#10;      &lt;text x='106' y='156' text-anchor='middle' font-size='20' fill='#4A5568'&gt;挂号单、排队号&lt;/text&gt;&#10;      &lt;text x='106' y='186' text-anchor='middle' font-size='19' fill='#8B97A8'&gt;校验&lt;/text&gt;&#10;      &lt;text x='106' y='210' text-anchor='middle' font-size='21' font-weight='bold' fill='#1E4FA8'&gt;检查号源&lt;/text&gt;&#10;&#10;      &lt;text x='353' y='130' text-anchor='middle' font-size='19' fill='#8B97A8'&gt;记录&lt;/text&gt;&#10;      &lt;text x='353' y='156' text-anchor='middle' font-size='20' fill='#4A5568'&gt;诊断&lt;/text&gt;&#10;      &lt;text x='353' y='186' text-anchor='middle' font-size='19' fill='#8B97A8'&gt;校验&lt;/text&gt;&#10;      &lt;text x='353' y='210' text-anchor='middle' font-size='21' font-weight='bold' fill='#1E4FA8'&gt;挂号单状态&lt;/text&gt;&#10;&#10;      &lt;text x='600' y='130' text-anchor='middle' font-size='19' fill='#8B97A8'&gt;记录&lt;/text&gt;&#10;      &lt;text x='600' y='156' text-anchor='middle' font-size='20' fill='#4A5568'&gt;处方、处方明细&lt;/text&gt;&#10;      &lt;text x='600' y='186' text-anchor='middle' font-size='19' fill='#8B97A8'&gt;校验&lt;/text&gt;&#10;      &lt;text x='600' y='210' text-anchor='middle' font-size='21' font-weight='bold' fill='#1E4FA8'&gt;选药品&lt;/text&gt;&#10;&#10;      &lt;text x='847' y='130' text-anchor='middle' font-size='19' fill='#8B97A8'&gt;记录&lt;/text&gt;&#10;      &lt;text x='847' y='156' text-anchor='middle' font-size='20' fill='#4A5568'&gt;收费单&lt;/text&gt;&#10;      &lt;text x='847' y='186' text-anchor='middle' font-size='19' fill='#8B97A8'&gt;校验&lt;/text&gt;&#10;      &lt;text x='847' y='210' text-anchor='middle' font-size='21' font-weight='bold' fill='#1E4FA8'&gt;算金额&lt;/text&gt;&#10;&#10;      &lt;text x='1094' y='130' text-anchor='middle' font-size='19' fill='#8B97A8'&gt;记录&lt;/text&gt;&#10;      &lt;text x='1094' y='156' text-anchor='middle' font-size='20' fill='#4A5568'&gt;发药记录&lt;/text&gt;&#10;      &lt;text x='1094' y='186' text-anchor='middle' font-size='19' fill='#8B97A8'&gt;校验&lt;/text&gt;&#10;      &lt;text x='1094' y='210' text-anchor='middle' font-size='21' font-weight='bold' fill='#1E4FA8'&gt;扣库存&lt;/text&gt;&#10;    &lt;/svg&gt;&#10;&#10;    &lt;Box style={{ height: '14px' }} /&gt;&#10;&#10;    &lt;Box style={{ height: '180px', flexDirection: 'row', gap: 24 }}&gt;&#10;      &lt;Box style={{ flex: 1, background: '#F7F9FC', border: '1px solid #D6DCE5', borderTop: '4px solid #3D7BD9', padding: '18px 20px', gap: 8 }}&gt;&#10;        &lt;Text style={{ fontSize: 26, color: '#1A2230', fontWeight: 'bold' }}&gt;每一步都要留痕&lt;/Text&gt;&#10;        &lt;Text style={{ fontSize: 22, color: '#4A5568', lineHeight: 1.45 }}&gt;挂号单、处方、处方明细、收费单、发药记录——没有记录，业务就没有凭据。&lt;/Text&gt;&#10;      &lt;/Box&gt;&#10;      &lt;Box style={{ flex: 1, background: '#F7F9FC', border: '1px solid #D6DCE5', borderTop: '4px solid #FFC107', padding: '18px 20px', gap: 8 }}&gt;&#10;        &lt;Text style={{ fontSize: 26, color: '#1A2230', fontWeight: 'bold' }}&gt;每一步都有校验&lt;/Text&gt;&#10;        &lt;Text style={{ fontSize: 22, color: '#4A5568', lineHeight: 1.45 }}&gt;号源、药品、金额、库存，少检查一个条件，就是一次线上事故。&lt;/Text&gt;&#10;      &lt;/Box&gt;&#10;      &lt;Box style={{ flex: 1, background: '#E8EFF8', border: '1px solid #3D7BD9', borderTop: '4px solid #0E3F8C', padding: '18px 20px', gap: 8 }}&gt;&#10;        &lt;Text style={{ fontSize: 26, color: '#1A2230', fontWeight: 'bold' }}&gt;业务闭环 = 验收主线&lt;/Text&gt;&#10;        &lt;Text style={{ fontSize: 22, color: '#4A5568', lineHeight: 1.45 }}&gt;五步跑通，项目才算做完；这条线，就是我验收你们的顺序。&lt;/Text&gt;&#10;      &lt;/Box&gt;&#10;    &lt;/Box&gt;&#10;&#10;    &lt;Box style={{ height: '12px' }} /&gt;&#10;&#10;    &lt;Box style={{ height: '44px', background: '#1E4FA8', flexDirection: 'row', alignItems: 'center', padding: '0px 20px', gap: 12 }}&gt;&#10;      &lt;Box style={{ width: 6, height: 6, background: '#FFC107' }} /&gt;&#10;      &lt;Text style={{ fontSize: 22, color: '#FFFFFF', fontWeight: 'bold' }}&gt;五步缺一步，系统就不成系统：这就是你们项目的验收主线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规范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一次就医的业务闭环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4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30861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一次就医的业务闭环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3790950" y="1019175"/>
            <a:ext cx="2171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Business Closed Loop</a:t>
            </a:r>
            <a:endParaRPr/>
          </a:p>
        </p:txBody>
      </p:sp>
      <p:pic>
        <p:nvPicPr>
          <p:cNvPr id="2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485900"/>
            <a:ext cx="11430000" cy="2076450"/>
          </a:xfrm>
          <a:prstGeom prst="rect">
            <a:avLst/>
          </a:prstGeom>
          <a:ln/>
        </p:spPr>
      </p:pic>
      <p:sp>
        <p:nvSpPr>
          <p:cNvPr id="251" name=""/>
          <p:cNvSpPr/>
          <p:nvPr/>
        </p:nvSpPr>
        <p:spPr>
          <a:xfrm rot="0" flipH="0" flipV="0">
            <a:off x="381000" y="3733800"/>
            <a:ext cx="3657600" cy="18573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381000" y="3695700"/>
            <a:ext cx="3657600" cy="1895475"/>
          </a:xfrm>
          <a:custGeom>
            <a:pathLst>
              <a:path w="384" h="199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571500" y="3905250"/>
            <a:ext cx="327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每一步都要留痕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71500" y="4286250"/>
            <a:ext cx="3276600" cy="1095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挂号单、处方、处方明细、收费单、发药记录——没有记录，业务就没有凭据。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4267200" y="3733800"/>
            <a:ext cx="3657600" cy="1714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56" name=""/>
          <p:cNvSpPr/>
          <p:nvPr/>
        </p:nvSpPr>
        <p:spPr>
          <a:xfrm rot="0" flipH="0" flipV="0">
            <a:off x="4267200" y="3695700"/>
            <a:ext cx="3657600" cy="1752600"/>
          </a:xfrm>
          <a:custGeom>
            <a:pathLst>
              <a:path w="384" h="18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4457700" y="3905250"/>
            <a:ext cx="327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每一步都有校验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4457700" y="4286250"/>
            <a:ext cx="32766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号源、药品、金额、库存，少检查一个条件，就是一次线上事故。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8153400" y="3733800"/>
            <a:ext cx="3657600" cy="1714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8153400" y="3695700"/>
            <a:ext cx="3657600" cy="1752600"/>
          </a:xfrm>
          <a:custGeom>
            <a:pathLst>
              <a:path w="384" h="18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8343900" y="3905250"/>
            <a:ext cx="327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业务闭环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=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验收主线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8343900" y="4286250"/>
            <a:ext cx="32766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五步跑通，项目才算做完；这条线，就是我验收你们的顺序。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381000" y="5524500"/>
            <a:ext cx="11430000" cy="419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571500" y="5705475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42950" y="5610225"/>
            <a:ext cx="5448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五步缺一步，系统就不成系统：这就是你们项目的验收主线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68" name="" descr="&lt;Slide&#10;  notes={`这份规范的意义在哪？它是国内 HIS 招标、建设、验收的事实标准。&#10;&#10;你们将来进医院信息科、进 HIS 厂商，第一件事就是读它。今天起，它也是你们项目的需求规格说明书。&#10;&#10;那你们做什么？从分系统里选题，实现其中一部分功能。不是造一个完整 HIS，而是按规范实现一个真实分系统的部分功能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规范 · 官方规范与 HIS 全景&lt;/Text&gt;&#10;    &lt;Text style={{ fontSize: 16, color: '#C9D9F2' }}&gt;医院信息系统实验 · 第 4 课&lt;/Text&gt;&#10;  &lt;/Box&gt;&#10;&#10;  &lt;Box style={{ width: '1280px', height: '552px', flexDirection: 'row', padding: '24px 40px 0px 40px', gap: 24 }}&gt;&#10;    &lt;Box style={{ width: '760px', height: '528px', background: '#F7F9FC', border: '1px solid #D6DCE5', borderTop: '6px solid #1E4FA8', padding: '24px 26px', gap: 14 }}&gt;&#10;      &lt;Text style={{ fontSize: 30, color: '#0E3F8C', fontWeight: 'bold', lineHeight: 1.3 }}&gt;《医院信息系统基本功能规范》&lt;/Text&gt;&#10;      &lt;Box style={{ flexDirection: 'row', alignItems: 'center', gap: 12 }}&gt;&#10;        &lt;Box style={{ background: '#1E4FA8', padding: '4px 12px', borderRadius: 3 }}&gt;&#10;          &lt;Text style={{ fontSize: 19, color: '#FFFFFF', fontWeight: 'bold' }}&gt;卫生部 2002 年发布&lt;/Text&gt;&#10;        &lt;/Box&gt;&#10;        &lt;Text style={{ fontSize: 21, color: '#4A5568' }}&gt;卫办发〔2002〕116 号 · 试行&lt;/Text&gt;&#10;      &lt;/Box&gt;&#10;&#10;      &lt;Box style={{ height: 2, background: '#D6DCE5' }} /&gt;&#10;&#10;      &lt;Text style={{ fontSize: 26, color: '#1A2230', fontWeight: 'bold' }}&gt;把 HIS 划分为 20 多个功能分系统&lt;/Text&gt;&#10;&#10;      &lt;Box style={{ flexDirection: 'row', flexWrap: 'wrap', gap: 10 }}&gt;&#10;        &lt;Box style={{ background: '#FFFFFF', border: '1px solid #3D7BD9', borderRadius: 4, padding: '8px 14px' }}&gt;&#10;          &lt;Text style={{ fontSize: 20, color: '#1E4FA8', fontWeight: 'bold' }}&gt;挂号&lt;/Text&gt;&#10;        &lt;/Box&gt;&#10;        &lt;Box style={{ background: '#FFFFFF', border: '1px solid #D6DCE5', borderRadius: 4, padding: '8px 14px' }}&gt;&#10;          &lt;Text style={{ fontSize: 20, color: '#1A2230' }}&gt;门诊医生工作站&lt;/Text&gt;&#10;        &lt;/Box&gt;&#10;        &lt;Box style={{ background: '#FFFFFF', border: '1px solid #D6DCE5', borderRadius: 4, padding: '8px 14px' }}&gt;&#10;          &lt;Text style={{ fontSize: 20, color: '#1A2230' }}&gt;划价收费&lt;/Text&gt;&#10;        &lt;/Box&gt;&#10;        &lt;Box style={{ background: '#FFFFFF', border: '1px solid #D6DCE5', borderRadius: 4, padding: '8px 14px' }}&gt;&#10;          &lt;Text style={{ fontSize: 20, color: '#1A2230' }}&gt;门诊药房&lt;/Text&gt;&#10;        &lt;/Box&gt;&#10;        &lt;Box style={{ background: '#FFFFFF', border: '1px solid #D6DCE5', borderRadius: 4, padding: '8px 14px' }}&gt;&#10;          &lt;Text style={{ fontSize: 20, color: '#1A2230' }}&gt;住院入出转&lt;/Text&gt;&#10;        &lt;/Box&gt;&#10;        &lt;Box style={{ background: '#FFFFFF', border: '1px solid #D6DCE5', borderRadius: 4, padding: '8px 14px' }}&gt;&#10;          &lt;Text style={{ fontSize: 20, color: '#1A2230' }}&gt;住院医生工作站&lt;/Text&gt;&#10;        &lt;/Box&gt;&#10;        &lt;Box style={{ background: '#FFFFFF', border: '1px solid #D6DCE5', borderRadius: 4, padding: '8px 14px' }}&gt;&#10;          &lt;Text style={{ fontSize: 20, color: '#1A2230' }}&gt;住院护士工作站&lt;/Text&gt;&#10;        &lt;/Box&gt;&#10;        &lt;Box style={{ background: '#FFFFFF', border: '1px solid #D6DCE5', borderRadius: 4, padding: '8px 14px' }}&gt;&#10;          &lt;Text style={{ fontSize: 20, color: '#1A2230' }}&gt;住院收费&lt;/Text&gt;&#10;        &lt;/Box&gt;&#10;        &lt;Box style={{ background: '#FFFFFF', border: '1px solid #D6DCE5', borderRadius: 4, padding: '8px 14px' }}&gt;&#10;          &lt;Text style={{ fontSize: 20, color: '#1A2230' }}&gt;住院药房&lt;/Text&gt;&#10;        &lt;/Box&gt;&#10;        &lt;Box style={{ background: '#FFFFFF', border: '1px solid #D6DCE5', borderRadius: 4, padding: '8px 14px' }}&gt;&#10;          &lt;Text style={{ fontSize: 20, color: '#1A2230' }}&gt;中西药库&lt;/Text&gt;&#10;        &lt;/Box&gt;&#10;        &lt;Box style={{ background: '#FFFFFF', border: '1px solid #D6DCE5', borderRadius: 4, padding: '8px 14px' }}&gt;&#10;          &lt;Text style={{ fontSize: 20, color: '#1A2230' }}&gt;电子病历&lt;/Text&gt;&#10;        &lt;/Box&gt;&#10;        &lt;Box style={{ background: '#FFFFFF', border: '1px solid #D6DCE5', borderRadius: 4, padding: '8px 14px' }}&gt;&#10;          &lt;Text style={{ fontSize: 20, color: '#1A2230' }}&gt;病案管理&lt;/Text&gt;&#10;        &lt;/Box&gt;&#10;        &lt;Box style={{ background: '#FFFFFF', border: '1px solid #D6DCE5', borderRadius: 4, padding: '8px 14px' }}&gt;&#10;          &lt;Text style={{ fontSize: 20, color: '#1A2230' }}&gt;医疗统计&lt;/Text&gt;&#10;        &lt;/Box&gt;&#10;        &lt;Box style={{ background: '#FFFFFF', border: '1px solid #D6DCE5', borderRadius: 4, padding: '8px 14px' }}&gt;&#10;          &lt;Text style={{ fontSize: 20, color: '#1A2230' }}&gt;院长综合查询&lt;/Text&gt;&#10;        &lt;/Box&gt;&#10;        &lt;Box style={{ background: '#E8EFF8', border: '1px dashed #3D7BD9', borderRadius: 4, padding: '8px 14px' }}&gt;&#10;          &lt;Text style={{ fontSize: 20, color: '#8B97A8' }}&gt;……&lt;/Text&gt;&#10;        &lt;/Box&gt;&#10;      &lt;/Box&gt;&#10;&#10;      &lt;Box style={{ height: 2, background: '#D6DCE5' }} /&gt;&#10;&#10;      &lt;Text style={{ fontSize: 22, color: '#4A5568', lineHeight: 1.5 }}&gt;&#10;        每个分系统下面，规范都列了具体的&lt;span style={{ fontWeight: 'bold', color: '#1E4FA8' }}&gt;功能点条目&lt;/span&gt;：这个系统必须能干什么、数据怎么管、流程怎么走。&#10;      &lt;/Text&gt;&#10;    &lt;/Box&gt;&#10;&#10;    &lt;Box style={{ width: '416px', height: '528px', gap: 16 }}&gt;&#10;      &lt;Box style={{ height: '256px', background: '#E8EFF8', border: '1px solid #3D7BD9', borderTop: '6px solid #1E4FA8', padding: '22px 22px', gap: 12 }}&gt;&#10;        &lt;Text style={{ fontSize: 17, color: '#3D7BD9', fontWeight: 'bold', letterSpacing: 2 }}&gt;WHY READ IT&lt;/Text&gt;&#10;        &lt;Text style={{ fontSize: 26, color: '#1A2230', fontWeight: 'bold', lineHeight: 1.35 }}&gt;招标、建设、验收&lt;br /&gt;的事实标准&lt;/Text&gt;&#10;        &lt;Text style={{ fontSize: 22, color: '#4A5568', lineHeight: 1.5 }}&gt;&#10;          国内 HIS 项目从招标到建设到验收，都拿它当尺子。今天起，它也是你们项目的&lt;span style={{ fontWeight: 'bold', color: '#1E4FA8' }}&gt;&quot;需求规格说明书&quot;&lt;/span&gt;。&#10;        &lt;/Text&gt;&#10;      &lt;/Box&gt;&#10;&#10;      &lt;Box style={{ height: '256px', background: '#FFFFFF', border: '1px solid #D6DCE5', borderTop: '6px solid #FFC107', padding: '22px 22px', gap: 12 }}&gt;&#10;        &lt;Text style={{ fontSize: 17, color: '#B7860B', fontWeight: 'bold', letterSpacing: 2 }}&gt;FIRST LESSON&lt;/Text&gt;&#10;        &lt;Text style={{ fontSize: 26, color: '#1A2230', fontWeight: 'bold', lineHeight: 1.35 }}&gt;进信息科、进厂商&lt;br /&gt;的第一课&lt;/Text&gt;&#10;        &lt;Text style={{ fontSize: 22, color: '#4A5568', lineHeight: 1.5 }}&gt;&#10;          你们将来进医院信息科、进 HIS 厂商，&lt;span style={{ fontWeight: 'bold', color: '#1A2230' }}&gt;第一件事就是读它&lt;/span&gt;。读懂规范，才看得懂需求是从哪来的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5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657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规范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官方规范与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HIS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全景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4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381000" y="971550"/>
            <a:ext cx="7239000" cy="49720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381000" y="914400"/>
            <a:ext cx="7239000" cy="5029200"/>
          </a:xfrm>
          <a:custGeom>
            <a:pathLst>
              <a:path w="760" h="528">
                <a:moveTo>
                  <a:pt x="0" y="0"/>
                </a:moveTo>
                <a:lnTo>
                  <a:pt x="760" y="0"/>
                </a:lnTo>
                <a:lnTo>
                  <a:pt x="760" y="6"/>
                </a:lnTo>
                <a:lnTo>
                  <a:pt x="0" y="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28650" y="1200150"/>
            <a:ext cx="6743700" cy="4476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0E3F8C"/>
                </a:solidFill>
                <a:latin typeface="Microsoft YaHei"/>
                <a:ea typeface="Microsoft YaHei"/>
              </a:rPr>
              <a:t>《医院信息系统基本功能规范》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628650" y="1781175"/>
            <a:ext cx="1876425" cy="295275"/>
          </a:xfrm>
          <a:prstGeom prst="roundRect">
            <a:avLst>
              <a:gd name="adj" fmla="val 96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742950" y="1819275"/>
            <a:ext cx="1647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卫生部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 2002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年发布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2619375" y="1809750"/>
            <a:ext cx="2647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卫办发〔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2002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〕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116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号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试行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628650" y="2209800"/>
            <a:ext cx="67437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628650" y="2362200"/>
            <a:ext cx="67437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把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HIS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划分为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20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多个功能分系统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628650" y="2800350"/>
            <a:ext cx="64770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762000" y="28765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挂号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1371600" y="2800350"/>
            <a:ext cx="160020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504950" y="287655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门诊医生工作站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3067050" y="2800350"/>
            <a:ext cx="102870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3200400" y="28765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划价收费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4191000" y="2800350"/>
            <a:ext cx="102870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4324350" y="28765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门诊药房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5314950" y="2800350"/>
            <a:ext cx="121920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5448300" y="287655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住院入出转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628650" y="3276600"/>
            <a:ext cx="160020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762000" y="335280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住院医生工作站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2324100" y="3276600"/>
            <a:ext cx="160020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2457450" y="335280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住院护士工作站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4019550" y="3276600"/>
            <a:ext cx="102870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152900" y="335280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住院收费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5143500" y="3276600"/>
            <a:ext cx="102870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5276850" y="335280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住院药房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6267450" y="3276600"/>
            <a:ext cx="102870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400800" y="335280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中西药库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628650" y="3752850"/>
            <a:ext cx="102870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762000" y="38290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电子病历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1752600" y="3752850"/>
            <a:ext cx="102870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885950" y="38290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病案管理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2876550" y="3752850"/>
            <a:ext cx="102870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3009900" y="38290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医疗统计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4000500" y="3752850"/>
            <a:ext cx="140970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133850" y="382905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院长综合查询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5505450" y="3752850"/>
            <a:ext cx="581025" cy="381000"/>
          </a:xfrm>
          <a:prstGeom prst="roundRect">
            <a:avLst>
              <a:gd name="adj" fmla="val 10000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dash"/>
          </a:ln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5638800" y="3829050"/>
            <a:ext cx="314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8B97A8"/>
                </a:solidFill>
                <a:latin typeface="Microsoft YaHei"/>
                <a:ea typeface="Microsoft YaHei"/>
              </a:rPr>
              <a:t>……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628650" y="4267200"/>
            <a:ext cx="67437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28650" y="4419600"/>
            <a:ext cx="67437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每个分系统下面，规范都列了具体的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功能点条目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：这个系统必须能干什么、数据怎么管、流程怎么走。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7848600" y="971550"/>
            <a:ext cx="3962400" cy="23812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7848600" y="914400"/>
            <a:ext cx="3962400" cy="2438400"/>
          </a:xfrm>
          <a:custGeom>
            <a:pathLst>
              <a:path w="416" h="256">
                <a:moveTo>
                  <a:pt x="0" y="0"/>
                </a:moveTo>
                <a:lnTo>
                  <a:pt x="416" y="0"/>
                </a:lnTo>
                <a:lnTo>
                  <a:pt x="416" y="6"/>
                </a:lnTo>
                <a:lnTo>
                  <a:pt x="0" y="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058150" y="1181100"/>
            <a:ext cx="3543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150">
                <a:solidFill>
                  <a:srgbClr val="3D7BD9"/>
                </a:solidFill>
                <a:latin typeface="Microsoft YaHei"/>
                <a:ea typeface="Microsoft YaHei"/>
              </a:rPr>
              <a:t>WHY READ IT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058150" y="1495425"/>
            <a:ext cx="3543300" cy="8096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招标、建设、验收</a:t>
            </a:r>
            <a:endParaRPr/>
          </a:p>
          <a:p>
            <a:pPr>
              <a:lnSpc>
                <a:spcPct val="135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的事实标准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058150" y="2419350"/>
            <a:ext cx="3543300" cy="1133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国内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HIS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项目从招标到建设到验收，都拿它当尺子。今天起，它也是你们项目的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需求规格说明书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7848600" y="3562350"/>
            <a:ext cx="3962400" cy="2381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7848600" y="3505200"/>
            <a:ext cx="3962400" cy="2438400"/>
          </a:xfrm>
          <a:custGeom>
            <a:pathLst>
              <a:path w="416" h="256">
                <a:moveTo>
                  <a:pt x="0" y="0"/>
                </a:moveTo>
                <a:lnTo>
                  <a:pt x="416" y="0"/>
                </a:lnTo>
                <a:lnTo>
                  <a:pt x="416" y="6"/>
                </a:lnTo>
                <a:lnTo>
                  <a:pt x="0" y="6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058150" y="3771900"/>
            <a:ext cx="3543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150">
                <a:solidFill>
                  <a:srgbClr val="B7860B"/>
                </a:solidFill>
                <a:latin typeface="Microsoft YaHei"/>
                <a:ea typeface="Microsoft YaHei"/>
              </a:rPr>
              <a:t>FIRST LESSON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058150" y="4086225"/>
            <a:ext cx="3543300" cy="8096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进信息科、进厂商</a:t>
            </a:r>
            <a:endParaRPr/>
          </a:p>
          <a:p>
            <a:pPr>
              <a:lnSpc>
                <a:spcPct val="135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的第一课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8058150" y="5010150"/>
            <a:ext cx="3543300" cy="1133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你们将来进医院信息科、进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HIS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厂商，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第一件事就是读它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。读懂规范，才看得懂需求是从哪来的。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25" name="" descr="&lt;Slide&#10;  notes={`现在讲这门课最重要的转化能力：把规范条文变成 AI 能干的活。四步法。&#10;&#10;第一步，读规范，提取功能点。比如挂号分系统，规范要求：号源管理、现场挂号、退号、排队查询、挂号统计。&#10;&#10;第二步，功能点转用户故事：作为挂号员，我希望维护医生排班与号源，以便控制当日可挂数量。&#10;&#10;第三步，用户故事转验收标准：挂号成功后号源减一、生成排队号；号源不足被拦截。&#10;&#10;第四步，验收标准进提示词。把用户故事和验收标准写进给 AI 的提示词，它产出的代码就能验收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功能点提取与数据建模 · 四步法&lt;/Text&gt;&#10;    &lt;Text style={{ fontSize: 16, color: '#C9D9F2' }}&gt;医院信息系统实验 · 第 4 课&lt;/Text&gt;&#10;  &lt;/Box&gt;&#10;&#10;  &lt;Box style={{ width: '1280px', height: '552px', padding: '24px 40px 0px 40px' }}&gt;&#10;    &lt;Box style={{ height: '230px', flexDirection: 'row', gap: 12 }}&gt;&#10;      &lt;Box style={{ width: '594px', background: '#FFFFFF', border: '1px solid #D6DCE5', borderTop: '5px solid #1E4FA8', padding: '18px 22px', gap: 6 }}&gt;&#10;        &lt;Box style={{ height: '40px', flexDirection: 'row', alignItems: 'center', justifyContent: 'space-between' }}&gt;&#10;          &lt;Box style={{ width: 36, height: 36, background: '#1E4FA8', alignItems: 'center', justifyContent: 'center' }}&gt;&#10;            &lt;Text style={{ fontSize: 20, color: '#FFFFFF', fontWeight: 'bold' }}&gt;1&lt;/Text&gt;&#10;          &lt;/Box&gt;&#10;          &lt;svg width={40} height={40} viewBox='0 0 40 40'&gt;&#10;            &lt;rect x='7' y='4' width='26' height='32' rx='3' fill='#E8EFF8' stroke='#1E4FA8' strokeWidth='2' /&gt;&#10;            &lt;path d='M13 13 H27 M13 19 H27 M13 25 H21' stroke='#3D7BD9' strokeWidth='2' strokeLinecap='round' /&gt;&#10;          &lt;/svg&gt;&#10;        &lt;/Box&gt;&#10;        &lt;Text style={{ fontSize: 24, color: '#1A2230', fontWeight: 'bold', lineHeight: 1.3 }}&gt;读规范，提取功能点&lt;/Text&gt;&#10;        &lt;Text style={{ fontSize: 22, color: '#4A5568', lineHeight: 1.5 }}&gt;&#10;          从挂号分系统摘出：号源管理、现场挂号、退号、排队查询、挂号统计，每条一句话。&#10;        &lt;/Text&gt;&#10;        &lt;Box style={{ background: '#F0F5FC', borderLeft: '4px solid #1E4FA8', padding: '5px 12px' }}&gt;&#10;          &lt;Text style={{ fontSize: 20, color: '#1E4FA8', fontWeight: 'bold' }}&gt;产出：一条条功能点&lt;/Text&gt;&#10;        &lt;/Box&gt;&#10;      &lt;/Box&gt;&#10;&#10;      &lt;Box style={{ width: '594px', background: '#FFFFFF', border: '1px solid #D6DCE5', borderTop: '5px solid #3D7BD9', padding: '18px 22px', gap: 6 }}&gt;&#10;        &lt;Box style={{ height: '40px', flexDirection: 'row', alignItems: 'center', justifyContent: 'space-between' }}&gt;&#10;          &lt;Box style={{ width: 36, height: 36, background: '#3D7BD9', alignItems: 'center', justifyContent: 'center' }}&gt;&#10;            &lt;Text style={{ fontSize: 20, color: '#FFFFFF', fontWeight: 'bold' }}&gt;2&lt;/Text&gt;&#10;          &lt;/Box&gt;&#10;          &lt;svg width={40} height={40} viewBox='0 0 40 40'&gt;&#10;            &lt;circle cx='20' cy='13' r='7' fill='#E8EFF8' stroke='#3D7BD9' strokeWidth='2' /&gt;&#10;            &lt;path d='M6 35 a14 14 0 0 1 28 0' fill='#E8EFF8' stroke='#3D7BD9' strokeWidth='2' /&gt;&#10;          &lt;/svg&gt;&#10;        &lt;/Box&gt;&#10;        &lt;Text style={{ fontSize: 24, color: '#1A2230', fontWeight: 'bold', lineHeight: 1.3 }}&gt;功能点转用户故事&lt;/Text&gt;&#10;        &lt;Text style={{ fontSize: 22, color: '#4A5568', lineHeight: 1.5 }}&gt;&#10;          &quot;作为挂号员，我希望维护医生排班与号源，以便控制当日可挂数量。&quot;&#10;        &lt;/Text&gt;&#10;        &lt;Box style={{ background: '#F0F5FC', borderLeft: '4px solid #3D7BD9', padding: '5px 12px' }}&gt;&#10;          &lt;Text style={{ fontSize: 20, color: '#1E4FA8', fontWeight: 'bold' }}&gt;产出：角色 + 目的&lt;/Text&gt;&#10;        &lt;/Box&gt;&#10;      &lt;/Box&gt;&#10;    &lt;/Box&gt;&#10;&#10;    &lt;Box style={{ height: '12px' }} /&gt;&#10;&#10;    &lt;Box style={{ height: '230px', flexDirection: 'row', gap: 12 }}&gt;&#10;      &lt;Box style={{ width: '594px', background: '#FFFFFF', border: '1px solid #D6DCE5', borderTop: '5px solid #FFC107', padding: '18px 22px', gap: 6 }}&gt;&#10;        &lt;Box style={{ height: '40px', flexDirection: 'row', alignItems: 'center', justifyContent: 'space-between' }}&gt;&#10;          &lt;Box style={{ width: 36, height: 36, background: '#FFC107', alignItems: 'center', justifyContent: 'center' }}&gt;&#10;            &lt;Text style={{ fontSize: 20, color: '#0E3F8C', fontWeight: 'bold' }}&gt;3&lt;/Text&gt;&#10;          &lt;/Box&gt;&#10;          &lt;svg width={40} height={40} viewBox='0 0 40 40'&gt;&#10;            &lt;path d='M20 4 L35 11 V21 C35 29 28 34 20 37 C12 34 5 29 5 21 V11 Z' fill='#FFF8E1' stroke='#FFC107' strokeWidth='2' /&gt;&#10;            &lt;path d='M13 20 L18 25 L28 14' fill='none' stroke='#B7860B' strokeWidth='3' strokeLinecap='round' strokeLinejoin='round' /&gt;&#10;          &lt;/svg&gt;&#10;        &lt;/Box&gt;&#10;        &lt;Text style={{ fontSize: 24, color: '#1A2230', fontWeight: 'bold', lineHeight: 1.3 }}&gt;用户故事转验收标准&lt;/Text&gt;&#10;        &lt;Text style={{ fontSize: 22, color: '#4A5568', lineHeight: 1.5 }}&gt;&#10;          &quot;挂号成功后号源减一、生成排队号；号源不足被拦截。&quot;能验证，才算做完。&#10;        &lt;/Text&gt;&#10;        &lt;Box style={{ background: '#FFF8E1', borderLeft: '4px solid #FFC107', padding: '5px 12px' }}&gt;&#10;          &lt;Text style={{ fontSize: 20, color: '#B7860B', fontWeight: 'bold' }}&gt;产出：可验证的条件&lt;/Text&gt;&#10;        &lt;/Box&gt;&#10;      &lt;/Box&gt;&#10;&#10;      &lt;Box style={{ width: '594px', background: '#E8EFF8', border: '1px solid #3D7BD9', borderTop: '5px solid #0E3F8C', padding: '18px 22px', gap: 6 }}&gt;&#10;        &lt;Box style={{ height: '40px', flexDirection: 'row', alignItems: 'center', justifyContent: 'space-between' }}&gt;&#10;          &lt;Box style={{ width: 36, height: 36, background: '#0E3F8C', alignItems: 'center', justifyContent: 'center' }}&gt;&#10;            &lt;Text style={{ fontSize: 20, color: '#FFFFFF', fontWeight: 'bold' }}&gt;4&lt;/Text&gt;&#10;          &lt;/Box&gt;&#10;          &lt;svg width={40} height={40} viewBox='0 0 40 40'&gt;&#10;            &lt;rect x='4' y='6' width='32' height='26' rx='3' fill='#FFFFFF' stroke='#0E3F8C' strokeWidth='2' /&gt;&#10;            &lt;path d='M11 16 L16 21 L11 26' fill='none' stroke='#1E4FA8' strokeWidth='2.5' strokeLinecap='round' strokeLinejoin='round' /&gt;&#10;            &lt;path d='M19 27 H29' stroke='#3D7BD9' strokeWidth='2.5' strokeLinecap='round' /&gt;&#10;          &lt;/svg&gt;&#10;        &lt;/Box&gt;&#10;        &lt;Text style={{ fontSize: 24, color: '#1A2230', fontWeight: 'bold', lineHeight: 1.3 }}&gt;验收标准进提示词&lt;/Text&gt;&#10;        &lt;Text style={{ fontSize: 22, color: '#4A5568', lineHeight: 1.5 }}&gt;&#10;          把用户故事与验收标准写进提示词，AI 产出的代码就能按标准验收。&#10;        &lt;/Text&gt;&#10;        &lt;Box style={{ background: '#FFFFFF', borderLeft: '4px solid #0E3F8C', padding: '5px 12px' }}&gt;&#10;          &lt;Text style={{ fontSize: 20, color: '#0E3F8C', fontWeight: 'bold' }}&gt;产出：可验收的代码&lt;/Text&gt;&#10;        &lt;/Box&gt;&#10;      &lt;/Box&gt;&#10;    &lt;/Box&gt;&#10;&#10;    &lt;Box style={{ height: '12px' }} /&gt;&#10;&#10;    &lt;Box style={{ height: '44px', background: '#1E4FA8', flexDirection: 'row', alignItems: 'center', padding: '0px 20px', gap: 12 }}&gt;&#10;      &lt;Box style={{ width: 6, height: 6, background: '#FFC107' }} /&gt;&#10;      &lt;Text style={{ fontSize: 22, color: '#FFFFFF', fontWeight: 'bold' }}&gt;四步法一句话：规范条文 → 功能点 → 用户故事 → 验收标准 → 提示词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6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功能点提取与数据建模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四步法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4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381000" y="962025"/>
            <a:ext cx="5657850" cy="2390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1" name=""/>
          <p:cNvSpPr/>
          <p:nvPr/>
        </p:nvSpPr>
        <p:spPr>
          <a:xfrm rot="0" flipH="0" flipV="0">
            <a:off x="381000" y="914400"/>
            <a:ext cx="5657850" cy="2438400"/>
          </a:xfrm>
          <a:custGeom>
            <a:pathLst>
              <a:path w="594" h="256">
                <a:moveTo>
                  <a:pt x="0" y="0"/>
                </a:moveTo>
                <a:lnTo>
                  <a:pt x="594" y="0"/>
                </a:lnTo>
                <a:lnTo>
                  <a:pt x="594" y="5"/>
                </a:lnTo>
                <a:lnTo>
                  <a:pt x="0" y="5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590550" y="1152525"/>
            <a:ext cx="342900" cy="3429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704850" y="12096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pic>
        <p:nvPicPr>
          <p:cNvPr id="3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448300" y="1133475"/>
            <a:ext cx="381000" cy="381000"/>
          </a:xfrm>
          <a:prstGeom prst="rect">
            <a:avLst/>
          </a:prstGeom>
          <a:ln/>
        </p:spPr>
      </p:pic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590550" y="1571625"/>
            <a:ext cx="523875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读规范，提取功能点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590550" y="1990725"/>
            <a:ext cx="52387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从挂号分系统摘出：号源管理、现场挂号、退号、排队查询、挂号统计，每条一句话。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628650" y="2809875"/>
            <a:ext cx="5238750" cy="3238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38" name=""/>
          <p:cNvSpPr/>
          <p:nvPr/>
        </p:nvSpPr>
        <p:spPr>
          <a:xfrm rot="0" flipH="0" flipV="0">
            <a:off x="590550" y="2809875"/>
            <a:ext cx="5276850" cy="323850"/>
          </a:xfrm>
          <a:custGeom>
            <a:pathLst>
              <a:path w="554" h="34">
                <a:moveTo>
                  <a:pt x="0" y="0"/>
                </a:moveTo>
                <a:lnTo>
                  <a:pt x="4" y="0"/>
                </a:lnTo>
                <a:lnTo>
                  <a:pt x="4" y="34"/>
                </a:lnTo>
                <a:lnTo>
                  <a:pt x="0" y="3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742950" y="2857500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产出：一条条功能点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6153150" y="962025"/>
            <a:ext cx="5657850" cy="2390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1" name=""/>
          <p:cNvSpPr/>
          <p:nvPr/>
        </p:nvSpPr>
        <p:spPr>
          <a:xfrm rot="0" flipH="0" flipV="0">
            <a:off x="6153150" y="914400"/>
            <a:ext cx="5657850" cy="2438400"/>
          </a:xfrm>
          <a:custGeom>
            <a:pathLst>
              <a:path w="594" h="256">
                <a:moveTo>
                  <a:pt x="0" y="0"/>
                </a:moveTo>
                <a:lnTo>
                  <a:pt x="594" y="0"/>
                </a:lnTo>
                <a:lnTo>
                  <a:pt x="594" y="5"/>
                </a:lnTo>
                <a:lnTo>
                  <a:pt x="0" y="5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342" name=""/>
          <p:cNvSpPr/>
          <p:nvPr/>
        </p:nvSpPr>
        <p:spPr>
          <a:xfrm rot="0" flipH="0" flipV="0">
            <a:off x="6362700" y="1152525"/>
            <a:ext cx="342900" cy="3429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6477000" y="12096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pic>
        <p:nvPicPr>
          <p:cNvPr id="3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220450" y="1133475"/>
            <a:ext cx="381000" cy="381000"/>
          </a:xfrm>
          <a:prstGeom prst="rect">
            <a:avLst/>
          </a:prstGeom>
          <a:ln/>
        </p:spPr>
      </p:pic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362700" y="1571625"/>
            <a:ext cx="523875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功能点转用户故事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6362700" y="1990725"/>
            <a:ext cx="52387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作为挂号员，我希望维护医生排班与号源，以便控制当日可挂数量。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6400800" y="2809875"/>
            <a:ext cx="5238750" cy="3238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48" name=""/>
          <p:cNvSpPr/>
          <p:nvPr/>
        </p:nvSpPr>
        <p:spPr>
          <a:xfrm rot="0" flipH="0" flipV="0">
            <a:off x="6362700" y="2809875"/>
            <a:ext cx="5276850" cy="323850"/>
          </a:xfrm>
          <a:custGeom>
            <a:pathLst>
              <a:path w="554" h="34">
                <a:moveTo>
                  <a:pt x="0" y="0"/>
                </a:moveTo>
                <a:lnTo>
                  <a:pt x="4" y="0"/>
                </a:lnTo>
                <a:lnTo>
                  <a:pt x="4" y="34"/>
                </a:lnTo>
                <a:lnTo>
                  <a:pt x="0" y="3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515100" y="2857500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产出：角色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+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目的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381000" y="3267075"/>
            <a:ext cx="5657850" cy="2390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1" name=""/>
          <p:cNvSpPr/>
          <p:nvPr/>
        </p:nvSpPr>
        <p:spPr>
          <a:xfrm rot="0" flipH="0" flipV="0">
            <a:off x="381000" y="3219450"/>
            <a:ext cx="5657850" cy="2438400"/>
          </a:xfrm>
          <a:custGeom>
            <a:pathLst>
              <a:path w="594" h="256">
                <a:moveTo>
                  <a:pt x="0" y="0"/>
                </a:moveTo>
                <a:lnTo>
                  <a:pt x="594" y="0"/>
                </a:lnTo>
                <a:lnTo>
                  <a:pt x="594" y="5"/>
                </a:lnTo>
                <a:lnTo>
                  <a:pt x="0" y="5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52" name=""/>
          <p:cNvSpPr/>
          <p:nvPr/>
        </p:nvSpPr>
        <p:spPr>
          <a:xfrm rot="0" flipH="0" flipV="0">
            <a:off x="590550" y="3457575"/>
            <a:ext cx="342900" cy="3429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704850" y="35147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pic>
        <p:nvPicPr>
          <p:cNvPr id="3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448300" y="3438525"/>
            <a:ext cx="381000" cy="381000"/>
          </a:xfrm>
          <a:prstGeom prst="rect">
            <a:avLst/>
          </a:prstGeom>
          <a:ln/>
        </p:spPr>
      </p:pic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590550" y="3876675"/>
            <a:ext cx="523875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用户故事转验收标准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590550" y="4295775"/>
            <a:ext cx="52387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挂号成功后号源减一、生成排队号；号源不足被拦截。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能验证，才算做完。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628650" y="5114925"/>
            <a:ext cx="5238750" cy="32385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358" name=""/>
          <p:cNvSpPr/>
          <p:nvPr/>
        </p:nvSpPr>
        <p:spPr>
          <a:xfrm rot="0" flipH="0" flipV="0">
            <a:off x="590550" y="5114925"/>
            <a:ext cx="5276850" cy="323850"/>
          </a:xfrm>
          <a:custGeom>
            <a:pathLst>
              <a:path w="554" h="34">
                <a:moveTo>
                  <a:pt x="0" y="0"/>
                </a:moveTo>
                <a:lnTo>
                  <a:pt x="4" y="0"/>
                </a:lnTo>
                <a:lnTo>
                  <a:pt x="4" y="34"/>
                </a:lnTo>
                <a:lnTo>
                  <a:pt x="0" y="34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742950" y="5162550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B7860B"/>
                </a:solidFill>
                <a:latin typeface="Microsoft YaHei"/>
                <a:ea typeface="Microsoft YaHei"/>
              </a:rPr>
              <a:t>产出：可验证的条件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6153150" y="3267075"/>
            <a:ext cx="5657850" cy="23907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6153150" y="3219450"/>
            <a:ext cx="5657850" cy="2438400"/>
          </a:xfrm>
          <a:custGeom>
            <a:pathLst>
              <a:path w="594" h="256">
                <a:moveTo>
                  <a:pt x="0" y="0"/>
                </a:moveTo>
                <a:lnTo>
                  <a:pt x="594" y="0"/>
                </a:lnTo>
                <a:lnTo>
                  <a:pt x="594" y="5"/>
                </a:lnTo>
                <a:lnTo>
                  <a:pt x="0" y="5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362" name=""/>
          <p:cNvSpPr/>
          <p:nvPr/>
        </p:nvSpPr>
        <p:spPr>
          <a:xfrm rot="0" flipH="0" flipV="0">
            <a:off x="6362700" y="3457575"/>
            <a:ext cx="342900" cy="342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6477000" y="35147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pic>
        <p:nvPicPr>
          <p:cNvPr id="3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1220450" y="3438525"/>
            <a:ext cx="381000" cy="381000"/>
          </a:xfrm>
          <a:prstGeom prst="rect">
            <a:avLst/>
          </a:prstGeom>
          <a:ln/>
        </p:spPr>
      </p:pic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6362700" y="3876675"/>
            <a:ext cx="523875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验收标准进提示词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6362700" y="4295775"/>
            <a:ext cx="52387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把用户故事与验收标准写进提示词，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产出的代码就能按标准验收。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6400800" y="5114925"/>
            <a:ext cx="5238750" cy="3238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8" name=""/>
          <p:cNvSpPr/>
          <p:nvPr/>
        </p:nvSpPr>
        <p:spPr>
          <a:xfrm rot="0" flipH="0" flipV="0">
            <a:off x="6362700" y="5114925"/>
            <a:ext cx="5276850" cy="323850"/>
          </a:xfrm>
          <a:custGeom>
            <a:pathLst>
              <a:path w="554" h="34">
                <a:moveTo>
                  <a:pt x="0" y="0"/>
                </a:moveTo>
                <a:lnTo>
                  <a:pt x="4" y="0"/>
                </a:lnTo>
                <a:lnTo>
                  <a:pt x="4" y="34"/>
                </a:lnTo>
                <a:lnTo>
                  <a:pt x="0" y="3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515100" y="5162550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产出：可验收的代码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381000" y="5524500"/>
            <a:ext cx="11430000" cy="419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571500" y="5705475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742950" y="5610225"/>
            <a:ext cx="6581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四步法一句话：规范条文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功能点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用户故事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验收标准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提示词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06 / 15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75" name="" descr="&lt;Slide&#10;  notes={`数据建模这一章，你们要记住三件事：十个核心实体，一条关系主线，还有扣号源与扣库存必须走事务。&#10;&#10;数据模型我以 A 路线为例讲。你们拿笔记一下，等会儿让 AI 生成建表 SQL 的时候，这份清单就是你们逐表审查的对照表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2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DATA MODELING&lt;/Text&gt;&#10;        &lt;Text style={{ fontSize: 56, color: '#1A2230', fontWeight: 'bold', lineHeight: 1.25 }}&gt;数据建模&lt;/Text&gt;&#10;        &lt;Text style={{ fontSize: 26, color: '#4A5568', lineHeight: 1.5 }}&gt;核心实体与关系链&lt;/Text&gt;&#10;      &lt;/Box&gt;&#10;&#10;      &lt;Box style={{ width: '732px', height: 2, background: '#D6DCE5' }} /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十个核心实体，一张表也不能少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一条关系主线串起患者、处方与药品&lt;/Text&gt;&#10;        &lt;/Box&gt;&#10;        &lt;Box style={{ flexDirection: 'row', alignItems: 'flex-start', gap: 14 }}&gt;&#10;          &lt;Box style={{ width: 10, height: 10, background: '#D9534F', marginTop: 12 }} /&gt;&#10;          &lt;Text style={{ fontSize: 23, color: '#1A2230', lineHeight: 1.5 }}&gt;扣号源与扣库存必须走事务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4838700" y="1533525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DATA MODELING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4838700" y="1895475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数据建模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4838700" y="2828925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核心实体与关系链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4838700" y="3543300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83" name=""/>
          <p:cNvSpPr/>
          <p:nvPr/>
        </p:nvSpPr>
        <p:spPr>
          <a:xfrm rot="0" flipH="0" flipV="0">
            <a:off x="4838700" y="394335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5067300" y="3829050"/>
            <a:ext cx="306705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十个核心实体，一张表也不能少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4838700" y="4495800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5067300" y="4381500"/>
            <a:ext cx="35052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一条关系主线串起患者、处方与药品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4838700" y="504825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5067300" y="4933950"/>
            <a:ext cx="26289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扣号源与扣库存必须走事务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89" name="" descr="&lt;Slide&#10;  notes={`核心实体你们拿笔记一下：患者、科室、医生、排班号源、挂号单、处方、处方明细、药品、药品库存、收费单，一共十个。&#10;&#10;特别注意排班号源，它的总量、剩余量、时段，就是挂号的&quot;库存&quot;，这个比喻你们记住。&#10;&#10;等会儿我会把数据模型提示词发给 AI，让它生成建表 SQL。你们拿这份清单逐表对照，看它漏了什么——这就是人工审查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功能点提取与数据建模 · 十个核心实体&lt;/Text&gt;&#10;    &lt;Text style={{ fontSize: 16, color: '#C9D9F2' }}&gt;医院信息系统实验 · 第 4 课&lt;/Text&gt;&#10;  &lt;/Box&gt;&#10;&#10;  &lt;Box style={{ width: '1280px', height: '552px', flexDirection: 'row', padding: '24px 40px 0px 40px', gap: 24 }}&gt;&#10;    &lt;Box style={{ width: '340px', height: '528px', background: '#0E3F8C', padding: '28px 26px', justifyContent: 'space-between' }}&gt;&#10;      &lt;Box style={{ gap: 12 }}&gt;&#10;        &lt;Text style={{ fontSize: 17, color: '#7FA3D6', letterSpacing: 2 }}&gt;DATA MODEL&lt;/Text&gt;&#10;        &lt;Text style={{ fontSize: 42, color: '#FFFFFF', fontWeight: 'bold', lineHeight: 1.2 }}&gt;核心数据模型&lt;/Text&gt;&#10;        &lt;Text style={{ fontSize: 28, color: '#FFC107', fontWeight: 'bold', letterSpacing: 1 }}&gt;A 路线&lt;/Text&gt;&#10;        &lt;Box style={{ width: 80, height: 5, background: '#FFC107' }} /&gt;&#10;      &lt;/Box&gt;&#10;&#10;      &lt;Text style={{ fontSize: 22, color: '#C9D9F2', lineHeight: 1.6 }}&gt;&#10;        以 A 门诊线为例。&lt;span style={{ color: '#FFFFFF', fontWeight: 'bold' }}&gt;十个核心实体&lt;/span&gt;是你们审查 AI 建表 SQL 的对照表，一个都不能少。&#10;      &lt;/Text&gt;&#10;&#10;      &lt;Box style={{ gap: 8 }}&gt;&#10;        &lt;Box style={{ height: 1, background: '#3D7BD9' }} /&gt;&#10;        &lt;Text style={{ fontSize: 20, color: '#8FAED8', lineHeight: 1.5 }}&gt;排班号源 = 挂号的&quot;库存&quot;&lt;/Text&gt;&#10;        &lt;Text style={{ fontSize: 20, color: '#8FAED8', lineHeight: 1.5 }}&gt;效期、状态最容易被漏掉&lt;/Text&gt;&#10;      &lt;/Box&gt;&#10;    &lt;/Box&gt;&#10;&#10;    &lt;Box style={{ width: '836px', height: '528px' }}&gt;&#10;      &lt;Box style={{ height: '364px', gap: 8 }}&gt;&#10;        &lt;Box style={{ height: '72px', flexDirection: 'row', gap: 20 }}&gt;&#10;          &lt;Box style={{ flex: 1, background: '#FFFFFF', border: '1px solid #D6DCE5', borderLeft: '5px solid #1E4FA8', padding: '8px 14px' }}&gt;&#10;            &lt;Text style={{ fontSize: 22, color: '#4A5568', lineHeight: 1.4 }}&gt;&#10;              &lt;span style={{ fontWeight: 'bold', color: '#1E4FA8' }}&gt;患者&lt;/span&gt; · 姓名、性别、出生日期、身份证号（脱敏存储）、电话&#10;            &lt;/Text&gt;&#10;          &lt;/Box&gt;&#10;          &lt;Box style={{ flex: 1, background: '#FFFFFF', border: '1px solid #D6DCE5', borderLeft: '5px solid #3D7BD9', padding: '8px 14px' }}&gt;&#10;            &lt;Text style={{ fontSize: 22, color: '#4A5568', lineHeight: 1.4 }}&gt;&#10;              &lt;span style={{ fontWeight: 'bold', color: '#1E4FA8' }}&gt;科室&lt;/span&gt; · 名称、位置、简介&#10;            &lt;/Text&gt;&#10;          &lt;/Box&gt;&#10;        &lt;/Box&gt;&#10;&#10;        &lt;Box style={{ height: '72px', flexDirection: 'row', gap: 20 }}&gt;&#10;          &lt;Box style={{ flex: 1, background: '#FFFFFF', border: '1px solid #D6DCE5', borderLeft: '5px solid #3D7BD9', padding: '8px 14px' }}&gt;&#10;            &lt;Text style={{ fontSize: 22, color: '#4A5568', lineHeight: 1.4 }}&gt;&#10;              &lt;span style={{ fontWeight: 'bold', color: '#1E4FA8' }}&gt;医生&lt;/span&gt; · 姓名、职称、所属科室、专长&#10;            &lt;/Text&gt;&#10;          &lt;/Box&gt;&#10;          &lt;Box style={{ flex: 1, background: '#E8EFF8', border: '1px solid #3D7BD9', borderLeft: '5px solid #0E3F8C', padding: '8px 14px' }}&gt;&#10;            &lt;Text style={{ fontSize: 22, color: '#4A5568', lineHeight: 1.4 }}&gt;&#10;              &lt;span style={{ fontWeight: 'bold', color: '#0E3F8C' }}&gt;排班号源&lt;/span&gt; · 医生某天的号源总量、剩余量、时段——这是挂号的&quot;库存&quot;&#10;            &lt;/Text&gt;&#10;          &lt;/Box&gt;&#10;        &lt;/Box&gt;&#10;&#10;        &lt;Box style={{ height: '44px', flexDirection: 'row', gap: 20 }}&gt;&#10;          &lt;Box style={{ flex: 1, background: '#FFFFFF', border: '1px solid #D6DCE5', borderLeft: '5px solid #1E4FA8', padding: '8px 14px' }}&gt;&#10;            &lt;Text style={{ fontSize: 22, color: '#4A5568', lineHeight: 1.4 }}&gt;&#10;              &lt;span style={{ fontWeight: 'bold', color: '#1E4FA8' }}&gt;挂号单&lt;/span&gt; · 患者、医生、时间、状态、排队号&#10;            &lt;/Text&gt;&#10;          &lt;/Box&gt;&#10;          &lt;Box style={{ flex: 1, background: '#FFFFFF', border: '1px solid #D6DCE5', borderLeft: '5px solid #3D7BD9', padding: '8px 14px' }}&gt;&#10;            &lt;Text style={{ fontSize: 22, color: '#4A5568', lineHeight: 1.4 }}&gt;&#10;              &lt;span style={{ fontWeight: 'bold', color: '#1E4FA8' }}&gt;处方&lt;/span&gt; · 挂号单关联、诊断、开方时间、状态&#10;            &lt;/Text&gt;&#10;          &lt;/Box&gt;&#10;        &lt;/Box&gt;&#10;&#10;        &lt;Box style={{ height: '72px', flexDirection: 'row', gap: 20 }}&gt;&#10;          &lt;Box style={{ flex: 1, background: '#FFFFFF', border: '1px solid #D6DCE5', borderLeft: '5px solid #3D7BD9', padding: '8px 14px' }}&gt;&#10;            &lt;Text style={{ fontSize: 22, color: '#4A5568', lineHeight: 1.4 }}&gt;&#10;              &lt;span style={{ fontWeight: 'bold', color: '#1E4FA8' }}&gt;处方明细&lt;/span&gt; · 药品、数量、单价、金额&#10;            &lt;/Text&gt;&#10;          &lt;/Box&gt;&#10;          &lt;Box style={{ flex: 1, background: '#FFFFFF', border: '1px solid #D6DCE5', borderLeft: '5px solid #3D7BD9', padding: '8px 14px' }}&gt;&#10;            &lt;Text style={{ fontSize: 22, color: '#4A5568', lineHeight: 1.4 }}&gt;&#10;              &lt;span style={{ fontWeight: 'bold', color: '#1E4FA8' }}&gt;药品&lt;/span&gt; · 通用名、商品名、规格、剂型、单价、医保类别&#10;            &lt;/Text&gt;&#10;          &lt;/Box&gt;&#10;        &lt;/Box&gt;&#10;&#10;        &lt;Box style={{ height: '72px', flexDirection: 'row', gap: 20 }}&gt;&#10;          &lt;Box style={{ flex: 1, background: '#FFFFFF', border: '1px solid #D6DCE5', borderLeft: '5px solid #3D7BD9', padding: '8px 14px' }}&gt;&#10;            &lt;Text style={{ fontSize: 22, color: '#4A5568', lineHeight: 1.4 }}&gt;&#10;              &lt;span style={{ fontWeight: 'bold', color: '#1E4FA8' }}&gt;药品库存&lt;/span&gt; · 药品、批次、数量、效期&#10;            &lt;/Text&gt;&#10;          &lt;/Box&gt;&#10;          &lt;Box style={{ flex: 1, background: '#FFFFFF', border: '1px solid #D6DCE5', borderLeft: '5px solid #1E4FA8', padding: '8px 14px' }}&gt;&#10;            &lt;Text style={{ fontSize: 22, color: '#4A5568', lineHeight: 1.4 }}&gt;&#10;              &lt;span style={{ fontWeight: 'bold', color: '#1E4FA8' }}&gt;收费单&lt;/span&gt; · 处方关联、总金额、支付方式、收费员、时间&#10;            &lt;/Text&gt;&#10;          &lt;/Box&gt;&#10;        &lt;/Box&gt;&#10;      &lt;/Box&gt;&#10;&#10;      &lt;Box style={{ height: '12px' }} /&gt;&#10;&#10;      &lt;Box style={{ height: '152px', background: '#FFFFFF', border: '1px solid #D6DCE5', borderTop: '4px solid #1E4FA8', padding: '10px 12px' }}&gt;&#10;        &lt;CodeBlock&#10;          code={`CREATE TABLE reg_order (            -- 挂号单&#10;  patient_id TEXT, doctor_id TEXT, schedule_id TEXT,&#10;  status TEXT CHECK(status IN ('候诊','就诊','完成','取消')),&#10;  queue_no INTEGER, created_at TEXT NOT NULL);&#10;-- 排班号源 schedule: 总量 / 剩余量 / 时段（挂号的&quot;库存&quot;）&#10;-- 药品库存 drug_stock: 药品 / 批次 / 数量 / 效期`}&#10;          language='sql'&#10;          width={810}&#10;          fontSize={13}&#10;          theme='github-light'&#10;          background='#FFFFFF'&#10;        /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8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543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功能点提取与数据建模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十个核心实体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4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381000" y="914400"/>
            <a:ext cx="3238500" cy="5029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628650" y="1181100"/>
            <a:ext cx="274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7FA3D6"/>
                </a:solidFill>
                <a:latin typeface="Microsoft YaHei"/>
                <a:ea typeface="Microsoft YaHei"/>
              </a:rPr>
              <a:t>DATA MODEL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628650" y="1495425"/>
            <a:ext cx="2743200" cy="581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核心数据模型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628650" y="2190750"/>
            <a:ext cx="2743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 spc="75">
                <a:solidFill>
                  <a:srgbClr val="FFC107"/>
                </a:solidFill>
                <a:latin typeface="Microsoft YaHei"/>
                <a:ea typeface="Microsoft YaHei"/>
              </a:rPr>
              <a:t>A </a:t>
            </a:r>
            <a:r>
              <a:rPr lang="zh-CN" sz="2100" b="1" spc="75">
                <a:solidFill>
                  <a:srgbClr val="FFC107"/>
                </a:solidFill>
                <a:latin typeface="Microsoft YaHei"/>
                <a:ea typeface="Microsoft YaHei"/>
              </a:rPr>
              <a:t>路线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628650" y="2628900"/>
            <a:ext cx="7620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628650" y="3152775"/>
            <a:ext cx="2743200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以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 A </a:t>
            </a: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门诊线为例。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十个核心实体</a:t>
            </a: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是你们审查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 AI </a:t>
            </a: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建表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 SQL </a:t>
            </a: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的对照表，一个都不能少。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628650" y="4829175"/>
            <a:ext cx="2743200" cy="952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628650" y="4914900"/>
            <a:ext cx="27432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8FAED8"/>
                </a:solidFill>
                <a:latin typeface="Microsoft YaHei"/>
                <a:ea typeface="Microsoft YaHei"/>
              </a:rPr>
              <a:t>排班号源</a:t>
            </a:r>
            <a:r>
              <a:rPr lang="en-US" sz="1500">
                <a:solidFill>
                  <a:srgbClr val="8FAED8"/>
                </a:solidFill>
                <a:latin typeface="Microsoft YaHei"/>
                <a:ea typeface="Microsoft YaHei"/>
              </a:rPr>
              <a:t> = </a:t>
            </a:r>
            <a:r>
              <a:rPr lang="zh-CN" sz="1500">
                <a:solidFill>
                  <a:srgbClr val="8FAED8"/>
                </a:solidFill>
                <a:latin typeface="Microsoft YaHei"/>
                <a:ea typeface="Microsoft YaHei"/>
              </a:rPr>
              <a:t>挂号的</a:t>
            </a:r>
            <a:r>
              <a:rPr lang="en-US" sz="1500">
                <a:solidFill>
                  <a:srgbClr val="8FAED8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8FAED8"/>
                </a:solidFill>
                <a:latin typeface="Microsoft YaHei"/>
                <a:ea typeface="Microsoft YaHei"/>
              </a:rPr>
              <a:t>库存</a:t>
            </a:r>
            <a:r>
              <a:rPr lang="en-US" sz="1500">
                <a:solidFill>
                  <a:srgbClr val="8FAED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628650" y="5334000"/>
            <a:ext cx="27432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8FAED8"/>
                </a:solidFill>
                <a:latin typeface="Microsoft YaHei"/>
                <a:ea typeface="Microsoft YaHei"/>
              </a:rPr>
              <a:t>效期、状态最容易被漏掉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3895725" y="914400"/>
            <a:ext cx="3886200" cy="857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4" name=""/>
          <p:cNvSpPr/>
          <p:nvPr/>
        </p:nvSpPr>
        <p:spPr>
          <a:xfrm rot="0" flipH="0" flipV="0">
            <a:off x="3848100" y="914400"/>
            <a:ext cx="3933825" cy="857250"/>
          </a:xfrm>
          <a:custGeom>
            <a:pathLst>
              <a:path w="413" h="90">
                <a:moveTo>
                  <a:pt x="0" y="0"/>
                </a:moveTo>
                <a:lnTo>
                  <a:pt x="5" y="0"/>
                </a:lnTo>
                <a:lnTo>
                  <a:pt x="5" y="90"/>
                </a:lnTo>
                <a:lnTo>
                  <a:pt x="0" y="9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4029075" y="990600"/>
            <a:ext cx="3571875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患者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姓名、性别、出生日期、身份证号（脱敏存储）、电话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7972425" y="914400"/>
            <a:ext cx="38862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7" name=""/>
          <p:cNvSpPr/>
          <p:nvPr/>
        </p:nvSpPr>
        <p:spPr>
          <a:xfrm rot="0" flipH="0" flipV="0">
            <a:off x="7924800" y="914400"/>
            <a:ext cx="3933825" cy="685800"/>
          </a:xfrm>
          <a:custGeom>
            <a:pathLst>
              <a:path w="413" h="72">
                <a:moveTo>
                  <a:pt x="0" y="0"/>
                </a:moveTo>
                <a:lnTo>
                  <a:pt x="5" y="0"/>
                </a:lnTo>
                <a:lnTo>
                  <a:pt x="5" y="72"/>
                </a:lnTo>
                <a:lnTo>
                  <a:pt x="0" y="72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8105775" y="990600"/>
            <a:ext cx="357187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科室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名称、位置、简介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3895725" y="1676400"/>
            <a:ext cx="38862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0" name=""/>
          <p:cNvSpPr/>
          <p:nvPr/>
        </p:nvSpPr>
        <p:spPr>
          <a:xfrm rot="0" flipH="0" flipV="0">
            <a:off x="3848100" y="1676400"/>
            <a:ext cx="3933825" cy="685800"/>
          </a:xfrm>
          <a:custGeom>
            <a:pathLst>
              <a:path w="413" h="72">
                <a:moveTo>
                  <a:pt x="0" y="0"/>
                </a:moveTo>
                <a:lnTo>
                  <a:pt x="5" y="0"/>
                </a:lnTo>
                <a:lnTo>
                  <a:pt x="5" y="72"/>
                </a:lnTo>
                <a:lnTo>
                  <a:pt x="0" y="72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4029075" y="1752600"/>
            <a:ext cx="357187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医生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姓名、职称、所属科室、专长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7972425" y="1676400"/>
            <a:ext cx="3886200" cy="8572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13" name=""/>
          <p:cNvSpPr/>
          <p:nvPr/>
        </p:nvSpPr>
        <p:spPr>
          <a:xfrm rot="0" flipH="0" flipV="0">
            <a:off x="7924800" y="1676400"/>
            <a:ext cx="3933825" cy="857250"/>
          </a:xfrm>
          <a:custGeom>
            <a:pathLst>
              <a:path w="413" h="90">
                <a:moveTo>
                  <a:pt x="0" y="0"/>
                </a:moveTo>
                <a:lnTo>
                  <a:pt x="5" y="0"/>
                </a:lnTo>
                <a:lnTo>
                  <a:pt x="5" y="90"/>
                </a:lnTo>
                <a:lnTo>
                  <a:pt x="0" y="90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105775" y="1752600"/>
            <a:ext cx="3571875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排班号源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医生某天的号源总量、剩余量、时段——这是挂号的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库存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3895725" y="2438400"/>
            <a:ext cx="3886200" cy="857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6" name=""/>
          <p:cNvSpPr/>
          <p:nvPr/>
        </p:nvSpPr>
        <p:spPr>
          <a:xfrm rot="0" flipH="0" flipV="0">
            <a:off x="3848100" y="2438400"/>
            <a:ext cx="3933825" cy="857250"/>
          </a:xfrm>
          <a:custGeom>
            <a:pathLst>
              <a:path w="413" h="90">
                <a:moveTo>
                  <a:pt x="0" y="0"/>
                </a:moveTo>
                <a:lnTo>
                  <a:pt x="5" y="0"/>
                </a:lnTo>
                <a:lnTo>
                  <a:pt x="5" y="90"/>
                </a:lnTo>
                <a:lnTo>
                  <a:pt x="0" y="9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4029075" y="2514600"/>
            <a:ext cx="3571875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挂号单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患者、医生、时间、状态、排队号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7972425" y="2438400"/>
            <a:ext cx="3886200" cy="857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9" name=""/>
          <p:cNvSpPr/>
          <p:nvPr/>
        </p:nvSpPr>
        <p:spPr>
          <a:xfrm rot="0" flipH="0" flipV="0">
            <a:off x="7924800" y="2438400"/>
            <a:ext cx="3933825" cy="857250"/>
          </a:xfrm>
          <a:custGeom>
            <a:pathLst>
              <a:path w="413" h="90">
                <a:moveTo>
                  <a:pt x="0" y="0"/>
                </a:moveTo>
                <a:lnTo>
                  <a:pt x="5" y="0"/>
                </a:lnTo>
                <a:lnTo>
                  <a:pt x="5" y="90"/>
                </a:lnTo>
                <a:lnTo>
                  <a:pt x="0" y="90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105775" y="2514600"/>
            <a:ext cx="3571875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处方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挂号单关联、诊断、开方时间、状态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3895725" y="2933700"/>
            <a:ext cx="38862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2" name=""/>
          <p:cNvSpPr/>
          <p:nvPr/>
        </p:nvSpPr>
        <p:spPr>
          <a:xfrm rot="0" flipH="0" flipV="0">
            <a:off x="3848100" y="2933700"/>
            <a:ext cx="3933825" cy="685800"/>
          </a:xfrm>
          <a:custGeom>
            <a:pathLst>
              <a:path w="413" h="72">
                <a:moveTo>
                  <a:pt x="0" y="0"/>
                </a:moveTo>
                <a:lnTo>
                  <a:pt x="5" y="0"/>
                </a:lnTo>
                <a:lnTo>
                  <a:pt x="5" y="72"/>
                </a:lnTo>
                <a:lnTo>
                  <a:pt x="0" y="72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4029075" y="3009900"/>
            <a:ext cx="357187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处方明细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药品、数量、单价、金额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7972425" y="2933700"/>
            <a:ext cx="3886200" cy="857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5" name=""/>
          <p:cNvSpPr/>
          <p:nvPr/>
        </p:nvSpPr>
        <p:spPr>
          <a:xfrm rot="0" flipH="0" flipV="0">
            <a:off x="7924800" y="2933700"/>
            <a:ext cx="3933825" cy="857250"/>
          </a:xfrm>
          <a:custGeom>
            <a:pathLst>
              <a:path w="413" h="90">
                <a:moveTo>
                  <a:pt x="0" y="0"/>
                </a:moveTo>
                <a:lnTo>
                  <a:pt x="5" y="0"/>
                </a:lnTo>
                <a:lnTo>
                  <a:pt x="5" y="90"/>
                </a:lnTo>
                <a:lnTo>
                  <a:pt x="0" y="90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8105775" y="3009900"/>
            <a:ext cx="3571875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药品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通用名、商品名、规格、剂型、单价、医保类别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3895725" y="3695700"/>
            <a:ext cx="38862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8" name=""/>
          <p:cNvSpPr/>
          <p:nvPr/>
        </p:nvSpPr>
        <p:spPr>
          <a:xfrm rot="0" flipH="0" flipV="0">
            <a:off x="3848100" y="3695700"/>
            <a:ext cx="3933825" cy="685800"/>
          </a:xfrm>
          <a:custGeom>
            <a:pathLst>
              <a:path w="413" h="72">
                <a:moveTo>
                  <a:pt x="0" y="0"/>
                </a:moveTo>
                <a:lnTo>
                  <a:pt x="5" y="0"/>
                </a:lnTo>
                <a:lnTo>
                  <a:pt x="5" y="72"/>
                </a:lnTo>
                <a:lnTo>
                  <a:pt x="0" y="72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4029075" y="3771900"/>
            <a:ext cx="357187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药品库存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药品、批次、数量、效期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7972425" y="3695700"/>
            <a:ext cx="3886200" cy="857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1" name=""/>
          <p:cNvSpPr/>
          <p:nvPr/>
        </p:nvSpPr>
        <p:spPr>
          <a:xfrm rot="0" flipH="0" flipV="0">
            <a:off x="7924800" y="3695700"/>
            <a:ext cx="3933825" cy="857250"/>
          </a:xfrm>
          <a:custGeom>
            <a:pathLst>
              <a:path w="413" h="90">
                <a:moveTo>
                  <a:pt x="0" y="0"/>
                </a:moveTo>
                <a:lnTo>
                  <a:pt x="5" y="0"/>
                </a:lnTo>
                <a:lnTo>
                  <a:pt x="5" y="90"/>
                </a:lnTo>
                <a:lnTo>
                  <a:pt x="0" y="9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8105775" y="3771900"/>
            <a:ext cx="3571875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收费单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处方关联、总金额、支付方式、收费员、时间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3848100" y="4533900"/>
            <a:ext cx="7962900" cy="1409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4" name=""/>
          <p:cNvSpPr/>
          <p:nvPr/>
        </p:nvSpPr>
        <p:spPr>
          <a:xfrm rot="0" flipH="0" flipV="0">
            <a:off x="3848100" y="4495800"/>
            <a:ext cx="7962900" cy="1447800"/>
          </a:xfrm>
          <a:custGeom>
            <a:pathLst>
              <a:path w="836" h="152">
                <a:moveTo>
                  <a:pt x="0" y="0"/>
                </a:moveTo>
                <a:lnTo>
                  <a:pt x="836" y="0"/>
                </a:lnTo>
                <a:lnTo>
                  <a:pt x="836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08 / 15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3962400" y="4629150"/>
            <a:ext cx="77343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8" name=""/>
          <p:cNvSpPr txBox="1"/>
          <p:nvPr/>
        </p:nvSpPr>
        <p:spPr>
          <a:xfrm rot="0" flipH="0" flipV="0">
            <a:off x="4114800" y="4762500"/>
            <a:ext cx="7429500" cy="1257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CREATE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TABLE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reg_order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(            </a:t>
            </a: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-- 挂号单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patient_id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TEXT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doctor_id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TEXT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schedule_id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TEXT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status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TEXT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CHECK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status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(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'候诊'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'就诊'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'完成'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'取消'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)),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queue_no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INTEGER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created_at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TEXT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NOT NULL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-- 排班号源 schedule: 总量 / 剩余量 / 时段（挂号的"库存"）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-- 药品库存 drug_stock: 药品 / 批次 / 数量 / 效期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39" name="" descr="&lt;Slide&#10;  notes={`关系一句话总结：患者到挂号单，到处方，到处方明细，到药品；收费单挂在处方上，库存挂在药品上。&#10;&#10;扣号源、扣库存这两件事，必须放在事务里——要么成功要么回滚，绝不能出现&quot;号挂了库存没扣&quot;。&#10;&#10;还有一句提醒：AI 大概率会漏掉效期、状态这类字段，这是你们人工审查的重点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功能点提取与数据建模 · 关系链与事务&lt;/Text&gt;&#10;    &lt;Text style={{ fontSize: 16, color: '#C9D9F2' }}&gt;医院信息系统实验 · 第 4 课&lt;/Text&gt;&#10;  &lt;/Box&gt;&#10;&#10;  &lt;Box style={{ width: '1280px', height: '552px', padding: '24px 40px 0px 40px' }}&gt;&#10;    &lt;svg width={1200} height={320} viewBox='0 0 1200 320'&gt;&#10;      &lt;text x='0' y='30' font-size='24' font-weight='bold' fill='#1A2230'&gt;一条关系主线&lt;/text&gt;&#10;      &lt;text x='168' y='30' font-size='20' fill='#8B97A8'&gt;患者 → 挂号单 → 处方 → 处方明细 → 药品&lt;/text&gt;&#10;&#10;      &lt;rect x='100' y='62' width='176' height='78' rx='10' fill='#E8EFF8' stroke='#1E4FA8' strokeWidth='3' /&gt;&#10;      &lt;text x='188' y='94' text-anchor='middle' font-size='26' font-weight='bold' fill='#1E4FA8'&gt;患者&lt;/text&gt;&#10;      &lt;text x='188' y='122' text-anchor='middle' font-size='17' fill='#4A5568'&gt;姓名 / 身份证&lt;/text&gt;&#10;      &lt;path d='M282 101 L294 101' stroke='#1E4FA8' strokeWidth='2' /&gt;&#10;      &lt;path d='M294 96 L302 101 L294 106 Z' fill='#1E4FA8' /&gt;&#10;&#10;      &lt;rect x='306' y='62' width='176' height='78' rx='10' fill='#E8EFF8' stroke='#1E4FA8' strokeWidth='3' /&gt;&#10;      &lt;text x='394' y='94' text-anchor='middle' font-size='26' font-weight='bold' fill='#1E4FA8'&gt;挂号单&lt;/text&gt;&#10;      &lt;text x='394' y='122' text-anchor='middle' font-size='17' fill='#4A5568'&gt;排队号 / 状态&lt;/text&gt;&#10;      &lt;path d='M488 101 L500 101' stroke='#1E4FA8' strokeWidth='2' /&gt;&#10;      &lt;path d='M500 96 L508 101 L500 106 Z' fill='#1E4FA8' /&gt;&#10;&#10;      &lt;rect x='512' y='62' width='176' height='78' rx='10' fill='#0E3F8C' /&gt;&#10;      &lt;text x='600' y='94' text-anchor='middle' font-size='26' font-weight='bold' fill='#FFFFFF'&gt;处方&lt;/text&gt;&#10;      &lt;text x='600' y='122' text-anchor='middle' font-size='17' fill='#C9D9F2'&gt;诊断 / 开方时间&lt;/text&gt;&#10;      &lt;path d='M694 101 L706 101' stroke='#1E4FA8' strokeWidth='2' /&gt;&#10;      &lt;path d='M706 96 L714 101 L706 106 Z' fill='#1E4FA8' /&gt;&#10;&#10;      &lt;rect x='718' y='62' width='176' height='78' rx='10' fill='#E8EFF8' stroke='#1E4FA8' strokeWidth='3' /&gt;&#10;      &lt;text x='806' y='94' text-anchor='middle' font-size='26' font-weight='bold' fill='#1E4FA8'&gt;处方明细&lt;/text&gt;&#10;      &lt;text x='806' y='122' text-anchor='middle' font-size='17' fill='#4A5568'&gt;数量 / 金额&lt;/text&gt;&#10;      &lt;path d='M900 101 L912 101' stroke='#1E4FA8' strokeWidth='2' /&gt;&#10;      &lt;path d='M912 96 L920 101 L912 106 Z' fill='#1E4FA8' /&gt;&#10;&#10;      &lt;rect x='924' y='62' width='176' height='78' rx='10' fill='#E8EFF8' stroke='#1E4FA8' strokeWidth='3' /&gt;&#10;      &lt;text x='1012' y='94' text-anchor='middle' font-size='26' font-weight='bold' fill='#1E4FA8'&gt;药品&lt;/text&gt;&#10;      &lt;text x='1012' y='122' text-anchor='middle' font-size='17' fill='#4A5568'&gt;规格 / 单价&lt;/text&gt;&#10;&#10;      &lt;path d='M600 150 L600 168 L600 246' stroke='#3D7BD9' strokeWidth='2' strokeDasharray='5 4' /&gt;&#10;      &lt;path d='M1012 150 L1012 168 L1012 246' stroke='#3D7BD9' strokeWidth='2' strokeDasharray='5 4' /&gt;&#10;      &lt;text x='614' y='210' font-size='17' fill='#8B97A8'&gt;挂在处方上&lt;/text&gt;&#10;      &lt;text x='1026' y='210' font-size='17' fill='#8B97A8'&gt;挂在药品上&lt;/text&gt;&#10;&#10;      &lt;rect x='500' y='252' width='200' height='58' rx='8' fill='#FFF8E1' stroke='#FFC107' strokeWidth='2' /&gt;&#10;      &lt;text x='600' y='277' text-anchor='middle' font-size='24' font-weight='bold' fill='#1A2230'&gt;收费单&lt;/text&gt;&#10;      &lt;text x='600' y='299' text-anchor='middle' font-size='17' fill='#4A5568'&gt;金额 / 支付方式&lt;/text&gt;&#10;&#10;      &lt;rect x='912' y='252' width='200' height='58' rx='8' fill='#FFF8E1' stroke='#FFC107' strokeWidth='2' /&gt;&#10;      &lt;text x='1012' y='277' text-anchor='middle' font-size='24' font-weight='bold' fill='#1A2230'&gt;药品库存&lt;/text&gt;&#10;      &lt;text x='1012' y='299' text-anchor='middle' font-size='17' fill='#4A5568'&gt;批次 / 效期&lt;/text&gt;&#10;    &lt;/svg&gt;&#10;&#10;    &lt;Box style={{ height: '18px' }} /&gt;&#10;&#10;    &lt;Box style={{ height: '190px', flexDirection: 'row', gap: 24 }}&gt;&#10;      &lt;Box style={{ flex: 1, background: '#F7F9FC', border: '1px solid #D6DCE5', borderLeft: '6px solid #D9534F', padding: '20px 24px', gap: 12 }}&gt;&#10;        &lt;Text style={{ fontSize: 26, color: '#1A2230', fontWeight: 'bold' }}&gt;扣号源、扣库存必须走事务&lt;/Text&gt;&#10;        &lt;Text style={{ fontSize: 22, color: '#4A5568', lineHeight: 1.55 }}&gt;&#10;          要么成功要么回滚，&lt;span style={{ fontWeight: 'bold', color: '#D9534F' }}&gt;绝不能出现&quot;号挂了库存没扣&quot;&lt;/span&gt;。这两处 AI 不会自己加，必须在提示词里点名。&#10;        &lt;/Text&gt;&#10;      &lt;/Box&gt;&#10;      &lt;Box style={{ flex: 1, background: '#F7F9FC', border: '1px solid #D6DCE5', borderLeft: '6px solid #1E4FA8', padding: '20px 24px', gap: 12 }}&gt;&#10;        &lt;Text style={{ fontSize: 26, color: '#1A2230', fontWeight: 'bold' }}&gt;人工审查每一张表&lt;/Text&gt;&#10;        &lt;Text style={{ fontSize: 22, color: '#4A5568', lineHeight: 1.55 }}&gt;&#10;          AI 大概率会漏掉&lt;span style={{ fontWeight: 'bold', color: '#1E4FA8' }}&gt;效期、状态&lt;/span&gt;这类字段。跑得起来不等于业务正确，这是你们审查的重点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9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543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功能点提取与数据建模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关系链与事务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4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pic>
        <p:nvPicPr>
          <p:cNvPr id="4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914400"/>
            <a:ext cx="11430000" cy="3048000"/>
          </a:xfrm>
          <a:prstGeom prst="rect">
            <a:avLst/>
          </a:prstGeom>
          <a:ln/>
        </p:spPr>
      </p:pic>
      <p:sp>
        <p:nvSpPr>
          <p:cNvPr id="445" name=""/>
          <p:cNvSpPr/>
          <p:nvPr/>
        </p:nvSpPr>
        <p:spPr>
          <a:xfrm rot="0" flipH="0" flipV="0">
            <a:off x="438150" y="4133850"/>
            <a:ext cx="5600700" cy="18097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46" name=""/>
          <p:cNvSpPr/>
          <p:nvPr/>
        </p:nvSpPr>
        <p:spPr>
          <a:xfrm rot="0" flipH="0" flipV="0">
            <a:off x="381000" y="4133850"/>
            <a:ext cx="5657850" cy="1809750"/>
          </a:xfrm>
          <a:custGeom>
            <a:pathLst>
              <a:path w="594" h="190">
                <a:moveTo>
                  <a:pt x="0" y="0"/>
                </a:moveTo>
                <a:lnTo>
                  <a:pt x="6" y="0"/>
                </a:lnTo>
                <a:lnTo>
                  <a:pt x="6" y="190"/>
                </a:lnTo>
                <a:lnTo>
                  <a:pt x="0" y="19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666750" y="4324350"/>
            <a:ext cx="5086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扣号源、扣库存必须走事务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666750" y="4743450"/>
            <a:ext cx="508635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要么成功要么回滚，</a:t>
            </a: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绝不能出现</a:t>
            </a:r>
            <a:r>
              <a:rPr lang="en-US" sz="1650" b="1">
                <a:solidFill>
                  <a:srgbClr val="D9534F"/>
                </a:solidFill>
                <a:latin typeface="Microsoft YaHei"/>
                <a:ea typeface="Microsoft YaHei"/>
              </a:rPr>
              <a:t>"</a:t>
            </a: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号挂了库存没扣</a:t>
            </a:r>
            <a:r>
              <a:rPr lang="en-US" sz="1650" b="1">
                <a:solidFill>
                  <a:srgbClr val="D9534F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。这两处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不会自己加，必须在提示词里点名。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6267450" y="4133850"/>
            <a:ext cx="5600700" cy="18097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50" name=""/>
          <p:cNvSpPr/>
          <p:nvPr/>
        </p:nvSpPr>
        <p:spPr>
          <a:xfrm rot="0" flipH="0" flipV="0">
            <a:off x="6210300" y="4133850"/>
            <a:ext cx="5657850" cy="1809750"/>
          </a:xfrm>
          <a:custGeom>
            <a:pathLst>
              <a:path w="594" h="190">
                <a:moveTo>
                  <a:pt x="0" y="0"/>
                </a:moveTo>
                <a:lnTo>
                  <a:pt x="6" y="0"/>
                </a:lnTo>
                <a:lnTo>
                  <a:pt x="6" y="190"/>
                </a:lnTo>
                <a:lnTo>
                  <a:pt x="0" y="19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6496050" y="4324350"/>
            <a:ext cx="5086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人工审查每一张表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6496050" y="4743450"/>
            <a:ext cx="508635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大概率会漏掉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效期、状态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这类字段。跑得起来不等于业务正确，这是你们审查的重点。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7" name="" descr="&lt;Slide&#10;  notes={`现在宣布立项规则。分组：两到三人一组，自由组队，下课前把组员名单报给我。&#10;&#10;选题从规范分系统里选，三条推荐路线。A 门诊线，挂号加门诊医生工作站子集加划价收费加门诊药房，闭环是挂号、就诊、开方、收费、发药。B 住院线，闭环是入院、医嘱、记账、出院结算、摆药。C 管理统计线，适合叠加在 A 或 B 上。&#10;&#10;规矩三条：分系统组合不超过三个；至少含一个闭环主线分系统；每个分系统只做部分功能，标注实现或不实现及理由。选题需我确认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3 立项与作业 · 三条路线与三条规矩&lt;/Text&gt;&#10;    &lt;Text style={{ fontSize: 16, color: '#C9D9F2' }}&gt;医院信息系统实验 · 第 4 课&lt;/Text&gt;&#10;  &lt;/Box&gt;&#10;&#10;  &lt;Box style={{ width: '1280px', height: '552px', padding: '24px 40px 0px 40px' }}&gt;&#10;    &lt;Box style={{ height: '40px', flexDirection: 'row', alignItems: 'center', justifyContent: 'space-between' }}&gt;&#10;      &lt;Box style={{ flexDirection: 'row', alignItems: 'center', gap: 14 }}&gt;&#10;        &lt;Box style={{ width: 6, height: 30, background: '#1E4FA8' }} /&gt;&#10;        &lt;Text style={{ fontSize: 34, color: '#1A2230', fontWeight: 'bold' }}&gt;立项三条路线&lt;/Text&gt;&#10;      &lt;/Box&gt;&#10;      &lt;Text style={{ fontSize: 20, color: '#8B97A8' }}&gt;技术栈默认 React + Vite + FastAPI + SQLite&lt;/Text&gt;&#10;    &lt;/Box&gt;&#10;&#10;    &lt;Box style={{ height: '10px' }} /&gt;&#10;&#10;    &lt;svg width={1200} height={240} viewBox='0 0 1200 240'&gt;&#10;      &lt;rect x='0' y='0' width='1200' height='72' rx='8' fill='#F7F9FC' stroke='#D6DCE5' strokeWidth='1' /&gt;&#10;      &lt;rect x='0' y='0' width='6' height='72' fill='#1E4FA8' /&gt;&#10;      &lt;rect x='20' y='8' width='56' height='56' rx='6' fill='#1E4FA8' /&gt;&#10;      &lt;text x='48' y='42' text-anchor='middle' font-size='28' font-weight='bold' fill='#FFFFFF'&gt;A&lt;/text&gt;&#10;      &lt;text x='96' y='32' font-size='25' font-weight='bold' fill='#1A2230'&gt;门诊线（默认推荐）&lt;/text&gt;&#10;      &lt;text x='96' y='60' font-size='17' fill='#4A5568'&gt;挂号 + 门诊医生工作站（子集）+ 划价收费 + 门诊药房&lt;/text&gt;&#10;      &lt;rect x='604' y='23' width='56' height='26' rx='4' fill='#E8EFF8' stroke='#1E4FA8' strokeWidth='1' /&gt;&#10;      &lt;text x='632' y='42' text-anchor='middle' font-size='16' font-weight='bold' fill='#1E4FA8'&gt;闭环&lt;/text&gt;&#10;      &lt;text x='676' y='44' font-size='21' font-weight='bold' fill='#1E4FA8'&gt;挂号→就诊→开方→收费→发药&lt;/text&gt;&#10;&#10;      &lt;rect x='0' y='84' width='1200' height='72' rx='8' fill='#FFFFFF' stroke='#D6DCE5' strokeWidth='1' /&gt;&#10;      &lt;rect x='0' y='84' width='6' height='72' fill='#3D7BD9' /&gt;&#10;      &lt;rect x='20' y='92' width='56' height='56' rx='6' fill='#3D7BD9' /&gt;&#10;      &lt;text x='48' y='126' text-anchor='middle' font-size='28' font-weight='bold' fill='#FFFFFF'&gt;B&lt;/text&gt;&#10;      &lt;text x='96' y='116' font-size='25' font-weight='bold' fill='#1A2230'&gt;住院线&lt;/text&gt;&#10;      &lt;text x='96' y='144' font-size='17' fill='#4A5568'&gt;住院入出转 + 住院护士工作站（子集）+ 住院收费 + 住院药房&lt;/text&gt;&#10;      &lt;rect x='604' y='107' width='56' height='26' rx='4' fill='#E8EFF8' stroke='#1E4FA8' strokeWidth='1' /&gt;&#10;      &lt;text x='632' y='126' text-anchor='middle' font-size='16' font-weight='bold' fill='#1E4FA8'&gt;闭环&lt;/text&gt;&#10;      &lt;text x='676' y='128' font-size='21' font-weight='bold' fill='#1E4FA8'&gt;入院→医嘱→记账→出院结算→摆药&lt;/text&gt;&#10;&#10;      &lt;rect x='0' y='168' width='1200' height='72' rx='8' fill='#FFFFFF' stroke='#D6DCE5' strokeWidth='1' /&gt;&#10;      &lt;rect x='0' y='168' width='6' height='72' fill='#FFC107' /&gt;&#10;      &lt;rect x='20' y='176' width='56' height='56' rx='6' fill='#FFC107' /&gt;&#10;      &lt;text x='48' y='210' text-anchor='middle' font-size='28' font-weight='bold' fill='#0E3F8C'&gt;C&lt;/text&gt;&#10;      &lt;text x='96' y='200' font-size='25' font-weight='bold' fill='#1A2230'&gt;管理统计线（叠加项）&lt;/text&gt;&#10;      &lt;text x='96' y='228' font-size='17' fill='#4A5568'&gt;病案管理 + 医疗统计 + 院长综合查询（子集）&lt;/text&gt;&#10;      &lt;rect x='604' y='191' width='56' height='26' rx='4' fill='#E8EFF8' stroke='#8B97A8' strokeWidth='1' /&gt;&#10;      &lt;text x='632' y='210' text-anchor='middle' font-size='16' font-weight='bold' fill='#8B97A8'&gt;叠加&lt;/text&gt;&#10;      &lt;text x='676' y='212' font-size='21' font-weight='bold' fill='#8B97A8'&gt;叠加在 A 或 B 上，不单独成线&lt;/text&gt;&#10;    &lt;/svg&gt;&#10;&#10;    &lt;Box style={{ height: '12px' }} /&gt;&#10;&#10;    &lt;Box style={{ height: '176px', flexDirection: 'row', gap: 24 }}&gt;&#10;      &lt;Box style={{ width: '384px', background: '#FFFFFF', border: '1px solid #D6DCE5', borderTop: '5px solid #1E4FA8', padding: '18px 20px', gap: 8 }}&gt;&#10;        &lt;Text style={{ fontSize: 24, color: '#1A2230', fontWeight: 'bold', lineHeight: 1.35 }}&gt;规矩一 · 组合不超过 3 个&lt;/Text&gt;&#10;        &lt;Text style={{ fontSize: 22, color: '#4A5568', lineHeight: 1.5 }}&gt;&#10;          分系统组合最多 3 个，宁可少做一个，也不要摊大饼做不完。&#10;        &lt;/Text&gt;&#10;      &lt;/Box&gt;&#10;      &lt;Box style={{ width: '384px', background: '#FFFFFF', border: '1px solid #D6DCE5', borderTop: '5px solid #FFC107', padding: '18px 20px', gap: 8 }}&gt;&#10;        &lt;Text style={{ fontSize: 24, color: '#1A2230', fontWeight: 'bold', lineHeight: 1.35 }}&gt;规矩二 · 至少 1 条闭环主线&lt;/Text&gt;&#10;        &lt;Text style={{ fontSize: 22, color: '#4A5568', lineHeight: 1.5 }}&gt;&#10;          A 或 B 必须选一个；闭环跑通才是验收底线，C 只能往上叠加。&#10;        &lt;/Text&gt;&#10;      &lt;/Box&gt;&#10;      &lt;Box style={{ width: '384px', background: '#E8EFF8', border: '1px solid #3D7BD9', borderTop: '5px solid #0E3F8C', padding: '18px 20px', gap: 8 }}&gt;&#10;        &lt;Text style={{ fontSize: 24, color: '#1A2230', fontWeight: 'bold', lineHeight: 1.35 }}&gt;规矩三 · 只做部分功能&lt;/Text&gt;&#10;        &lt;Text style={{ fontSize: 22, color: '#4A5568', lineHeight: 1.5 }}&gt;&#10;          每个分系统从规范里挑功能点，逐条标注实现/不实现及理由。&#10;        &lt;/Text&gt;&#10;      &lt;/Box&gt;&#10;    &lt;/Box&gt;&#10;&#10;    &lt;Box style={{ height: '12px' }} /&gt;&#10;&#10;    &lt;Box style={{ height: '42px', background: '#1E4FA8', flexDirection: 'row', alignItems: 'center', padding: '0px 20px', gap: 12 }}&gt;&#10;      &lt;Box style={{ width: 6, height: 6, background: '#FFC107' }} /&gt;&#10;      &lt;Text style={{ fontSize: 22, color: '#FFFFFF', fontWeight: 'bold' }}&gt;分组 2–3 人 · 前端 / 后端 / 测试部署三个角色每两周轮换一次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0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16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立项与作业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三条路线与三条规矩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4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381000" y="971550"/>
            <a:ext cx="57150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立项三条路线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7924800" y="990600"/>
            <a:ext cx="3886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技术栈默认</a:t>
            </a:r>
            <a:r>
              <a:rPr lang="en-US" sz="1500">
                <a:solidFill>
                  <a:srgbClr val="8B97A8"/>
                </a:solidFill>
                <a:latin typeface="Microsoft YaHei"/>
                <a:ea typeface="Microsoft YaHei"/>
              </a:rPr>
              <a:t> React + Vite + FastAPI + SQLite</a:t>
            </a:r>
            <a:endParaRPr/>
          </a:p>
        </p:txBody>
      </p:sp>
      <p:pic>
        <p:nvPicPr>
          <p:cNvPr id="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390650"/>
            <a:ext cx="11430000" cy="2286000"/>
          </a:xfrm>
          <a:prstGeom prst="rect">
            <a:avLst/>
          </a:prstGeom>
          <a:ln/>
        </p:spPr>
      </p:pic>
      <p:sp>
        <p:nvSpPr>
          <p:cNvPr id="26" name=""/>
          <p:cNvSpPr/>
          <p:nvPr/>
        </p:nvSpPr>
        <p:spPr>
          <a:xfrm rot="0" flipH="0" flipV="0">
            <a:off x="381000" y="3838575"/>
            <a:ext cx="3657600" cy="1676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381000" y="3790950"/>
            <a:ext cx="3657600" cy="1724025"/>
          </a:xfrm>
          <a:custGeom>
            <a:pathLst>
              <a:path w="384" h="181">
                <a:moveTo>
                  <a:pt x="0" y="0"/>
                </a:moveTo>
                <a:lnTo>
                  <a:pt x="384" y="0"/>
                </a:lnTo>
                <a:lnTo>
                  <a:pt x="384" y="5"/>
                </a:lnTo>
                <a:lnTo>
                  <a:pt x="0" y="5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71500" y="4010025"/>
            <a:ext cx="3276600" cy="3714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规矩一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组合不超过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3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71500" y="4457700"/>
            <a:ext cx="32766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分系统组合最多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3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个，宁可少做一个，也不要摊大饼做不完。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4267200" y="3838575"/>
            <a:ext cx="3657600" cy="1676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4267200" y="3790950"/>
            <a:ext cx="3657600" cy="1724025"/>
          </a:xfrm>
          <a:custGeom>
            <a:pathLst>
              <a:path w="384" h="181">
                <a:moveTo>
                  <a:pt x="0" y="0"/>
                </a:moveTo>
                <a:lnTo>
                  <a:pt x="384" y="0"/>
                </a:lnTo>
                <a:lnTo>
                  <a:pt x="384" y="5"/>
                </a:lnTo>
                <a:lnTo>
                  <a:pt x="0" y="5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457700" y="4010025"/>
            <a:ext cx="3276600" cy="3714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规矩二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至少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1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条闭环主线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4457700" y="4457700"/>
            <a:ext cx="32766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A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或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B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必须选一个；闭环跑通才是验收底线，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C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只能往上叠加。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8153400" y="3838575"/>
            <a:ext cx="3657600" cy="16764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8153400" y="3790950"/>
            <a:ext cx="3657600" cy="1724025"/>
          </a:xfrm>
          <a:custGeom>
            <a:pathLst>
              <a:path w="384" h="181">
                <a:moveTo>
                  <a:pt x="0" y="0"/>
                </a:moveTo>
                <a:lnTo>
                  <a:pt x="384" y="0"/>
                </a:lnTo>
                <a:lnTo>
                  <a:pt x="384" y="5"/>
                </a:lnTo>
                <a:lnTo>
                  <a:pt x="0" y="5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343900" y="4010025"/>
            <a:ext cx="3276600" cy="3714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规矩三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只做部分功能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343900" y="4457700"/>
            <a:ext cx="32766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每个分系统从规范里挑功能点，逐条标注实现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不实现及理由。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381000" y="5581650"/>
            <a:ext cx="11430000" cy="4000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571500" y="5753100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42950" y="5657850"/>
            <a:ext cx="5772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分组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2–3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人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前端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后端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测试部署三个角色每两周轮换一次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3" name="" descr="&lt;Slide&#10;  notes={`最后一章，我把立项要做的事和今天要交的作业一次说清。&#10;&#10;四件事：组内选题、提取功能点、组内分工建仓库、把功能点清单交给 AI。三项作业下周交。&#10;&#10;记住一句话：选题先找我确认，别自己闷头做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3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KICKOFF&lt;/Text&gt;&#10;        &lt;Text style={{ fontSize: 56, color: '#1A2230', fontWeight: 'bold', lineHeight: 1.25 }}&gt;立项与作业&lt;/Text&gt;&#10;        &lt;Text style={{ fontSize: 26, color: '#4A5568', lineHeight: 1.5 }}&gt;四件事 + 三项作业&lt;/Text&gt;&#10;      &lt;/Box&gt;&#10;&#10;      &lt;Box style={{ width: '732px', height: 2, background: '#D6DCE5' }} /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选题先找我确认，别自己闷头做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功能点清单是接下来五周的施工图&lt;/Text&gt;&#10;        &lt;/Box&gt;&#10;        &lt;Box style={{ flexDirection: 'row', alignItems: 'flex-start', gap: 14 }}&gt;&#10;          &lt;Box style={{ width: 10, height: 10, background: '#D9534F', marginTop: 12 }} /&gt;&#10;          &lt;Text style={{ fontSize: 23, color: '#1A2230', lineHeight: 1.5 }}&gt;AI 生成的表，人工审查每一张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838700" y="1533525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KICKOFF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838700" y="1895475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立项与作业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838700" y="2828925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四件事</a:t>
            </a:r>
            <a:r>
              <a:rPr lang="en-US" sz="195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三项作业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4838700" y="3543300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4838700" y="394335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067300" y="3829050"/>
            <a:ext cx="306705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选题先找我确认，别自己闷头做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4838700" y="4495800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067300" y="4381500"/>
            <a:ext cx="328612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功能点清单是接下来五周的施工图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4838700" y="504825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5067300" y="4933950"/>
            <a:ext cx="291465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生成的表，人工审查每一张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57" name="" descr="&lt;Slide&#10;  notes={`我把几个高频问题一次答掉。&#10;&#10;规范是 2002 年的，会不会太老？它确实老，但至今仍是 HIS 招标和建设的事实标准，2018 年国家卫健委又出了《全国医院信息化建设标准与规范》做宏观补充。读规范练的是&quot;从标准条文到软件需求&quot;的能力，这个能力不过时。&#10;&#10;身份证号存明文可以吗？不行。演示数据用脱敏格式，真实项目里身份证要加密存储。&#10;&#10;AI 生成的建表 SQL 我不敢改，怕改错？记住：AI 是给你打工的，不是你的上司。看不懂的表就让它解释，解释不清就让它重写。&#10;&#10;我们组想加在线支付？MVP 不加，先把闭环跑通，这是验收底线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3 立项与作业 · 常见问题应答&lt;/Text&gt;&#10;    &lt;Text style={{ fontSize: 16, color: '#C9D9F2' }}&gt;医院信息系统实验 · 第 4 课&lt;/Text&gt;&#10;  &lt;/Box&gt;&#10;&#10;  &lt;Box style={{ width: '1280px', height: '552px', flexDirection: 'row', padding: '24px 40px 0px 40px', gap: 24 }}&gt;&#10;    &lt;Box style={{ width: '300px', height: '528px', background: '#E8EFF8', border: '1px solid #3D7BD9', padding: '26px 24px', justifyContent: 'space-between' }}&gt;&#10;      &lt;Box style={{ gap: 10 }}&gt;&#10;        &lt;Text style={{ fontSize: 17, color: '#3D7BD9', fontWeight: 'bold', letterSpacing: 2 }}&gt;Q &amp;amp; A&lt;/Text&gt;&#10;        &lt;Text style={{ fontSize: 40, color: '#1A2230', fontWeight: 'bold', lineHeight: 1.2 }}&gt;常见问题&lt;/Text&gt;&#10;        &lt;Box style={{ width: 80, height: 5, background: '#FFC107' }} /&gt;&#10;      &lt;/Box&gt;&#10;&#10;      &lt;Box style={{ height: '300px', gap: 10 }}&gt;&#10;        &lt;Box style={{ background: '#FFFFFF', borderLeft: '4px solid #1E4FA8', padding: '10px 14px' }}&gt;&#10;          &lt;Text style={{ fontSize: 21, color: '#1A2230', lineHeight: 1.4 }}&gt;规范是 2002 年的，会不会太老？&lt;/Text&gt;&#10;        &lt;/Box&gt;&#10;        &lt;Box style={{ background: '#FFFFFF', borderLeft: '4px solid #D9534F', padding: '10px 14px' }}&gt;&#10;          &lt;Text style={{ fontSize: 21, color: '#1A2230', lineHeight: 1.4 }}&gt;身份证号存明文可以吗？&lt;/Text&gt;&#10;        &lt;/Box&gt;&#10;        &lt;Box style={{ background: '#FFFFFF', borderLeft: '4px solid #3D7BD9', padding: '10px 14px' }}&gt;&#10;          &lt;Text style={{ fontSize: 21, color: '#1A2230', lineHeight: 1.4 }}&gt;AI 生成的建表 SQL 我不敢改&lt;/Text&gt;&#10;        &lt;/Box&gt;&#10;        &lt;Box style={{ background: '#FFFFFF', borderLeft: '4px solid #FFC107', padding: '10px 14px' }}&gt;&#10;          &lt;Text style={{ fontSize: 21, color: '#1A2230', lineHeight: 1.4 }}&gt;我们组想加个在线支付功能&lt;/Text&gt;&#10;        &lt;/Box&gt;&#10;      &lt;/Box&gt;&#10;&#10;      &lt;Text style={{ fontSize: 20, color: '#4A5568', lineHeight: 1.5 }}&gt;四个问题，四个答案，一次说清&lt;/Text&gt;&#10;    &lt;/Box&gt;&#10;&#10;    &lt;Box style={{ width: '876px', height: '528px', gap: 12 }}&gt;&#10;      &lt;Box style={{ height: '258px', flexDirection: 'row', gap: 14 }}&gt;&#10;        &lt;Box style={{ width: '431px', background: '#FFFFFF', border: '1px solid #D6DCE5', borderTop: '5px solid #1E4FA8', padding: '18px 20px', gap: 8 }}&gt;&#10;          &lt;Box style={{ height: '44px', flexDirection: 'row', alignItems: 'center', gap: 12 }}&gt;&#10;            &lt;Box style={{ width: 40, height: 40, background: '#1E4FA8', alignItems: 'center', justifyContent: 'center' }}&gt;&#10;              &lt;Text style={{ fontSize: 20, color: '#FFFFFF', fontWeight: 'bold' }}&gt;Q1&lt;/Text&gt;&#10;            &lt;/Box&gt;&#10;            &lt;Text style={{ fontSize: 22, color: '#1A2230', fontWeight: 'bold' }}&gt;规范太老？&lt;/Text&gt;&#10;          &lt;/Box&gt;&#10;          &lt;Text style={{ fontSize: 22, color: '#4A5568', lineHeight: 1.45 }}&gt;&#10;            它确实老，但至今仍是 HIS 招标和建设的&lt;span style={{ fontWeight: 'bold', color: '#1E4FA8' }}&gt;事实标准&lt;/span&gt;。2018 年国家卫健委又出《全国医院信息化建设标准与规范》做宏观补充。读规范练的是&quot;从标准条文到软件需求&quot;的能力，这个能力不过时。&#10;          &lt;/Text&gt;&#10;        &lt;/Box&gt;&#10;&#10;        &lt;Box style={{ width: '431px', background: '#FFFFFF', border: '1px solid #D6DCE5', borderTop: '5px solid #D9534F', padding: '18px 20px', gap: 8 }}&gt;&#10;          &lt;Box style={{ height: '44px', flexDirection: 'row', alignItems: 'center', gap: 12 }}&gt;&#10;            &lt;Box style={{ width: 40, height: 40, background: '#D9534F', alignItems: 'center', justifyContent: 'center' }}&gt;&#10;              &lt;Text style={{ fontSize: 20, color: '#FFFFFF', fontWeight: 'bold' }}&gt;Q2&lt;/Text&gt;&#10;            &lt;/Box&gt;&#10;            &lt;Text style={{ fontSize: 22, color: '#1A2230', fontWeight: 'bold' }}&gt;身份证明文？&lt;/Text&gt;&#10;          &lt;/Box&gt;&#10;          &lt;Text style={{ fontSize: 22, color: '#4A5568', lineHeight: 1.45 }}&gt;&#10;            &lt;span style={{ fontWeight: 'bold', color: '#D9534F' }}&gt;不行。&lt;/span&gt;演示数据用&quot;110101********1234&quot;这种脱敏格式，真实项目里身份证要&lt;span style={{ fontWeight: 'bold', color: '#1A2230' }}&gt;加密存储&lt;/span&gt;。这个规矩从立项第一天就定下。&#10;          &lt;/Text&gt;&#10;        &lt;/Box&gt;&#10;      &lt;/Box&gt;&#10;&#10;      &lt;Box style={{ height: '258px', flexDirection: 'row', gap: 14 }}&gt;&#10;        &lt;Box style={{ width: '431px', background: '#FFFFFF', border: '1px solid #D6DCE5', borderTop: '5px solid #3D7BD9', padding: '18px 20px', gap: 8 }}&gt;&#10;          &lt;Box style={{ height: '44px', flexDirection: 'row', alignItems: 'center', gap: 12 }}&gt;&#10;            &lt;Box style={{ width: 40, height: 40, background: '#3D7BD9', alignItems: 'center', justifyContent: 'center' }}&gt;&#10;              &lt;Text style={{ fontSize: 20, color: '#FFFFFF', fontWeight: 'bold' }}&gt;Q3&lt;/Text&gt;&#10;            &lt;/Box&gt;&#10;            &lt;Text style={{ fontSize: 22, color: '#1A2230', fontWeight: 'bold' }}&gt;不敢改 SQL？&lt;/Text&gt;&#10;          &lt;/Box&gt;&#10;          &lt;Text style={{ fontSize: 22, color: '#4A5568', lineHeight: 1.45 }}&gt;&#10;            记住：&lt;span style={{ fontWeight: 'bold', color: '#1E4FA8' }}&gt;AI 是给你打工的，不是你的上司&lt;/span&gt;。看不懂的表就让它解释，解释不清就让它重写。第 2 课教的&quot;让 AI 逐段解释&quot;现在就用起来。&#10;          &lt;/Text&gt;&#10;        &lt;/Box&gt;&#10;&#10;        &lt;Box style={{ width: '431px', background: '#FFFFFF', border: '1px solid #D6DCE5', borderTop: '5px solid #FFC107', padding: '18px 20px', gap: 8 }}&gt;&#10;          &lt;Box style={{ height: '44px', flexDirection: 'row', alignItems: 'center', gap: 12 }}&gt;&#10;            &lt;Box style={{ width: 40, height: 40, background: '#FFC107', alignItems: 'center', justifyContent: 'center' }}&gt;&#10;              &lt;Text style={{ fontSize: 20, color: '#0E3F8C', fontWeight: 'bold' }}&gt;Q4&lt;/Text&gt;&#10;            &lt;/Box&gt;&#10;            &lt;Text style={{ fontSize: 22, color: '#1A2230', fontWeight: 'bold' }}&gt;想加在线支付？&lt;/Text&gt;&#10;          &lt;/Box&gt;&#10;          &lt;Text style={{ fontSize: 22, color: '#4A5568', lineHeight: 1.45 }}&gt;&#10;            &lt;span style={{ fontWeight: 'bold', color: '#B7860B' }}&gt;MVP 不加。&lt;/span&gt;第 9 课部署完如果时间富余，可以当扩展功能。&lt;span style={{ fontWeight: 'bold', color: '#1A2230' }}&gt;先把闭环跑通，这是验收底线&lt;/span&gt;。&#10;          &lt;/Text&gt;&#10;        &lt;/Box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立项与作业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常见问题应答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4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381000" y="914400"/>
            <a:ext cx="2857500" cy="5029200"/>
          </a:xfrm>
          <a:prstGeom prst="rect">
            <a:avLst/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09600" y="1162050"/>
            <a:ext cx="2400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150">
                <a:solidFill>
                  <a:srgbClr val="3D7BD9"/>
                </a:solidFill>
                <a:latin typeface="Microsoft YaHei"/>
                <a:ea typeface="Microsoft YaHei"/>
              </a:rPr>
              <a:t>Q &amp; A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09600" y="1457325"/>
            <a:ext cx="24003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1A2230"/>
                </a:solidFill>
                <a:latin typeface="Microsoft YaHei"/>
                <a:ea typeface="Microsoft YaHei"/>
              </a:rPr>
              <a:t>常见问题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09600" y="2105025"/>
            <a:ext cx="7620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647700" y="2152650"/>
            <a:ext cx="2400300" cy="866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609600" y="2152650"/>
            <a:ext cx="2438400" cy="866775"/>
          </a:xfrm>
          <a:custGeom>
            <a:pathLst>
              <a:path w="256" h="91">
                <a:moveTo>
                  <a:pt x="0" y="0"/>
                </a:moveTo>
                <a:lnTo>
                  <a:pt x="4" y="0"/>
                </a:lnTo>
                <a:lnTo>
                  <a:pt x="4" y="91"/>
                </a:lnTo>
                <a:lnTo>
                  <a:pt x="0" y="91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81050" y="2247900"/>
            <a:ext cx="20955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规范是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2002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年的，会不会太老？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47700" y="3114675"/>
            <a:ext cx="2400300" cy="866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3114675"/>
            <a:ext cx="2438400" cy="866775"/>
          </a:xfrm>
          <a:custGeom>
            <a:pathLst>
              <a:path w="256" h="91">
                <a:moveTo>
                  <a:pt x="0" y="0"/>
                </a:moveTo>
                <a:lnTo>
                  <a:pt x="4" y="0"/>
                </a:lnTo>
                <a:lnTo>
                  <a:pt x="4" y="91"/>
                </a:lnTo>
                <a:lnTo>
                  <a:pt x="0" y="91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81050" y="3209925"/>
            <a:ext cx="20955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身份证号存明文可以吗？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47700" y="4076700"/>
            <a:ext cx="2400300" cy="866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609600" y="4076700"/>
            <a:ext cx="2438400" cy="866775"/>
          </a:xfrm>
          <a:custGeom>
            <a:pathLst>
              <a:path w="256" h="91">
                <a:moveTo>
                  <a:pt x="0" y="0"/>
                </a:moveTo>
                <a:lnTo>
                  <a:pt x="4" y="0"/>
                </a:lnTo>
                <a:lnTo>
                  <a:pt x="4" y="91"/>
                </a:lnTo>
                <a:lnTo>
                  <a:pt x="0" y="91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81050" y="4171950"/>
            <a:ext cx="20955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生成的建表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SQL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我不敢改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647700" y="5038725"/>
            <a:ext cx="2400300" cy="866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609600" y="5038725"/>
            <a:ext cx="2438400" cy="866775"/>
          </a:xfrm>
          <a:custGeom>
            <a:pathLst>
              <a:path w="256" h="91">
                <a:moveTo>
                  <a:pt x="0" y="0"/>
                </a:moveTo>
                <a:lnTo>
                  <a:pt x="4" y="0"/>
                </a:lnTo>
                <a:lnTo>
                  <a:pt x="4" y="91"/>
                </a:lnTo>
                <a:lnTo>
                  <a:pt x="0" y="91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81050" y="5133975"/>
            <a:ext cx="20955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我们组想加个在线支付功能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09600" y="5010150"/>
            <a:ext cx="24003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四个问题，四个答案，一次说清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3467100" y="962025"/>
            <a:ext cx="4105275" cy="27146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3467100" y="914400"/>
            <a:ext cx="4105275" cy="2762250"/>
          </a:xfrm>
          <a:custGeom>
            <a:pathLst>
              <a:path w="431" h="290">
                <a:moveTo>
                  <a:pt x="0" y="0"/>
                </a:moveTo>
                <a:lnTo>
                  <a:pt x="431" y="0"/>
                </a:lnTo>
                <a:lnTo>
                  <a:pt x="431" y="5"/>
                </a:lnTo>
                <a:lnTo>
                  <a:pt x="0" y="5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3657600" y="1152525"/>
            <a:ext cx="381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3714750" y="1228725"/>
            <a:ext cx="276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Q1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152900" y="121920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规范太老？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3657600" y="1628775"/>
            <a:ext cx="3724275" cy="1828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它确实老，但至今仍是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HIS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招标和建设的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事实标准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2018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年国家卫健委又出《全国医院信息化建设标准与规范》做宏观补充。读规范练的是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从标准条文到软件需求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的能力，这个能力不过时。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7705725" y="962025"/>
            <a:ext cx="4105275" cy="24574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7705725" y="914400"/>
            <a:ext cx="4105275" cy="2505075"/>
          </a:xfrm>
          <a:custGeom>
            <a:pathLst>
              <a:path w="431" h="263">
                <a:moveTo>
                  <a:pt x="0" y="0"/>
                </a:moveTo>
                <a:lnTo>
                  <a:pt x="431" y="0"/>
                </a:lnTo>
                <a:lnTo>
                  <a:pt x="431" y="5"/>
                </a:lnTo>
                <a:lnTo>
                  <a:pt x="0" y="5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7896225" y="1152525"/>
            <a:ext cx="381000" cy="3810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7953375" y="1228725"/>
            <a:ext cx="276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Q2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391525" y="121920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身份证明文？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896225" y="1628775"/>
            <a:ext cx="3724275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不行。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演示数据用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"110101********1234"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这种脱敏格式，真实项目里身份证要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加密存储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。这个规矩从立项第一天就定下。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3467100" y="3533775"/>
            <a:ext cx="4105275" cy="24574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3467100" y="3486150"/>
            <a:ext cx="4105275" cy="2505075"/>
          </a:xfrm>
          <a:custGeom>
            <a:pathLst>
              <a:path w="431" h="263">
                <a:moveTo>
                  <a:pt x="0" y="0"/>
                </a:moveTo>
                <a:lnTo>
                  <a:pt x="431" y="0"/>
                </a:lnTo>
                <a:lnTo>
                  <a:pt x="431" y="5"/>
                </a:lnTo>
                <a:lnTo>
                  <a:pt x="0" y="5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3657600" y="3724275"/>
            <a:ext cx="381000" cy="381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3714750" y="3800475"/>
            <a:ext cx="276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Q3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152900" y="3790950"/>
            <a:ext cx="1314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不敢改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 SQL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？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3657600" y="4200525"/>
            <a:ext cx="3724275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记住：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AI 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是给你打工的，不是你的上司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。看不懂的表就让它解释，解释不清就让它重写。第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2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课教的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让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逐段解释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现在就用起来。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7705725" y="3533775"/>
            <a:ext cx="4105275" cy="24574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7705725" y="3486150"/>
            <a:ext cx="4105275" cy="2505075"/>
          </a:xfrm>
          <a:custGeom>
            <a:pathLst>
              <a:path w="431" h="263">
                <a:moveTo>
                  <a:pt x="0" y="0"/>
                </a:moveTo>
                <a:lnTo>
                  <a:pt x="431" y="0"/>
                </a:lnTo>
                <a:lnTo>
                  <a:pt x="431" y="5"/>
                </a:lnTo>
                <a:lnTo>
                  <a:pt x="0" y="5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7896225" y="3724275"/>
            <a:ext cx="381000" cy="3810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953375" y="3800475"/>
            <a:ext cx="276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Q4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391525" y="3790950"/>
            <a:ext cx="1466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想加在线支付？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7896225" y="4200525"/>
            <a:ext cx="3724275" cy="1095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650" b="1">
                <a:solidFill>
                  <a:srgbClr val="B7860B"/>
                </a:solidFill>
                <a:latin typeface="Microsoft YaHei"/>
                <a:ea typeface="Microsoft YaHei"/>
              </a:rPr>
              <a:t>MVP </a:t>
            </a:r>
            <a:r>
              <a:rPr lang="zh-CN" sz="1650" b="1">
                <a:solidFill>
                  <a:srgbClr val="B7860B"/>
                </a:solidFill>
                <a:latin typeface="Microsoft YaHei"/>
                <a:ea typeface="Microsoft YaHei"/>
              </a:rPr>
              <a:t>不加。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第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9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课部署完如果时间富余，可以当扩展功能。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先把闭环跑通，这是验收底线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05" name="" descr="&lt;Slide&#10;  notes={`我要特别强调一点：麻雀虽小，五脏俱全。&#10;&#10;你们不是造一个完整 HIS，但你们的系统必须有用户权限，有核心业务逻辑——号源、库存、费用，有数据一致性要求——扣号源、扣库存、结算必须不出错，还有合规要求——患者信息脱敏。&#10;&#10;少一样，它就不是医疗系统，只是一个玩具页面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3 立项与作业 · 本课核心金句&lt;/Text&gt;&#10;    &lt;Text style={{ fontSize: 16, color: '#C9D9F2' }}&gt;医院信息系统实验 · 第 4 课&lt;/Text&gt;&#10;  &lt;/Box&gt;&#10;&#10;  &lt;Box style={{ width: '1280px', height: '552px', padding: '24px 40px 0px 40px' }}&gt;&#10;    &lt;Box style={{ height: '200px', background: '#0E3F8C', flexDirection: 'row', alignItems: 'center', justifyContent: 'space-between', padding: '0px 40px' }}&gt;&#10;      &lt;Box style={{ gap: 16 }}&gt;&#10;        &lt;Text style={{ fontSize: 80, color: '#FFFFFF', fontWeight: 'bold', lineHeight: 1.25 }}&gt;麻雀虽小，五脏俱全&lt;/Text&gt;&#10;        &lt;Box style={{ width: 96, height: 5, background: '#FFC107' }} /&gt;&#10;      &lt;/Box&gt;&#10;      &lt;Box style={{ width: '400px', gap: 8 }}&gt;&#10;        &lt;Text style={{ fontSize: 17, color: '#7FA3D6', fontWeight: 'bold', letterSpacing: 2 }}&gt;KEY MESSAGE&lt;/Text&gt;&#10;        &lt;Text style={{ fontSize: 22, color: '#C9D9F2', lineHeight: 1.5 }}&gt;&#10;          不是造一个完整 HIS，而是按规范实现一个真实分系统的&lt;span style={{ color: '#FFFFFF', fontWeight: 'bold' }}&gt;部分功能&lt;/span&gt;——但功能可以少，骨架不能缺。&#10;        &lt;/Text&gt;&#10;      &lt;/Box&gt;&#10;    &lt;/Box&gt;&#10;&#10;    &lt;Box style={{ height: '18px' }} /&gt;&#10;&#10;    &lt;Box style={{ height: '310px', flexDirection: 'row', gap: 24 }}&gt;&#10;      &lt;Box style={{ width: '384px', background: '#F7F9FC', border: '1px solid #D6DCE5', borderTop: '6px solid #1E4FA8', padding: '24px 24px', gap: 12 }}&gt;&#10;        &lt;svg width={56} height={56} viewBox='0 0 56 56'&gt;&#10;          &lt;rect x='16' y='24' width='24' height='24' rx='4' fill='#E8EFF8' stroke='#1E4FA8' strokeWidth='2.5' /&gt;&#10;          &lt;path d='M22 24 V18 a6 6 0 0 1 12 0 v6' fill='none' stroke='#1E4FA8' strokeWidth='2.5' /&gt;&#10;          &lt;circle cx='28' cy='34' r='3' fill='#1E4FA8' /&gt;&#10;        &lt;/svg&gt;&#10;        &lt;Text style={{ fontSize: 26, color: '#1A2230', fontWeight: 'bold', lineHeight: 1.3 }}&gt;有用户权限&lt;/Text&gt;&#10;        &lt;Text style={{ fontSize: 22, color: '#4A5568', lineHeight: 1.45 }}&gt;&#10;          登录、角色、权限三件套一个都不能少。医疗系统没有权限控制，是事故不是 bug。&#10;        &lt;/Text&gt;&#10;        &lt;Box style={{ background: '#E8EFF8', borderLeft: '4px solid #1E4FA8', padding: '6px 12px' }}&gt;&#10;          &lt;Text style={{ fontSize: 20, color: '#1E4FA8', fontWeight: 'bold' }}&gt;登录 · 角色 · 权限&lt;/Text&gt;&#10;        &lt;/Box&gt;&#10;      &lt;/Box&gt;&#10;&#10;      &lt;Box style={{ width: '384px', background: '#F7F9FC', border: '1px solid #D6DCE5', borderTop: '6px solid #FFC107', padding: '24px 24px', gap: 12 }}&gt;&#10;        &lt;svg width={56} height={56} viewBox='0 0 56 56'&gt;&#10;          &lt;rect x='8' y='12' width='40' height='32' rx='4' fill='#FFF8E1' stroke='#FFC107' strokeWidth='2.5' /&gt;&#10;          &lt;path d='M8 22 H48' stroke='#FFC107' strokeWidth='2.5' /&gt;&#10;          &lt;rect x='15' y='28' width='10' height='10' fill='#FFC107' /&gt;&#10;          &lt;path d='M31 30 H42 M31 36 H42' stroke='#B7860B' strokeWidth='2.5' strokeLinecap='round' /&gt;&#10;        &lt;/svg&gt;&#10;        &lt;Text style={{ fontSize: 26, color: '#1A2230', fontWeight: 'bold', lineHeight: 1.3 }}&gt;有核心业务逻辑&lt;/Text&gt;&#10;        &lt;Text style={{ fontSize: 22, color: '#4A5568', lineHeight: 1.45 }}&gt;&#10;          号源、库存、费用三条业务规则必须落实：挂号扣号源、发药扣库存、收费算金额。&#10;        &lt;/Text&gt;&#10;        &lt;Box style={{ background: '#FFF8E1', borderLeft: '4px solid #FFC107', padding: '6px 12px' }}&gt;&#10;          &lt;Text style={{ fontSize: 20, color: '#B7860B', fontWeight: 'bold' }}&gt;号源 · 库存 · 费用&lt;/Text&gt;&#10;        &lt;/Box&gt;&#10;      &lt;/Box&gt;&#10;&#10;      &lt;Box style={{ width: '384px', background: '#F7F9FC', border: '1px solid #D6DCE5', borderTop: '6px solid #D9534F', padding: '24px 24px', gap: 12 }}&gt;&#10;        &lt;svg width={56} height={56} viewBox='0 0 56 56'&gt;&#10;          &lt;path d='M28 6 L48 14 V28 C48 39 38 46 28 50 C18 46 8 39 8 28 V14 Z' fill='#FDECEA' stroke='#D9534F' strokeWidth='2.5' /&gt;&#10;          &lt;path d='M19 27 L25 33 L37 21' fill='none' stroke='#D9534F' strokeWidth='3' strokeLinecap='round' strokeLinejoin='round' /&gt;&#10;        &lt;/svg&gt;&#10;        &lt;Text style={{ fontSize: 26, color: '#1A2230', fontWeight: 'bold', lineHeight: 1.3 }}&gt;有数据一致性与合规&lt;/Text&gt;&#10;        &lt;Text style={{ fontSize: 22, color: '#4A5568', lineHeight: 1.45 }}&gt;&#10;          扣号源、扣库存、结算必须不出错；患者信息脱敏存储，身份证不能存明文。&#10;        &lt;/Text&gt;&#10;        &lt;Box style={{ background: '#FDECEA', borderLeft: '4px solid #D9534F', padding: '6px 12px' }}&gt;&#10;          &lt;Text style={{ fontSize: 20, color: '#D9534F', fontWeight: 'bold' }}&gt;事务 · 脱敏&lt;/Text&gt;&#10;        &lt;/Box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3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立项与作业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本课核心金句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4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381000" y="914400"/>
            <a:ext cx="11430000" cy="1905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62000" y="1200150"/>
            <a:ext cx="6858000" cy="11430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6000" b="1">
                <a:solidFill>
                  <a:srgbClr val="FFFFFF"/>
                </a:solidFill>
                <a:latin typeface="Microsoft YaHei"/>
                <a:ea typeface="Microsoft YaHei"/>
              </a:rPr>
              <a:t>麻雀虽小，五脏俱全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762000" y="2495550"/>
            <a:ext cx="9144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620000" y="1162050"/>
            <a:ext cx="3810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150">
                <a:solidFill>
                  <a:srgbClr val="7FA3D6"/>
                </a:solidFill>
                <a:latin typeface="Microsoft YaHei"/>
                <a:ea typeface="Microsoft YaHei"/>
              </a:rPr>
              <a:t>KEY MESSAGE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620000" y="1438275"/>
            <a:ext cx="3810000" cy="1133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不是造一个完整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 HIS</a:t>
            </a: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，而是按规范实现一个真实分系统的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部分功能</a:t>
            </a: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——但功能可以少，骨架不能缺。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381000" y="3048000"/>
            <a:ext cx="3657600" cy="32194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381000" y="2990850"/>
            <a:ext cx="3657600" cy="3276600"/>
          </a:xfrm>
          <a:custGeom>
            <a:pathLst>
              <a:path w="384" h="344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1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3276600"/>
            <a:ext cx="533400" cy="533400"/>
          </a:xfrm>
          <a:prstGeom prst="rect">
            <a:avLst/>
          </a:prstGeom>
          <a:ln/>
        </p:spPr>
      </p:pic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09600" y="3924300"/>
            <a:ext cx="320040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有用户权限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09600" y="4429125"/>
            <a:ext cx="3200400" cy="1095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登录、角色、权限三件套一个都不能少。医疗系统没有权限控制，是事故不是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bug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47700" y="5638800"/>
            <a:ext cx="3200400" cy="3429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609600" y="5638800"/>
            <a:ext cx="3238500" cy="342900"/>
          </a:xfrm>
          <a:custGeom>
            <a:pathLst>
              <a:path w="340" h="36">
                <a:moveTo>
                  <a:pt x="0" y="0"/>
                </a:moveTo>
                <a:lnTo>
                  <a:pt x="4" y="0"/>
                </a:lnTo>
                <a:lnTo>
                  <a:pt x="4" y="36"/>
                </a:lnTo>
                <a:lnTo>
                  <a:pt x="0" y="3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62000" y="5695950"/>
            <a:ext cx="293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登录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角色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权限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4267200" y="3048000"/>
            <a:ext cx="3657600" cy="32194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4267200" y="2990850"/>
            <a:ext cx="3657600" cy="3276600"/>
          </a:xfrm>
          <a:custGeom>
            <a:pathLst>
              <a:path w="384" h="344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pic>
        <p:nvPicPr>
          <p:cNvPr id="1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495800" y="3276600"/>
            <a:ext cx="533400" cy="533400"/>
          </a:xfrm>
          <a:prstGeom prst="rect">
            <a:avLst/>
          </a:prstGeom>
          <a:ln/>
        </p:spPr>
      </p:pic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4495800" y="3924300"/>
            <a:ext cx="320040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有核心业务逻辑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495800" y="4429125"/>
            <a:ext cx="3200400" cy="1095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号源、库存、费用三条业务规则必须落实：挂号扣号源、发药扣库存、收费算金额。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4533900" y="5638800"/>
            <a:ext cx="3200400" cy="34290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4495800" y="5638800"/>
            <a:ext cx="3238500" cy="342900"/>
          </a:xfrm>
          <a:custGeom>
            <a:pathLst>
              <a:path w="340" h="36">
                <a:moveTo>
                  <a:pt x="0" y="0"/>
                </a:moveTo>
                <a:lnTo>
                  <a:pt x="4" y="0"/>
                </a:lnTo>
                <a:lnTo>
                  <a:pt x="4" y="36"/>
                </a:lnTo>
                <a:lnTo>
                  <a:pt x="0" y="36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4648200" y="5695950"/>
            <a:ext cx="293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B7860B"/>
                </a:solidFill>
                <a:latin typeface="Microsoft YaHei"/>
                <a:ea typeface="Microsoft YaHei"/>
              </a:rPr>
              <a:t>号源</a:t>
            </a:r>
            <a:r>
              <a:rPr lang="en-US" sz="1500" b="1">
                <a:solidFill>
                  <a:srgbClr val="B7860B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B7860B"/>
                </a:solidFill>
                <a:latin typeface="Microsoft YaHei"/>
                <a:ea typeface="Microsoft YaHei"/>
              </a:rPr>
              <a:t>库存</a:t>
            </a:r>
            <a:r>
              <a:rPr lang="en-US" sz="1500" b="1">
                <a:solidFill>
                  <a:srgbClr val="B7860B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B7860B"/>
                </a:solidFill>
                <a:latin typeface="Microsoft YaHei"/>
                <a:ea typeface="Microsoft YaHei"/>
              </a:rPr>
              <a:t>费用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8153400" y="3048000"/>
            <a:ext cx="3657600" cy="32194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8153400" y="2990850"/>
            <a:ext cx="3657600" cy="3276600"/>
          </a:xfrm>
          <a:custGeom>
            <a:pathLst>
              <a:path w="384" h="344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pic>
        <p:nvPicPr>
          <p:cNvPr id="1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82000" y="3276600"/>
            <a:ext cx="533400" cy="533400"/>
          </a:xfrm>
          <a:prstGeom prst="rect">
            <a:avLst/>
          </a:prstGeom>
          <a:ln/>
        </p:spPr>
      </p:pic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382000" y="3924300"/>
            <a:ext cx="320040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有数据一致性与合规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382000" y="4429125"/>
            <a:ext cx="3200400" cy="1095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扣号源、扣库存、结算必须不出错；患者信息脱敏存储，身份证不能存明文。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8420100" y="5638800"/>
            <a:ext cx="3200400" cy="342900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p/>
        </p:txBody>
      </p:sp>
      <p:sp>
        <p:nvSpPr>
          <p:cNvPr id="137" name=""/>
          <p:cNvSpPr/>
          <p:nvPr/>
        </p:nvSpPr>
        <p:spPr>
          <a:xfrm rot="0" flipH="0" flipV="0">
            <a:off x="8382000" y="5638800"/>
            <a:ext cx="3238500" cy="342900"/>
          </a:xfrm>
          <a:custGeom>
            <a:pathLst>
              <a:path w="340" h="36">
                <a:moveTo>
                  <a:pt x="0" y="0"/>
                </a:moveTo>
                <a:lnTo>
                  <a:pt x="4" y="0"/>
                </a:lnTo>
                <a:lnTo>
                  <a:pt x="4" y="36"/>
                </a:lnTo>
                <a:lnTo>
                  <a:pt x="0" y="36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534400" y="5695950"/>
            <a:ext cx="293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D9534F"/>
                </a:solidFill>
                <a:latin typeface="Microsoft YaHei"/>
                <a:ea typeface="Microsoft YaHei"/>
              </a:rPr>
              <a:t>事务</a:t>
            </a: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D9534F"/>
                </a:solidFill>
                <a:latin typeface="Microsoft YaHei"/>
                <a:ea typeface="Microsoft YaHei"/>
              </a:rPr>
              <a:t>脱敏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13 / 15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41" name="" descr="&lt;Slide&#10;  notes={`作业三项。&#10;&#10;第一，《功能点清单》——从规范摘出所选分系统的功能条目，标注实现或不实现及理由，这是下周开发的施工图。&#10;&#10;第二，ER 图加项目骨架仓库链接，下节课开始就是团队作战，Git 提交记录我会每周看。&#10;&#10;第三，每组写一页《项目范围说明书》，写清目标、功能点清单、非功能要求——性能、安全、数据，这个文档第 12 课答辩要用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3 立项与作业 · 作业三项&lt;/Text&gt;&#10;    &lt;Text style={{ fontSize: 16, color: '#C9D9F2' }}&gt;医院信息系统实验 · 第 4 课&lt;/Text&gt;&#10;  &lt;/Box&gt;&#10;&#10;  &lt;Box style={{ width: '1280px', height: '552px', padding: '24px 40px 0px 40px' }}&gt;&#10;    &lt;Box style={{ height: '44px', flexDirection: 'row', alignItems: 'center', gap: 14 }}&gt;&#10;      &lt;Box style={{ width: 6, height: 34, background: '#1E4FA8' }} /&gt;&#10;      &lt;Text style={{ fontSize: 36, color: '#1A2230', fontWeight: 'bold' }}&gt;作业三项&lt;/Text&gt;&#10;      &lt;Text style={{ fontSize: 22, color: '#8B97A8' }}&gt;Assignments&lt;/Text&gt;&#10;    &lt;/Box&gt;&#10;&#10;    &lt;Box style={{ height: '10px' }} /&gt;&#10;&#10;    &lt;svg width={1200} height={190} viewBox='0 0 1200 190'&gt;&#10;      &lt;line x1='200' y1='91' x2='1000' y2='91' stroke='#D6DCE5' strokeWidth='2' /&gt;&#10;&#10;      &lt;rect x='30' y='48' width='340' height='86' rx='8' fill='#FFFFFF' stroke='#3D7BD9' strokeWidth='3' /&gt;&#10;      &lt;text x='200' y='78' text-anchor='middle' font-size='20' font-weight='bold' fill='#1E4FA8'&gt;作业 01&lt;/text&gt;&#10;      &lt;text x='200' y='112' text-anchor='middle' font-size='27' font-weight='bold' fill='#1A2230'&gt;《功能点清单》&lt;/text&gt;&#10;      &lt;path d='M376 91 L418 91' stroke='#1E4FA8' strokeWidth='2' /&gt;&#10;      &lt;path d='M418 86 L426 91 L418 96 Z' fill='#1E4FA8' /&gt;&#10;&#10;      &lt;rect x='430' y='48' width='340' height='86' rx='8' fill='#FFFFFF' stroke='#3D7BD9' strokeWidth='3' /&gt;&#10;      &lt;text x='600' y='78' text-anchor='middle' font-size='20' font-weight='bold' fill='#1E4FA8'&gt;作业 02&lt;/text&gt;&#10;      &lt;text x='600' y='112' text-anchor='middle' font-size='27' font-weight='bold' fill='#1A2230'&gt;ER 图 + 骨架仓库&lt;/text&gt;&#10;      &lt;path d='M776 91 L818 91' stroke='#1E4FA8' strokeWidth='2' /&gt;&#10;      &lt;path d='M818 86 L826 91 L818 96 Z' fill='#1E4FA8' /&gt;&#10;&#10;      &lt;rect x='830' y='48' width='340' height='86' rx='8' fill='#1E4FA8' /&gt;&#10;      &lt;text x='1000' y='78' text-anchor='middle' font-size='20' font-weight='bold' fill='#C9D9F2'&gt;作业 03&lt;/text&gt;&#10;      &lt;text x='1000' y='112' text-anchor='middle' font-size='27' font-weight='bold' fill='#FFFFFF'&gt;《项目范围说明书》&lt;/text&gt;&#10;&#10;      &lt;text x='200' y='170' text-anchor='middle' font-size='19' fill='#8B97A8'&gt;摘功能条目，标注实现/不实现&lt;/text&gt;&#10;      &lt;text x='600' y='170' text-anchor='middle' font-size='19' fill='#8B97A8'&gt;建团队仓库，骨架能跑起来&lt;/text&gt;&#10;      &lt;text x='1000' y='170' text-anchor='middle' font-size='19' fill='#8B97A8'&gt;目标、功能点、非功能要求&lt;/text&gt;&#10;    &lt;/svg&gt;&#10;&#10;    &lt;Box style={{ height: '14px' }} /&gt;&#10;&#10;    &lt;Box style={{ height: '210px', flexDirection: 'row', gap: 24 }}&gt;&#10;      &lt;Box style={{ width: '384px', background: '#FFFFFF', border: '1px solid #D6DCE5', borderTop: '5px solid #1E4FA8', padding: '18px 20px', gap: 6 }}&gt;&#10;        &lt;Text style={{ fontSize: 24, color: '#1A2230', fontWeight: 'bold', lineHeight: 1.35 }}&gt;摘功能点，标注理由&lt;/Text&gt;&#10;        &lt;Text style={{ fontSize: 22, color: '#4A5568', lineHeight: 1.45 }}&gt;&#10;          从规范摘出所选分系统的功能条目，每条标注&quot;实现/不实现&quot;及理由，这是下周开发的施工图。&#10;        &lt;/Text&gt;&#10;        &lt;Box style={{ background: '#F0F5FC', borderLeft: '4px solid #1E4FA8', padding: '5px 12px' }}&gt;&#10;          &lt;Text style={{ fontSize: 20, color: '#1E4FA8', fontWeight: 'bold' }}&gt;交付：功能点清单文档&lt;/Text&gt;&#10;        &lt;/Box&gt;&#10;      &lt;/Box&gt;&#10;&#10;      &lt;Box style={{ width: '384px', background: '#FFFFFF', border: '1px solid #D6DCE5', borderTop: '5px solid #3D7BD9', padding: '18px 20px', gap: 6 }}&gt;&#10;        &lt;Text style={{ fontSize: 24, color: '#1A2230', fontWeight: 'bold', lineHeight: 1.35 }}&gt;画 ER 图，交仓库链接&lt;/Text&gt;&#10;        &lt;Text style={{ fontSize: 22, color: '#4A5568', lineHeight: 1.45 }}&gt;&#10;          画出实体关系图，建好团队仓库，前后端骨架要能跑起来：npm run dev 与 uvicorn。&#10;        &lt;/Text&gt;&#10;        &lt;Box style={{ background: '#F0F5FC', borderLeft: '4px solid #3D7BD9', padding: '5px 12px' }}&gt;&#10;          &lt;Text style={{ fontSize: 20, color: '#1E4FA8', fontWeight: 'bold' }}&gt;交付：链接（提交每周检查）&lt;/Text&gt;&#10;        &lt;/Box&gt;&#10;      &lt;/Box&gt;&#10;&#10;      &lt;Box style={{ width: '384px', background: '#E8EFF8', border: '1px solid #3D7BD9', borderTop: '5px solid #0E3F8C', padding: '18px 20px', gap: 6 }}&gt;&#10;        &lt;Text style={{ fontSize: 24, color: '#1A2230', fontWeight: 'bold', lineHeight: 1.35 }}&gt;一页范围说明书&lt;/Text&gt;&#10;        &lt;Text style={{ fontSize: 22, color: '#4A5568', lineHeight: 1.45 }}&gt;&#10;          每组一页，写清目标、功能点清单、非功能要求——性能、安全、数据。&#10;        &lt;/Text&gt;&#10;        &lt;Box style={{ background: '#FFFFFF', borderLeft: '4px solid #0E3F8C', padding: '5px 12px' }}&gt;&#10;          &lt;Text style={{ fontSize: 20, color: '#0E3F8C', fontWeight: 'bold' }}&gt;交付：第 12 课答辩要用&lt;/Text&gt;&#10;        &lt;/Box&gt;&#10;      &lt;/Box&gt;&#10;    &lt;/Box&gt;&#10;&#10;    &lt;Box style={{ height: '12px' }} /&gt;&#10;&#10;    &lt;Box style={{ height: '48px', background: '#1E4FA8', flexDirection: 'row', alignItems: 'center', padding: '0px 20px', gap: 12 }}&gt;&#10;      &lt;Box style={{ width: 6, height: 6, background: '#FFC107' }} /&gt;&#10;      &lt;Text style={{ fontSize: 22, color: '#FFFFFF', fontWeight: 'bold' }}&gt;清单是施工图，仓库是地基，范围说明书是答辩依据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20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立项与作业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作业三项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4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381000" y="96202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371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作业三项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2076450" y="1000125"/>
            <a:ext cx="12858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Assignments</a:t>
            </a:r>
            <a:endParaRPr/>
          </a:p>
        </p:txBody>
      </p:sp>
      <p:pic>
        <p:nvPicPr>
          <p:cNvPr id="1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428750"/>
            <a:ext cx="11430000" cy="1809750"/>
          </a:xfrm>
          <a:prstGeom prst="rect">
            <a:avLst/>
          </a:prstGeom>
          <a:ln/>
        </p:spPr>
      </p:pic>
      <p:sp>
        <p:nvSpPr>
          <p:cNvPr id="150" name=""/>
          <p:cNvSpPr/>
          <p:nvPr/>
        </p:nvSpPr>
        <p:spPr>
          <a:xfrm rot="0" flipH="0" flipV="0">
            <a:off x="381000" y="3419475"/>
            <a:ext cx="3657600" cy="22955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1" name=""/>
          <p:cNvSpPr/>
          <p:nvPr/>
        </p:nvSpPr>
        <p:spPr>
          <a:xfrm rot="0" flipH="0" flipV="0">
            <a:off x="381000" y="3371850"/>
            <a:ext cx="3657600" cy="2343150"/>
          </a:xfrm>
          <a:custGeom>
            <a:pathLst>
              <a:path w="384" h="246">
                <a:moveTo>
                  <a:pt x="0" y="0"/>
                </a:moveTo>
                <a:lnTo>
                  <a:pt x="384" y="0"/>
                </a:lnTo>
                <a:lnTo>
                  <a:pt x="384" y="5"/>
                </a:lnTo>
                <a:lnTo>
                  <a:pt x="0" y="5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571500" y="3590925"/>
            <a:ext cx="3276600" cy="3714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摘功能点，标注理由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71500" y="4019550"/>
            <a:ext cx="3276600" cy="1095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从规范摘出所选分系统的功能条目，每条标注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实现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不实现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及理由，这是下周开发的施工图。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09600" y="5172075"/>
            <a:ext cx="3276600" cy="3238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571500" y="5172075"/>
            <a:ext cx="3314700" cy="323850"/>
          </a:xfrm>
          <a:custGeom>
            <a:pathLst>
              <a:path w="348" h="34">
                <a:moveTo>
                  <a:pt x="0" y="0"/>
                </a:moveTo>
                <a:lnTo>
                  <a:pt x="4" y="0"/>
                </a:lnTo>
                <a:lnTo>
                  <a:pt x="4" y="34"/>
                </a:lnTo>
                <a:lnTo>
                  <a:pt x="0" y="3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23900" y="5219700"/>
            <a:ext cx="3009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交付：功能点清单文档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4267200" y="3419475"/>
            <a:ext cx="3657600" cy="22955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4267200" y="3371850"/>
            <a:ext cx="3657600" cy="2343150"/>
          </a:xfrm>
          <a:custGeom>
            <a:pathLst>
              <a:path w="384" h="246">
                <a:moveTo>
                  <a:pt x="0" y="0"/>
                </a:moveTo>
                <a:lnTo>
                  <a:pt x="384" y="0"/>
                </a:lnTo>
                <a:lnTo>
                  <a:pt x="384" y="5"/>
                </a:lnTo>
                <a:lnTo>
                  <a:pt x="0" y="5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4457700" y="3590925"/>
            <a:ext cx="3276600" cy="3714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画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ER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图，交仓库链接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457700" y="4019550"/>
            <a:ext cx="3276600" cy="1095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画出实体关系图，建好团队仓库，前后端骨架要能跑起来：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npm run dev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uvicorn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4495800" y="5172075"/>
            <a:ext cx="3276600" cy="3238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4457700" y="5172075"/>
            <a:ext cx="3314700" cy="323850"/>
          </a:xfrm>
          <a:custGeom>
            <a:pathLst>
              <a:path w="348" h="34">
                <a:moveTo>
                  <a:pt x="0" y="0"/>
                </a:moveTo>
                <a:lnTo>
                  <a:pt x="4" y="0"/>
                </a:lnTo>
                <a:lnTo>
                  <a:pt x="4" y="34"/>
                </a:lnTo>
                <a:lnTo>
                  <a:pt x="0" y="3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610100" y="5219700"/>
            <a:ext cx="3009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交付：链接（提交每周检查）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8153400" y="3419475"/>
            <a:ext cx="3657600" cy="22955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8153400" y="3371850"/>
            <a:ext cx="3657600" cy="2343150"/>
          </a:xfrm>
          <a:custGeom>
            <a:pathLst>
              <a:path w="384" h="246">
                <a:moveTo>
                  <a:pt x="0" y="0"/>
                </a:moveTo>
                <a:lnTo>
                  <a:pt x="384" y="0"/>
                </a:lnTo>
                <a:lnTo>
                  <a:pt x="384" y="5"/>
                </a:lnTo>
                <a:lnTo>
                  <a:pt x="0" y="5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343900" y="3590925"/>
            <a:ext cx="3276600" cy="3714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一页范围说明书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343900" y="4019550"/>
            <a:ext cx="3276600" cy="1095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每组一页，写清目标、功能点清单、非功能要求——性能、安全、数据。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8382000" y="5172075"/>
            <a:ext cx="3276600" cy="3238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8343900" y="5172075"/>
            <a:ext cx="3314700" cy="323850"/>
          </a:xfrm>
          <a:custGeom>
            <a:pathLst>
              <a:path w="348" h="34">
                <a:moveTo>
                  <a:pt x="0" y="0"/>
                </a:moveTo>
                <a:lnTo>
                  <a:pt x="4" y="0"/>
                </a:lnTo>
                <a:lnTo>
                  <a:pt x="4" y="34"/>
                </a:lnTo>
                <a:lnTo>
                  <a:pt x="0" y="3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496300" y="5219700"/>
            <a:ext cx="3009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交付：第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 12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课答辩要用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381000" y="5486400"/>
            <a:ext cx="11430000" cy="457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571500" y="5686425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42950" y="5591175"/>
            <a:ext cx="4819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清单是施工图，仓库是地基，范围说明书是答辩依据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76" name="" descr="&lt;Slide&#10;  notes={`今天就到这里。&#10;&#10;下课前两件事必须办：组员名单报给我，选题找我确认过再动手。&#10;&#10;下节课我们进入第 5 课，核心模块开发——对话式迭代实战。到时候你们会真正体会到，&quot;一次只让 AI 做一件可验证的事&quot;这句话有多重要。下课。`}&#10;  style={{ width: '1280px', height: '720px', background: '#0E3F8C', padding: '0px', position: 'relative' }}&#10;&gt;&#10;  &lt;svg width={640} height={720} viewBox='0 0 640 720' style={{ position: 'absolute', top: 0, right: 0 }}&gt;&#10;    &lt;path d='M0 720 L640 720 L640 220 Z' fill='#1E4FA8' opacity='0.5' /&gt;&#10;    &lt;circle cx='520' cy='180' r='130' fill='#1E4FA8' opacity='0.45' /&gt;&#10;    &lt;circle cx='520' cy='180' r='70' fill='#FFC107' opacity='0.35' /&gt;&#10;    &lt;rect x='330' y='560' width='240' height='8' rx='4' fill='#FFFFFF' opacity='0.15' /&gt;&#10;    &lt;rect x='330' y='590' width='170' height='8' rx='4' fill='#FFFFFF' opacity='0.12' /&gt;&#10;    &lt;rect x='330' y='620' width='280' height='8' rx='4' fill='#FFFFFF' opacity='0.15' /&gt;&#10;  &lt;/svg&gt;&#10;&#10;  &lt;Box style={{ width: '1280px', height: '720px', padding: '76px 40px 64px 64px', justifyContent: 'space-between', position: 'relative', zIndex: 2 }}&gt;&#10;    &lt;Box style={{ gap: 16 }}&gt;&#10;      &lt;Box style={{ flexDirection: 'row', alignItems: 'center', gap: 14 }}&gt;&#10;        &lt;Box style={{ width: 6, height: 26, background: '#FFC107' }} /&gt;&#10;        &lt;Text style={{ fontSize: 20, color: '#C9D9F2' }}&gt;第 4 课 · 小结&lt;/Text&gt;&#10;      &lt;/Box&gt;&#10;      &lt;Text style={{ fontSize: 58, color: '#FFFFFF', fontWeight: 'bold', lineHeight: 1.25 }}&gt;施工图已定&lt;br /&gt;下节课开挖&lt;/Text&gt;&#10;    &lt;/Box&gt;&#10;&#10;    &lt;Box style={{ width: '540px', gap: 14 }}&gt;&#10;      &lt;Box style={{ height: 2, background: '#3D7BD9' }} /&gt;&#10;      &lt;Text style={{ fontSize: 26, color: '#C9D9F2', lineHeight: 1.5 }}&gt;下节课预告&lt;/Text&gt;&#10;      &lt;Text style={{ fontSize: 38, color: '#FFFFFF', fontWeight: 'bold', lineHeight: 1.3 }}&gt;第 5 课 核心模块开发&lt;br /&gt;（对话式迭代实战）&lt;/Text&gt;&#10;      &lt;Text style={{ fontSize: 22, color: '#8FAED8', lineHeight: 1.5 }}&gt;一次只让 AI 做一件可验证的事 · 生成 → 验证 → 提交&lt;/Text&gt;&#10;    &lt;/Box&gt;&#10;&#10;    &lt;Box style={{ flexDirection: 'row', alignItems: 'center', gap: 20 }}&gt;&#10;      &lt;Text style={{ fontSize: 18, color: '#8FAED8' }}&gt;湖南中医药大学&lt;/Text&gt;&#10;      &lt;Box style={{ width: 1, height: 20, background: '#4A6FA8' }} /&gt;&#10;      &lt;Text style={{ fontSize: 18, color: '#8FAED8' }}&gt;医院信息系统实验&lt;/Text&gt;&#10;      &lt;Box style={{ width: 1, height: 20, background: '#4A6FA8' }} /&gt;&#10;      &lt;Text style={{ fontSize: 18, color: '#8FAED8' }}&gt;2026 年秋季学期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1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0" y="0"/>
            <a:ext cx="6096000" cy="6858000"/>
          </a:xfrm>
          <a:prstGeom prst="rect">
            <a:avLst/>
          </a:prstGeom>
          <a:ln/>
        </p:spPr>
      </p:pic>
      <p:sp>
        <p:nvSpPr>
          <p:cNvPr id="179" name=""/>
          <p:cNvSpPr/>
          <p:nvPr/>
        </p:nvSpPr>
        <p:spPr>
          <a:xfrm rot="0" flipH="0" flipV="0">
            <a:off x="609600" y="723900"/>
            <a:ext cx="57150" cy="2476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00100" y="733425"/>
            <a:ext cx="1152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4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09600" y="1123950"/>
            <a:ext cx="11201400" cy="1657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施工图已定</a:t>
            </a:r>
            <a:endParaRPr/>
          </a:p>
          <a:p>
            <a:pPr>
              <a:lnSpc>
                <a:spcPct val="125000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下节课开挖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09600" y="3219450"/>
            <a:ext cx="5143500" cy="190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09600" y="3371850"/>
            <a:ext cx="51435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C9D9F2"/>
                </a:solidFill>
                <a:latin typeface="Microsoft YaHei"/>
                <a:ea typeface="Microsoft YaHei"/>
              </a:rPr>
              <a:t>下节课预告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09600" y="3952875"/>
            <a:ext cx="5143500" cy="11334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 5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课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核心模块开发</a:t>
            </a:r>
            <a:endParaRPr/>
          </a:p>
          <a:p>
            <a:pPr>
              <a:lnSpc>
                <a:spcPct val="13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（对话式迭代实战）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09600" y="5219700"/>
            <a:ext cx="51435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一次只让</a:t>
            </a:r>
            <a:r>
              <a:rPr lang="en-US" sz="1650">
                <a:solidFill>
                  <a:srgbClr val="8FAED8"/>
                </a:solidFill>
                <a:latin typeface="Microsoft YaHei"/>
                <a:ea typeface="Microsoft YaHei"/>
              </a:rPr>
              <a:t> AI </a:t>
            </a: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做一件可验证的事</a:t>
            </a:r>
            <a:r>
              <a:rPr lang="en-US" sz="1650">
                <a:solidFill>
                  <a:srgbClr val="8FAED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生成</a:t>
            </a:r>
            <a:r>
              <a:rPr lang="en-US" sz="1650">
                <a:solidFill>
                  <a:srgbClr val="8FAED8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验证</a:t>
            </a:r>
            <a:r>
              <a:rPr lang="en-US" sz="1650">
                <a:solidFill>
                  <a:srgbClr val="8FAED8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提交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湖南中医药大学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2000250" y="60483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2200275" y="60388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3762375" y="60483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3962400" y="6038850"/>
            <a:ext cx="1314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FAED8"/>
                </a:solidFill>
                <a:latin typeface="Microsoft YaHei"/>
                <a:ea typeface="Microsoft YaHei"/>
              </a:rPr>
              <a:t>2026 </a:t>
            </a: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年秋季学期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2026-09-02T00:21:23Z</dcterms:created>
  <dcterms:modified xsi:type="dcterms:W3CDTF">2026-09-02T00:21:23Z</dcterms:modified>
</cp:coreProperties>
</file>